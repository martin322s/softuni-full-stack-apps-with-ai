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4"/>
    <p:sldMasterId id="2147483697" r:id="rId5"/>
    <p:sldMasterId id="2147483699" r:id="rId6"/>
    <p:sldMasterId id="2147483701" r:id="rId7"/>
  </p:sldMasterIdLst>
  <p:notesMasterIdLst>
    <p:notesMasterId r:id="rId105"/>
  </p:notesMasterIdLst>
  <p:sldIdLst>
    <p:sldId id="1127" r:id="rId8"/>
    <p:sldId id="263" r:id="rId9"/>
    <p:sldId id="1543" r:id="rId10"/>
    <p:sldId id="262" r:id="rId11"/>
    <p:sldId id="1239" r:id="rId12"/>
    <p:sldId id="1241" r:id="rId13"/>
    <p:sldId id="1306" r:id="rId14"/>
    <p:sldId id="1118" r:id="rId15"/>
    <p:sldId id="1347" r:id="rId16"/>
    <p:sldId id="1120" r:id="rId17"/>
    <p:sldId id="1307" r:id="rId18"/>
    <p:sldId id="1346" r:id="rId19"/>
    <p:sldId id="1308" r:id="rId20"/>
    <p:sldId id="1130" r:id="rId21"/>
    <p:sldId id="1132" r:id="rId22"/>
    <p:sldId id="1331" r:id="rId23"/>
    <p:sldId id="1136" r:id="rId24"/>
    <p:sldId id="1138" r:id="rId25"/>
    <p:sldId id="1140" r:id="rId26"/>
    <p:sldId id="1142" r:id="rId27"/>
    <p:sldId id="1343" r:id="rId28"/>
    <p:sldId id="1144" r:id="rId29"/>
    <p:sldId id="1146" r:id="rId30"/>
    <p:sldId id="1348" r:id="rId31"/>
    <p:sldId id="1311" r:id="rId32"/>
    <p:sldId id="1350" r:id="rId33"/>
    <p:sldId id="1349" r:id="rId34"/>
    <p:sldId id="1351" r:id="rId35"/>
    <p:sldId id="1320" r:id="rId36"/>
    <p:sldId id="1321" r:id="rId37"/>
    <p:sldId id="1322" r:id="rId38"/>
    <p:sldId id="1160" r:id="rId39"/>
    <p:sldId id="1168" r:id="rId40"/>
    <p:sldId id="1352" r:id="rId41"/>
    <p:sldId id="1355" r:id="rId42"/>
    <p:sldId id="1170" r:id="rId43"/>
    <p:sldId id="1171" r:id="rId44"/>
    <p:sldId id="1172" r:id="rId45"/>
    <p:sldId id="1173" r:id="rId46"/>
    <p:sldId id="1174" r:id="rId47"/>
    <p:sldId id="1187" r:id="rId48"/>
    <p:sldId id="1326" r:id="rId49"/>
    <p:sldId id="1189" r:id="rId50"/>
    <p:sldId id="1328" r:id="rId51"/>
    <p:sldId id="1356" r:id="rId52"/>
    <p:sldId id="1191" r:id="rId53"/>
    <p:sldId id="1357" r:id="rId54"/>
    <p:sldId id="1280" r:id="rId55"/>
    <p:sldId id="1294" r:id="rId56"/>
    <p:sldId id="1295" r:id="rId57"/>
    <p:sldId id="1358" r:id="rId58"/>
    <p:sldId id="1298" r:id="rId59"/>
    <p:sldId id="1200" r:id="rId60"/>
    <p:sldId id="1359" r:id="rId61"/>
    <p:sldId id="1360" r:id="rId62"/>
    <p:sldId id="1213" r:id="rId63"/>
    <p:sldId id="1369" r:id="rId64"/>
    <p:sldId id="1214" r:id="rId65"/>
    <p:sldId id="1215" r:id="rId66"/>
    <p:sldId id="1364" r:id="rId67"/>
    <p:sldId id="1363" r:id="rId68"/>
    <p:sldId id="1365" r:id="rId69"/>
    <p:sldId id="1362" r:id="rId70"/>
    <p:sldId id="1217" r:id="rId71"/>
    <p:sldId id="1218" r:id="rId72"/>
    <p:sldId id="1229" r:id="rId73"/>
    <p:sldId id="1230" r:id="rId74"/>
    <p:sldId id="1338" r:id="rId75"/>
    <p:sldId id="1232" r:id="rId76"/>
    <p:sldId id="1233" r:id="rId77"/>
    <p:sldId id="1234" r:id="rId78"/>
    <p:sldId id="1366" r:id="rId79"/>
    <p:sldId id="1235" r:id="rId80"/>
    <p:sldId id="1236" r:id="rId81"/>
    <p:sldId id="1237" r:id="rId82"/>
    <p:sldId id="1238" r:id="rId83"/>
    <p:sldId id="1367" r:id="rId84"/>
    <p:sldId id="1285" r:id="rId85"/>
    <p:sldId id="1330" r:id="rId86"/>
    <p:sldId id="1340" r:id="rId87"/>
    <p:sldId id="1342" r:id="rId88"/>
    <p:sldId id="1254" r:id="rId89"/>
    <p:sldId id="1271" r:id="rId90"/>
    <p:sldId id="1272" r:id="rId91"/>
    <p:sldId id="1273" r:id="rId92"/>
    <p:sldId id="1274" r:id="rId93"/>
    <p:sldId id="1275" r:id="rId94"/>
    <p:sldId id="1276" r:id="rId95"/>
    <p:sldId id="1368" r:id="rId96"/>
    <p:sldId id="1299" r:id="rId97"/>
    <p:sldId id="781" r:id="rId98"/>
    <p:sldId id="803" r:id="rId99"/>
    <p:sldId id="1361" r:id="rId100"/>
    <p:sldId id="1058" r:id="rId101"/>
    <p:sldId id="740" r:id="rId102"/>
    <p:sldId id="289" r:id="rId103"/>
    <p:sldId id="1052" r:id="rId104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929D99C-F5B1-42FB-AF27-345805AF619A}">
          <p14:sldIdLst>
            <p14:sldId id="1127"/>
            <p14:sldId id="263"/>
            <p14:sldId id="1543"/>
            <p14:sldId id="262"/>
          </p14:sldIdLst>
        </p14:section>
        <p14:section name="Neon DB" id="{EA90042A-36F0-4EDF-B977-110B84A54C7D}">
          <p14:sldIdLst>
            <p14:sldId id="1239"/>
            <p14:sldId id="1241"/>
            <p14:sldId id="1306"/>
            <p14:sldId id="1118"/>
            <p14:sldId id="1347"/>
            <p14:sldId id="1120"/>
            <p14:sldId id="1307"/>
            <p14:sldId id="1346"/>
            <p14:sldId id="1308"/>
          </p14:sldIdLst>
        </p14:section>
        <p14:section name="ORM and Drizzle" id="{48FD851E-7B29-48D4-9962-98403E38FA56}">
          <p14:sldIdLst>
            <p14:sldId id="1130"/>
            <p14:sldId id="1132"/>
            <p14:sldId id="1331"/>
            <p14:sldId id="1136"/>
            <p14:sldId id="1138"/>
            <p14:sldId id="1140"/>
            <p14:sldId id="1142"/>
            <p14:sldId id="1343"/>
          </p14:sldIdLst>
        </p14:section>
        <p14:section name="Exercise: Countries and Towns" id="{147E3D63-C129-4FAC-A371-FF4DEC51A82B}">
          <p14:sldIdLst>
            <p14:sldId id="1144"/>
            <p14:sldId id="1146"/>
            <p14:sldId id="1348"/>
            <p14:sldId id="1311"/>
            <p14:sldId id="1350"/>
            <p14:sldId id="1349"/>
            <p14:sldId id="1351"/>
            <p14:sldId id="1320"/>
            <p14:sldId id="1321"/>
            <p14:sldId id="1322"/>
          </p14:sldIdLst>
        </p14:section>
        <p14:section name="Back-End API: Next.js + Neon" id="{2859086A-0FC8-4D71-93F6-6C4E9B1C054B}">
          <p14:sldIdLst>
            <p14:sldId id="1160"/>
            <p14:sldId id="1168"/>
            <p14:sldId id="1352"/>
            <p14:sldId id="1355"/>
            <p14:sldId id="1170"/>
            <p14:sldId id="1171"/>
            <p14:sldId id="1172"/>
            <p14:sldId id="1173"/>
            <p14:sldId id="1174"/>
          </p14:sldIdLst>
        </p14:section>
        <p14:section name="Exercise: RESTful Blog API" id="{7F18EFF3-16D3-4A6D-83AD-BC628DDD961A}">
          <p14:sldIdLst>
            <p14:sldId id="1187"/>
            <p14:sldId id="1326"/>
            <p14:sldId id="1189"/>
            <p14:sldId id="1328"/>
            <p14:sldId id="1356"/>
            <p14:sldId id="1191"/>
            <p14:sldId id="1357"/>
            <p14:sldId id="1280"/>
            <p14:sldId id="1294"/>
            <p14:sldId id="1295"/>
            <p14:sldId id="1358"/>
            <p14:sldId id="1298"/>
          </p14:sldIdLst>
        </p14:section>
        <p14:section name="Blog System: Client App" id="{2D937570-166F-4178-9204-C3592F4E5D58}">
          <p14:sldIdLst>
            <p14:sldId id="1200"/>
            <p14:sldId id="1359"/>
            <p14:sldId id="1360"/>
          </p14:sldIdLst>
        </p14:section>
        <p14:section name="Cloudflare R2" id="{B46E7D55-CF4C-4C32-83C4-D77EEF3FA7B6}">
          <p14:sldIdLst>
            <p14:sldId id="1213"/>
            <p14:sldId id="1369"/>
            <p14:sldId id="1214"/>
            <p14:sldId id="1215"/>
            <p14:sldId id="1364"/>
            <p14:sldId id="1363"/>
            <p14:sldId id="1365"/>
            <p14:sldId id="1362"/>
            <p14:sldId id="1217"/>
            <p14:sldId id="1218"/>
          </p14:sldIdLst>
        </p14:section>
        <p14:section name="Automated Testing" id="{27DA090A-14A1-4E6A-96DF-02F1CBBF1DF1}">
          <p14:sldIdLst>
            <p14:sldId id="1229"/>
            <p14:sldId id="1230"/>
            <p14:sldId id="1338"/>
            <p14:sldId id="1232"/>
            <p14:sldId id="1233"/>
            <p14:sldId id="1234"/>
            <p14:sldId id="1366"/>
            <p14:sldId id="1235"/>
            <p14:sldId id="1236"/>
            <p14:sldId id="1237"/>
            <p14:sldId id="1238"/>
            <p14:sldId id="1367"/>
          </p14:sldIdLst>
        </p14:section>
        <p14:section name="Serverless vs. Server-Based Deployment" id="{D314F6E6-1017-4A1C-923F-24151B987C52}">
          <p14:sldIdLst>
            <p14:sldId id="1285"/>
            <p14:sldId id="1330"/>
            <p14:sldId id="1340"/>
            <p14:sldId id="1342"/>
          </p14:sldIdLst>
        </p14:section>
        <p14:section name="Deploying Next.js to Netlify" id="{9A5B1791-5C57-4D3B-A173-690E43E59319}">
          <p14:sldIdLst>
            <p14:sldId id="1254"/>
            <p14:sldId id="1271"/>
            <p14:sldId id="1272"/>
            <p14:sldId id="1273"/>
            <p14:sldId id="1274"/>
            <p14:sldId id="1275"/>
            <p14:sldId id="1276"/>
            <p14:sldId id="1368"/>
          </p14:sldIdLst>
        </p14:section>
        <p14:section name="Conclusion" id="{CAD19DE6-692F-42D6-8AB6-B2EBAC62A08E}">
          <p14:sldIdLst>
            <p14:sldId id="1299"/>
            <p14:sldId id="781"/>
            <p14:sldId id="803"/>
            <p14:sldId id="1361"/>
            <p14:sldId id="1058"/>
            <p14:sldId id="740"/>
            <p14:sldId id="289"/>
            <p14:sldId id="105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99"/>
    <a:srgbClr val="212E31"/>
    <a:srgbClr val="00BA96"/>
    <a:srgbClr val="ECE5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28" autoAdjust="0"/>
    <p:restoredTop sz="96723" autoAdjust="0"/>
  </p:normalViewPr>
  <p:slideViewPr>
    <p:cSldViewPr>
      <p:cViewPr varScale="1">
        <p:scale>
          <a:sx n="88" d="100"/>
          <a:sy n="88" d="100"/>
        </p:scale>
        <p:origin x="33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84" Type="http://schemas.openxmlformats.org/officeDocument/2006/relationships/slide" Target="slides/slide77.xml"/><Relationship Id="rId89" Type="http://schemas.openxmlformats.org/officeDocument/2006/relationships/slide" Target="slides/slide82.xml"/><Relationship Id="rId16" Type="http://schemas.openxmlformats.org/officeDocument/2006/relationships/slide" Target="slides/slide9.xml"/><Relationship Id="rId107" Type="http://schemas.openxmlformats.org/officeDocument/2006/relationships/viewProps" Target="viewProps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74" Type="http://schemas.openxmlformats.org/officeDocument/2006/relationships/slide" Target="slides/slide67.xml"/><Relationship Id="rId79" Type="http://schemas.openxmlformats.org/officeDocument/2006/relationships/slide" Target="slides/slide72.xml"/><Relationship Id="rId102" Type="http://schemas.openxmlformats.org/officeDocument/2006/relationships/slide" Target="slides/slide95.xml"/><Relationship Id="rId5" Type="http://schemas.openxmlformats.org/officeDocument/2006/relationships/slideMaster" Target="slideMasters/slideMaster2.xml"/><Relationship Id="rId90" Type="http://schemas.openxmlformats.org/officeDocument/2006/relationships/slide" Target="slides/slide83.xml"/><Relationship Id="rId95" Type="http://schemas.openxmlformats.org/officeDocument/2006/relationships/slide" Target="slides/slide88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80" Type="http://schemas.openxmlformats.org/officeDocument/2006/relationships/slide" Target="slides/slide73.xml"/><Relationship Id="rId85" Type="http://schemas.openxmlformats.org/officeDocument/2006/relationships/slide" Target="slides/slide78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59" Type="http://schemas.openxmlformats.org/officeDocument/2006/relationships/slide" Target="slides/slide52.xml"/><Relationship Id="rId103" Type="http://schemas.openxmlformats.org/officeDocument/2006/relationships/slide" Target="slides/slide96.xml"/><Relationship Id="rId108" Type="http://schemas.openxmlformats.org/officeDocument/2006/relationships/theme" Target="theme/theme1.xml"/><Relationship Id="rId54" Type="http://schemas.openxmlformats.org/officeDocument/2006/relationships/slide" Target="slides/slide47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91" Type="http://schemas.openxmlformats.org/officeDocument/2006/relationships/slide" Target="slides/slide84.xml"/><Relationship Id="rId96" Type="http://schemas.openxmlformats.org/officeDocument/2006/relationships/slide" Target="slides/slide89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6" Type="http://schemas.openxmlformats.org/officeDocument/2006/relationships/presProps" Target="presProps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81" Type="http://schemas.openxmlformats.org/officeDocument/2006/relationships/slide" Target="slides/slide74.xml"/><Relationship Id="rId86" Type="http://schemas.openxmlformats.org/officeDocument/2006/relationships/slide" Target="slides/slide79.xml"/><Relationship Id="rId94" Type="http://schemas.openxmlformats.org/officeDocument/2006/relationships/slide" Target="slides/slide87.xml"/><Relationship Id="rId99" Type="http://schemas.openxmlformats.org/officeDocument/2006/relationships/slide" Target="slides/slide92.xml"/><Relationship Id="rId101" Type="http://schemas.openxmlformats.org/officeDocument/2006/relationships/slide" Target="slides/slide9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109" Type="http://schemas.openxmlformats.org/officeDocument/2006/relationships/tableStyles" Target="tableStyles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97" Type="http://schemas.openxmlformats.org/officeDocument/2006/relationships/slide" Target="slides/slide90.xml"/><Relationship Id="rId104" Type="http://schemas.openxmlformats.org/officeDocument/2006/relationships/slide" Target="slides/slide97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4.xml"/><Relationship Id="rId92" Type="http://schemas.openxmlformats.org/officeDocument/2006/relationships/slide" Target="slides/slide85.xml"/><Relationship Id="rId2" Type="http://schemas.openxmlformats.org/officeDocument/2006/relationships/customXml" Target="../customXml/item2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Relationship Id="rId87" Type="http://schemas.openxmlformats.org/officeDocument/2006/relationships/slide" Target="slides/slide80.xml"/><Relationship Id="rId61" Type="http://schemas.openxmlformats.org/officeDocument/2006/relationships/slide" Target="slides/slide54.xml"/><Relationship Id="rId82" Type="http://schemas.openxmlformats.org/officeDocument/2006/relationships/slide" Target="slides/slide75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56" Type="http://schemas.openxmlformats.org/officeDocument/2006/relationships/slide" Target="slides/slide49.xml"/><Relationship Id="rId77" Type="http://schemas.openxmlformats.org/officeDocument/2006/relationships/slide" Target="slides/slide70.xml"/><Relationship Id="rId100" Type="http://schemas.openxmlformats.org/officeDocument/2006/relationships/slide" Target="slides/slide93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93" Type="http://schemas.openxmlformats.org/officeDocument/2006/relationships/slide" Target="slides/slide86.xml"/><Relationship Id="rId98" Type="http://schemas.openxmlformats.org/officeDocument/2006/relationships/slide" Target="slides/slide91.xml"/><Relationship Id="rId3" Type="http://schemas.openxmlformats.org/officeDocument/2006/relationships/customXml" Target="../customXml/item3.xml"/><Relationship Id="rId25" Type="http://schemas.openxmlformats.org/officeDocument/2006/relationships/slide" Target="slides/slide18.xml"/><Relationship Id="rId46" Type="http://schemas.openxmlformats.org/officeDocument/2006/relationships/slide" Target="slides/slide39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62" Type="http://schemas.openxmlformats.org/officeDocument/2006/relationships/slide" Target="slides/slide55.xml"/><Relationship Id="rId83" Type="http://schemas.openxmlformats.org/officeDocument/2006/relationships/slide" Target="slides/slide76.xml"/><Relationship Id="rId88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425A1F-8849-4500-96A6-AC69C93DE813}" type="datetimeFigureOut">
              <a:rPr lang="bg-BG" smtClean="0"/>
              <a:t>6.5.2026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D8E2BC-ED13-47F1-B736-740CC70099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05368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91616A44-9934-45F5-8869-E5440B183C3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0412"/>
            <a:ext cx="630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704484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:notes"/>
          <p:cNvSpPr txBox="1">
            <a:spLocks noGrp="1"/>
          </p:cNvSpPr>
          <p:nvPr>
            <p:ph type="body" idx="1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3" name="Google Shape;4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bg-BG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F8F77304-C0C8-F888-6978-55D7A9058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:notes">
            <a:extLst>
              <a:ext uri="{FF2B5EF4-FFF2-40B4-BE49-F238E27FC236}">
                <a16:creationId xmlns:a16="http://schemas.microsoft.com/office/drawing/2014/main" id="{290C8E2E-DCC4-D3BF-CF6A-169C7070D8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9" name="Google Shape;469;p2:notes">
            <a:extLst>
              <a:ext uri="{FF2B5EF4-FFF2-40B4-BE49-F238E27FC236}">
                <a16:creationId xmlns:a16="http://schemas.microsoft.com/office/drawing/2014/main" id="{EFB8A8B0-6DB8-6BE3-47A6-48647CA8C2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352424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:notes"/>
          <p:cNvSpPr txBox="1">
            <a:spLocks noGrp="1"/>
          </p:cNvSpPr>
          <p:nvPr>
            <p:ph type="body" idx="1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6" name="Google Shape;4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bg-BG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8E2BC-ED13-47F1-B736-740CC70099DF}" type="slidenum">
              <a:rPr lang="bg-BG" smtClean="0"/>
              <a:t>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676138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8E2BC-ED13-47F1-B736-740CC70099DF}" type="slidenum">
              <a:rPr lang="bg-BG" smtClean="0"/>
              <a:t>11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121375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21146-C680-F119-1EA4-B549DD900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6A6BD3-9709-204A-5CBA-67B4F1C28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67EB13-697A-18D9-B950-C5891F7DE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776B5-FE4C-067D-ABAC-97B83B5255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8E2BC-ED13-47F1-B736-740CC70099DF}" type="slidenum">
              <a:rPr lang="bg-BG" smtClean="0"/>
              <a:t>12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67893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8E2BC-ED13-47F1-B736-740CC70099DF}" type="slidenum">
              <a:rPr lang="bg-BG" smtClean="0"/>
              <a:t>16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37487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8E2BC-ED13-47F1-B736-740CC70099DF}" type="slidenum">
              <a:rPr lang="bg-BG" smtClean="0"/>
              <a:t>29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77995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8E2BC-ED13-47F1-B736-740CC70099DF}" type="slidenum">
              <a:rPr lang="bg-BG" smtClean="0"/>
              <a:t>30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273122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8E2BC-ED13-47F1-B736-740CC70099DF}" type="slidenum">
              <a:rPr lang="bg-BG" smtClean="0"/>
              <a:t>34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805791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8E2BC-ED13-47F1-B736-740CC70099DF}" type="slidenum">
              <a:rPr lang="bg-BG" smtClean="0"/>
              <a:t>37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079343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8E2BC-ED13-47F1-B736-740CC70099DF}" type="slidenum">
              <a:rPr lang="bg-BG" smtClean="0"/>
              <a:t>38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642256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8E2BC-ED13-47F1-B736-740CC70099DF}" type="slidenum">
              <a:rPr lang="bg-BG" smtClean="0"/>
              <a:t>39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066367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8E2BC-ED13-47F1-B736-740CC70099DF}" type="slidenum">
              <a:rPr lang="bg-BG" smtClean="0"/>
              <a:t>40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864026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8E2BC-ED13-47F1-B736-740CC70099DF}" type="slidenum">
              <a:rPr lang="bg-BG" smtClean="0"/>
              <a:t>68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524683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8E2BC-ED13-47F1-B736-740CC70099DF}" type="slidenum">
              <a:rPr lang="bg-BG" smtClean="0"/>
              <a:t>79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855498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8E2BC-ED13-47F1-B736-740CC70099DF}" type="slidenum">
              <a:rPr lang="bg-BG" smtClean="0"/>
              <a:t>85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064058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53:notes"/>
          <p:cNvSpPr txBox="1">
            <a:spLocks noGrp="1"/>
          </p:cNvSpPr>
          <p:nvPr>
            <p:ph type="body" idx="1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bg-BG" dirty="0"/>
          </a:p>
        </p:txBody>
      </p:sp>
      <p:sp>
        <p:nvSpPr>
          <p:cNvPr id="973" name="Google Shape;973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5834281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E563761E-B608-4EA1-8A3B-9656307467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308999" y="8890412"/>
            <a:ext cx="547414" cy="252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BA5BD7-F043-4D1B-AA17-CD412FC534D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5A92B882-9BC2-426E-8ADA-51AFF39D28D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0412"/>
            <a:ext cx="630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 SoftUni – </a:t>
            </a:r>
            <a:r>
              <a:rPr kumimoji="0" lang="en-US" sz="1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/>
              </a:rPr>
              <a:t>https://softuni.org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5871851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BA5BD7-F043-4D1B-AA17-CD412FC534D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EF997AC8-F5A5-4850-A071-FEE8DDBD371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0412"/>
            <a:ext cx="630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 SoftUni – </a:t>
            </a:r>
            <a:r>
              <a:rPr kumimoji="0" lang="en-US" sz="1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/>
              </a:rPr>
              <a:t>https://softuni.org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588110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ai.softuni.bg/" TargetMode="Externa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ai.softuni.bg/" TargetMode="External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esentation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Down">
            <a:extLst>
              <a:ext uri="{FF2B5EF4-FFF2-40B4-BE49-F238E27FC236}">
                <a16:creationId xmlns:a16="http://schemas.microsoft.com/office/drawing/2014/main" id="{0C2358C5-D311-E2D0-33C7-44A1117B1E27}"/>
              </a:ext>
            </a:extLst>
          </p:cNvPr>
          <p:cNvSpPr/>
          <p:nvPr userDrawn="1"/>
        </p:nvSpPr>
        <p:spPr>
          <a:xfrm>
            <a:off x="956055" y="2995805"/>
            <a:ext cx="4670710" cy="2727608"/>
          </a:xfrm>
          <a:prstGeom prst="rect">
            <a:avLst/>
          </a:prstGeom>
          <a:solidFill>
            <a:srgbClr val="1B6C9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385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altLang="ko-KR" sz="2398" b="0" i="0" u="none" strike="noStrike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</a:endParaRPr>
          </a:p>
        </p:txBody>
      </p:sp>
      <p:sp>
        <p:nvSpPr>
          <p:cNvPr id="16" name="Company Web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 txBox="1">
            <a:spLocks/>
          </p:cNvSpPr>
          <p:nvPr userDrawn="1"/>
        </p:nvSpPr>
        <p:spPr bwMode="auto">
          <a:xfrm>
            <a:off x="2864785" y="6075924"/>
            <a:ext cx="2268822" cy="351497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defTabSz="1218438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lang="en-US" sz="1798" b="0" i="0" kern="1200" dirty="0" smtClean="0">
                <a:solidFill>
                  <a:srgbClr val="00BA96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809625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b="0" i="0" kern="12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600" b="0" i="0" kern="12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b="0" i="0" kern="1200">
                <a:solidFill>
                  <a:schemeClr val="bg2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215265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 kern="1200">
                <a:solidFill>
                  <a:schemeClr val="bg2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335070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98" dirty="0">
                <a:latin typeface="+mn-lt"/>
                <a:hlinkClick r:id="rId3"/>
              </a:rPr>
              <a:t>https://ai.softuni.bg</a:t>
            </a:r>
            <a:endParaRPr lang="en-US" sz="1798" dirty="0">
              <a:latin typeface="+mn-lt"/>
            </a:endParaRPr>
          </a:p>
        </p:txBody>
      </p:sp>
      <p:pic>
        <p:nvPicPr>
          <p:cNvPr id="11" name="SoftUni AI - Logo" descr="SoftUni AI - logo (horizontal)">
            <a:extLst>
              <a:ext uri="{FF2B5EF4-FFF2-40B4-BE49-F238E27FC236}">
                <a16:creationId xmlns:a16="http://schemas.microsoft.com/office/drawing/2014/main" id="{78E65E94-49B4-BCA6-FCAA-16E3F57BF0E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956055" y="5978563"/>
            <a:ext cx="1692824" cy="546219"/>
          </a:xfrm>
          <a:prstGeom prst="roundRect">
            <a:avLst>
              <a:gd name="adj" fmla="val 8166"/>
            </a:avLst>
          </a:prstGeom>
        </p:spPr>
      </p:pic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6953" y="2852937"/>
            <a:ext cx="4886789" cy="2753631"/>
          </a:xfrm>
          <a:solidFill>
            <a:schemeClr val="bg2">
              <a:lumMod val="95000"/>
            </a:schemeClr>
          </a:solidFill>
          <a:ln w="6350">
            <a:solidFill>
              <a:schemeClr val="tx1">
                <a:lumMod val="40000"/>
                <a:lumOff val="60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Picture Here</a:t>
            </a:r>
            <a:endParaRPr lang="en-US" dirty="0"/>
          </a:p>
        </p:txBody>
      </p:sp>
      <p:sp>
        <p:nvSpPr>
          <p:cNvPr id="7" name="Text Placeholder Position">
            <a:extLst>
              <a:ext uri="{FF2B5EF4-FFF2-40B4-BE49-F238E27FC236}">
                <a16:creationId xmlns:a16="http://schemas.microsoft.com/office/drawing/2014/main" id="{4CE3EED2-634D-E15A-33D0-6520802CB8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43945" y="4333487"/>
            <a:ext cx="5026090" cy="513199"/>
          </a:xfrm>
          <a:noFill/>
          <a:effectLst/>
        </p:spPr>
        <p:txBody>
          <a:bodyPr vert="horz" wrap="square" lIns="36000" tIns="72000" rIns="36000" bIns="72000" rtlCol="0" anchor="t" anchorCtr="0">
            <a:spAutoFit/>
          </a:bodyPr>
          <a:lstStyle>
            <a:lvl1pPr marL="0" indent="0">
              <a:lnSpc>
                <a:spcPct val="105000"/>
              </a:lnSpc>
              <a:buNone/>
              <a:defRPr lang="en-US" sz="2400" dirty="0">
                <a:solidFill>
                  <a:srgbClr val="00BA96"/>
                </a:solidFill>
                <a:effectLst/>
                <a:latin typeface="+mn-lt"/>
                <a:ea typeface="Roboto" panose="02000000000000000000" pitchFamily="2" charset="0"/>
                <a:cs typeface="+mn-cs"/>
              </a:defRPr>
            </a:lvl1pPr>
          </a:lstStyle>
          <a:p>
            <a:pPr marL="361950" lvl="0" indent="-36195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Position, Company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6543175" y="3613221"/>
            <a:ext cx="5026859" cy="699404"/>
          </a:xfrm>
          <a:prstGeom prst="rect">
            <a:avLst/>
          </a:prstGeom>
          <a:noFill/>
          <a:effectLst/>
        </p:spPr>
        <p:txBody>
          <a:bodyPr wrap="square" lIns="36000" tIns="72000" rIns="36000" bIns="72000" rtlCol="0" anchor="ctr" anchorCtr="0">
            <a:spAutoFit/>
          </a:bodyPr>
          <a:lstStyle>
            <a:lvl1pPr marL="0" indent="0" algn="l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US" sz="3600" b="1" kern="1200" dirty="0" smtClean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+mn-lt"/>
                <a:ea typeface="Roboto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6953" y="1628800"/>
            <a:ext cx="10963081" cy="777531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3600" b="0" i="0">
                <a:solidFill>
                  <a:srgbClr val="00BA96"/>
                </a:solidFill>
                <a:latin typeface="Montserrat Medium" panose="00000600000000000000" pitchFamily="50" charset="-52"/>
                <a:ea typeface="Montserrat Medium" panose="00000600000000000000" pitchFamily="50" charset="-52"/>
                <a:cs typeface="Montserrat Medium" panose="00000600000000000000" pitchFamily="50" charset="-52"/>
              </a:defRPr>
            </a:lvl1pPr>
          </a:lstStyle>
          <a:p>
            <a:r>
              <a:rPr lang="en-GB" dirty="0"/>
              <a:t>Presentation Subtitle</a:t>
            </a:r>
            <a:endParaRPr lang="bg-BG" dirty="0"/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953" y="548680"/>
            <a:ext cx="10963081" cy="957038"/>
          </a:xfrm>
          <a:prstGeom prst="rect">
            <a:avLst/>
          </a:prstGeom>
          <a:ln>
            <a:noFill/>
          </a:ln>
        </p:spPr>
        <p:txBody>
          <a:bodyPr wrap="square" lIns="0" tIns="274320" rIns="0" bIns="274320" anchor="ctr" anchorCtr="1">
            <a:noAutofit/>
          </a:bodyPr>
          <a:lstStyle>
            <a:lvl1pPr algn="ctr">
              <a:defRPr sz="5400" b="1" i="0">
                <a:solidFill>
                  <a:schemeClr val="bg1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7975161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 Slide with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Subtitle">
            <a:extLst>
              <a:ext uri="{FF2B5EF4-FFF2-40B4-BE49-F238E27FC236}">
                <a16:creationId xmlns:a16="http://schemas.microsoft.com/office/drawing/2014/main" id="{588387B4-E99E-4145-9D1D-F17CA5190D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109" y="1622475"/>
            <a:ext cx="10961783" cy="73178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5000"/>
              </a:lnSpc>
              <a:buNone/>
              <a:defRPr sz="3600" b="0" i="0" baseline="0">
                <a:solidFill>
                  <a:schemeClr val="bg1">
                    <a:lumMod val="20000"/>
                    <a:lumOff val="80000"/>
                  </a:schemeClr>
                </a:solidFill>
                <a:latin typeface="Montserrat Medium" panose="00000600000000000000" pitchFamily="50" charset="-52"/>
                <a:ea typeface="Montserrat Medium" panose="00000600000000000000" pitchFamily="50" charset="-52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Section Subtitle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8A28C56F-AE84-49D0-9AD1-1F0CEEABF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109" y="692697"/>
            <a:ext cx="10961783" cy="780383"/>
          </a:xfrm>
          <a:prstGeom prst="rect">
            <a:avLst/>
          </a:prstGeom>
        </p:spPr>
        <p:txBody>
          <a:bodyPr vert="horz" lIns="108000" tIns="36000" rIns="108000" bIns="36000" rtlCol="0" anchor="ctr">
            <a:noAutofit/>
          </a:bodyPr>
          <a:lstStyle>
            <a:lvl1pPr algn="ctr">
              <a:lnSpc>
                <a:spcPct val="105000"/>
              </a:lnSpc>
              <a:defRPr lang="en-US" sz="5396" b="1" i="0" baseline="0">
                <a:solidFill>
                  <a:srgbClr val="75FFE5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Section Title</a:t>
            </a:r>
            <a:endParaRPr lang="en-US" altLang="ko-KR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B6B24A-4DC6-9128-47A7-704CC7F4680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701828" y="2780928"/>
            <a:ext cx="6788342" cy="3384376"/>
          </a:xfrm>
          <a:ln>
            <a:solidFill>
              <a:schemeClr val="bg1">
                <a:alpha val="60000"/>
              </a:schemeClr>
            </a:solidFill>
          </a:ln>
          <a:effectLst/>
        </p:spPr>
        <p:txBody>
          <a:bodyPr lIns="144000" tIns="108000" rIns="144000" bIns="108000" anchor="ctr" anchorCtr="1">
            <a:noAutofit/>
          </a:bodyPr>
          <a:lstStyle>
            <a:lvl1pPr marL="0" indent="0" algn="l">
              <a:buNone/>
              <a:defRPr sz="3200">
                <a:solidFill>
                  <a:schemeClr val="bg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Insert Picture Here</a:t>
            </a:r>
            <a:endParaRPr lang="en-BG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A9A60E9-1AD5-A39A-713A-240B3BB0DA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  <a:alpha val="50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8658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ingle Corner of Rectangle 4">
            <a:extLst>
              <a:ext uri="{FF2B5EF4-FFF2-40B4-BE49-F238E27FC236}">
                <a16:creationId xmlns:a16="http://schemas.microsoft.com/office/drawing/2014/main" id="{EDBED750-FB43-855D-3C59-452045ED2C8C}"/>
              </a:ext>
            </a:extLst>
          </p:cNvPr>
          <p:cNvSpPr/>
          <p:nvPr userDrawn="1"/>
        </p:nvSpPr>
        <p:spPr bwMode="auto">
          <a:xfrm flipV="1">
            <a:off x="1" y="0"/>
            <a:ext cx="12192000" cy="1052736"/>
          </a:xfrm>
          <a:prstGeom prst="round1Rect">
            <a:avLst>
              <a:gd name="adj" fmla="val 50000"/>
            </a:avLst>
          </a:prstGeom>
          <a:gradFill>
            <a:gsLst>
              <a:gs pos="0">
                <a:srgbClr val="00BA96">
                  <a:alpha val="30000"/>
                </a:srgbClr>
              </a:gs>
              <a:gs pos="100000">
                <a:srgbClr val="18151C"/>
              </a:gs>
            </a:gsLst>
            <a:lin ang="8400000" scaled="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G" sz="2800" b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3483657-164E-4EE9-9349-4B9023216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3" y="1196125"/>
            <a:ext cx="11811791" cy="5561125"/>
          </a:xfrm>
        </p:spPr>
        <p:txBody>
          <a:bodyPr>
            <a:normAutofit/>
          </a:bodyPr>
          <a:lstStyle>
            <a:lvl1pPr>
              <a:lnSpc>
                <a:spcPct val="105000"/>
              </a:lnSpc>
              <a:spcAft>
                <a:spcPts val="600"/>
              </a:spcAft>
              <a:defRPr sz="3400" b="0" baseline="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05000"/>
              </a:lnSpc>
              <a:spcAft>
                <a:spcPts val="600"/>
              </a:spcAft>
              <a:defRPr sz="32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05000"/>
              </a:lnSpc>
              <a:spcAft>
                <a:spcPts val="600"/>
              </a:spcAft>
              <a:defRPr sz="3000" b="0" i="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05000"/>
              </a:lnSpc>
              <a:spcAft>
                <a:spcPts val="600"/>
              </a:spcAft>
              <a:defRPr sz="28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05000"/>
              </a:lnSpc>
              <a:spcAft>
                <a:spcPts val="600"/>
              </a:spcAft>
              <a:defRPr sz="2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4" y="100750"/>
            <a:ext cx="10803414" cy="8826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4400" b="1" i="0" kern="1200" dirty="0">
                <a:solidFill>
                  <a:schemeClr val="bg1">
                    <a:lumMod val="20000"/>
                    <a:lumOff val="80000"/>
                  </a:schemeClr>
                </a:solidFill>
                <a:latin typeface="+mj-lt"/>
                <a:ea typeface="Roboto" panose="02000000000000000000" pitchFamily="2" charset="0"/>
                <a:cs typeface="Montserrat Bold"/>
              </a:defRPr>
            </a:lvl1pPr>
          </a:lstStyle>
          <a:p>
            <a:r>
              <a:rPr lang="en-US" dirty="0"/>
              <a:t>Slide Title</a:t>
            </a:r>
          </a:p>
        </p:txBody>
      </p:sp>
      <p:pic>
        <p:nvPicPr>
          <p:cNvPr id="2" name="Picture 1" descr="SoftUni AI logo">
            <a:extLst>
              <a:ext uri="{FF2B5EF4-FFF2-40B4-BE49-F238E27FC236}">
                <a16:creationId xmlns:a16="http://schemas.microsoft.com/office/drawing/2014/main" id="{DF879E57-BABD-22A8-5DD2-EC221C1C6A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593" y="164258"/>
            <a:ext cx="757574" cy="71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70211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able of Conten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 Single Corner of Rectangle 4">
            <a:extLst>
              <a:ext uri="{FF2B5EF4-FFF2-40B4-BE49-F238E27FC236}">
                <a16:creationId xmlns:a16="http://schemas.microsoft.com/office/drawing/2014/main" id="{C62B52A4-D488-244D-CB7E-BEDBE9FFA013}"/>
              </a:ext>
            </a:extLst>
          </p:cNvPr>
          <p:cNvSpPr/>
          <p:nvPr userDrawn="1"/>
        </p:nvSpPr>
        <p:spPr bwMode="auto">
          <a:xfrm flipV="1">
            <a:off x="1" y="0"/>
            <a:ext cx="12192000" cy="1052736"/>
          </a:xfrm>
          <a:prstGeom prst="round1Rect">
            <a:avLst>
              <a:gd name="adj" fmla="val 50000"/>
            </a:avLst>
          </a:prstGeom>
          <a:gradFill>
            <a:gsLst>
              <a:gs pos="0">
                <a:srgbClr val="00BA96">
                  <a:alpha val="30000"/>
                </a:srgbClr>
              </a:gs>
              <a:gs pos="100000">
                <a:srgbClr val="18151C"/>
              </a:gs>
            </a:gsLst>
            <a:lin ang="8400000" scaled="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G" sz="2800" b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268760"/>
            <a:ext cx="11805427" cy="5400601"/>
          </a:xfrm>
        </p:spPr>
        <p:txBody>
          <a:bodyPr/>
          <a:lstStyle>
            <a:lvl1pPr marL="538163" indent="-538163">
              <a:spcBef>
                <a:spcPts val="1200"/>
              </a:spcBef>
              <a:buClr>
                <a:srgbClr val="00BA96"/>
              </a:buClr>
              <a:buSzPct val="100000"/>
              <a:buFont typeface="+mj-lt"/>
              <a:buAutoNum type="arabicPeriod"/>
              <a:defRPr b="1">
                <a:solidFill>
                  <a:schemeClr val="bg2"/>
                </a:solidFill>
              </a:defRPr>
            </a:lvl1pPr>
            <a:lvl2pPr marL="803275" indent="-355600">
              <a:buClr>
                <a:srgbClr val="00BA96"/>
              </a:buClr>
              <a:defRPr>
                <a:solidFill>
                  <a:schemeClr val="bg2"/>
                </a:solidFill>
              </a:defRPr>
            </a:lvl2pPr>
          </a:lstStyle>
          <a:p>
            <a:pPr lvl="0"/>
            <a:r>
              <a:rPr lang="en-GB" dirty="0"/>
              <a:t>…</a:t>
            </a:r>
          </a:p>
          <a:p>
            <a:pPr lvl="1"/>
            <a:r>
              <a:rPr lang="en-GB" dirty="0"/>
              <a:t>…</a:t>
            </a:r>
          </a:p>
          <a:p>
            <a:pPr lvl="1"/>
            <a:r>
              <a:rPr lang="en-GB" dirty="0"/>
              <a:t>…</a:t>
            </a:r>
          </a:p>
          <a:p>
            <a:pPr lvl="1"/>
            <a:r>
              <a:rPr lang="en-GB" dirty="0"/>
              <a:t>…</a:t>
            </a:r>
          </a:p>
          <a:p>
            <a:pPr lvl="0"/>
            <a:r>
              <a:rPr lang="en-GB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</p:txBody>
      </p:sp>
      <p:sp>
        <p:nvSpPr>
          <p:cNvPr id="12" name="Slide Title">
            <a:extLst>
              <a:ext uri="{FF2B5EF4-FFF2-40B4-BE49-F238E27FC236}">
                <a16:creationId xmlns:a16="http://schemas.microsoft.com/office/drawing/2014/main" id="{48CCE616-2FC8-4941-8612-3EC8CFD842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771029" cy="8826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 i="0">
                <a:solidFill>
                  <a:schemeClr val="bg1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Table of Contents</a:t>
            </a:r>
          </a:p>
        </p:txBody>
      </p:sp>
      <p:pic>
        <p:nvPicPr>
          <p:cNvPr id="5" name="Picture 4" descr="SoftUni AI logo">
            <a:extLst>
              <a:ext uri="{FF2B5EF4-FFF2-40B4-BE49-F238E27FC236}">
                <a16:creationId xmlns:a16="http://schemas.microsoft.com/office/drawing/2014/main" id="{C3C90FCC-0CF7-14B4-7BAA-E1F020D6F3A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593" y="164258"/>
            <a:ext cx="757574" cy="710987"/>
          </a:xfrm>
          <a:prstGeom prst="rect">
            <a:avLst/>
          </a:prstGeom>
        </p:spPr>
      </p:pic>
      <p:sp>
        <p:nvSpPr>
          <p:cNvPr id="3" name="Slide Number">
            <a:extLst>
              <a:ext uri="{FF2B5EF4-FFF2-40B4-BE49-F238E27FC236}">
                <a16:creationId xmlns:a16="http://schemas.microsoft.com/office/drawing/2014/main" id="{5B4E65F1-0C32-1B44-BF43-023F3A3D31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95693F7-DC3A-BF94-A771-71DA25FE949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63150" y="4725145"/>
            <a:ext cx="1474100" cy="178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55340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ummary Box Group">
            <a:extLst>
              <a:ext uri="{FF2B5EF4-FFF2-40B4-BE49-F238E27FC236}">
                <a16:creationId xmlns:a16="http://schemas.microsoft.com/office/drawing/2014/main" id="{27BCD82B-67A3-83D5-1297-CCAD6C079816}"/>
              </a:ext>
            </a:extLst>
          </p:cNvPr>
          <p:cNvGrpSpPr/>
          <p:nvPr userDrawn="1"/>
        </p:nvGrpSpPr>
        <p:grpSpPr>
          <a:xfrm>
            <a:off x="190453" y="1196753"/>
            <a:ext cx="11811741" cy="5491913"/>
            <a:chOff x="472011" y="1508786"/>
            <a:chExt cx="3799787" cy="4865561"/>
          </a:xfrm>
        </p:grpSpPr>
        <p:sp>
          <p:nvSpPr>
            <p:cNvPr id="4" name="Rounded Rectangle Blue">
              <a:extLst>
                <a:ext uri="{FF2B5EF4-FFF2-40B4-BE49-F238E27FC236}">
                  <a16:creationId xmlns:a16="http://schemas.microsoft.com/office/drawing/2014/main" id="{2305202B-13E5-F0C5-2A52-B6EEB7B35CDC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2673"/>
              </a:avLst>
            </a:prstGeom>
            <a:gradFill>
              <a:gsLst>
                <a:gs pos="0">
                  <a:srgbClr val="332D3B"/>
                </a:gs>
                <a:gs pos="51000">
                  <a:schemeClr val="tx2">
                    <a:lumMod val="90000"/>
                    <a:lumOff val="10000"/>
                  </a:schemeClr>
                </a:gs>
                <a:gs pos="95000">
                  <a:schemeClr val="accent6">
                    <a:lumMod val="50000"/>
                  </a:schemeClr>
                </a:gs>
              </a:gsLst>
              <a:lin ang="4200000" scaled="0"/>
            </a:gradFill>
            <a:ln w="6350"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5" name="Rounded Rectangle Left">
              <a:extLst>
                <a:ext uri="{FF2B5EF4-FFF2-40B4-BE49-F238E27FC236}">
                  <a16:creationId xmlns:a16="http://schemas.microsoft.com/office/drawing/2014/main" id="{CB930691-069C-07B4-05E7-62E03A0ECD6A}"/>
                </a:ext>
              </a:extLst>
            </p:cNvPr>
            <p:cNvSpPr/>
            <p:nvPr/>
          </p:nvSpPr>
          <p:spPr>
            <a:xfrm>
              <a:off x="518144" y="1636376"/>
              <a:ext cx="72410" cy="464495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20000"/>
                <a:lumOff val="80000"/>
                <a:alpha val="41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6" name="Half Frame Top Right">
              <a:extLst>
                <a:ext uri="{FF2B5EF4-FFF2-40B4-BE49-F238E27FC236}">
                  <a16:creationId xmlns:a16="http://schemas.microsoft.com/office/drawing/2014/main" id="{09D09B8C-1FB2-259B-D2E5-A9603816AA4B}"/>
                </a:ext>
              </a:extLst>
            </p:cNvPr>
            <p:cNvSpPr/>
            <p:nvPr userDrawn="1"/>
          </p:nvSpPr>
          <p:spPr>
            <a:xfrm rot="5400000">
              <a:off x="3771922" y="1864557"/>
              <a:ext cx="669775" cy="226119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lumMod val="20000"/>
                <a:lumOff val="80000"/>
                <a:alpha val="41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Slide Body Text">
            <a:extLst>
              <a:ext uri="{FF2B5EF4-FFF2-40B4-BE49-F238E27FC236}">
                <a16:creationId xmlns:a16="http://schemas.microsoft.com/office/drawing/2014/main" id="{6B113DB2-305A-63AD-459F-83BDCE2001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2353" y="1347939"/>
            <a:ext cx="11138419" cy="5159225"/>
          </a:xfrm>
        </p:spPr>
        <p:txBody>
          <a:bodyPr>
            <a:normAutofit/>
          </a:bodyPr>
          <a:lstStyle>
            <a:lvl1pPr>
              <a:lnSpc>
                <a:spcPct val="105000"/>
              </a:lnSpc>
              <a:spcAft>
                <a:spcPts val="600"/>
              </a:spcAft>
              <a:defRPr sz="3400" b="0" baseline="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05000"/>
              </a:lnSpc>
              <a:spcAft>
                <a:spcPts val="600"/>
              </a:spcAft>
              <a:defRPr sz="32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05000"/>
              </a:lnSpc>
              <a:spcAft>
                <a:spcPts val="600"/>
              </a:spcAft>
              <a:defRPr sz="3000" b="0" i="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05000"/>
              </a:lnSpc>
              <a:spcAft>
                <a:spcPts val="600"/>
              </a:spcAft>
              <a:defRPr sz="28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05000"/>
              </a:lnSpc>
              <a:spcAft>
                <a:spcPts val="600"/>
              </a:spcAft>
              <a:defRPr sz="2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E8DD2418-CA85-AFBA-4639-F450A0699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801823" y="6537480"/>
            <a:ext cx="367510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ound Single Corner of Rectangle 4">
            <a:extLst>
              <a:ext uri="{FF2B5EF4-FFF2-40B4-BE49-F238E27FC236}">
                <a16:creationId xmlns:a16="http://schemas.microsoft.com/office/drawing/2014/main" id="{FA8C4F3F-3EA7-207F-C76C-3788FE215E11}"/>
              </a:ext>
            </a:extLst>
          </p:cNvPr>
          <p:cNvSpPr/>
          <p:nvPr userDrawn="1"/>
        </p:nvSpPr>
        <p:spPr bwMode="auto">
          <a:xfrm flipV="1">
            <a:off x="1" y="0"/>
            <a:ext cx="12192000" cy="1052736"/>
          </a:xfrm>
          <a:prstGeom prst="round1Rect">
            <a:avLst>
              <a:gd name="adj" fmla="val 50000"/>
            </a:avLst>
          </a:prstGeom>
          <a:gradFill>
            <a:gsLst>
              <a:gs pos="0">
                <a:srgbClr val="3D0791">
                  <a:alpha val="30000"/>
                </a:srgbClr>
              </a:gs>
              <a:gs pos="63000">
                <a:schemeClr val="bg1">
                  <a:lumMod val="50000"/>
                </a:schemeClr>
              </a:gs>
              <a:gs pos="100000">
                <a:srgbClr val="312B39"/>
              </a:gs>
            </a:gsLst>
            <a:lin ang="8400000" scaled="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BG" sz="2800" b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Slide Title">
            <a:extLst>
              <a:ext uri="{FF2B5EF4-FFF2-40B4-BE49-F238E27FC236}">
                <a16:creationId xmlns:a16="http://schemas.microsoft.com/office/drawing/2014/main" id="{DB33B17C-FDFA-721D-0B67-FA7718659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803414" cy="882654"/>
          </a:xfrm>
          <a:prstGeom prst="rect">
            <a:avLst/>
          </a:prstGeom>
        </p:spPr>
        <p:txBody>
          <a:bodyPr>
            <a:normAutofit/>
          </a:bodyPr>
          <a:lstStyle>
            <a:lvl1pPr latinLnBrk="0">
              <a:defRPr sz="4400">
                <a:solidFill>
                  <a:schemeClr val="bg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13" name="Picture 12" descr="SoftUni AI logo">
            <a:extLst>
              <a:ext uri="{FF2B5EF4-FFF2-40B4-BE49-F238E27FC236}">
                <a16:creationId xmlns:a16="http://schemas.microsoft.com/office/drawing/2014/main" id="{73297ED7-6E5F-7538-8D44-6AE502CA89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593" y="164258"/>
            <a:ext cx="757574" cy="71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833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estions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gradFill>
            <a:gsLst>
              <a:gs pos="0">
                <a:srgbClr val="00BA96"/>
              </a:gs>
              <a:gs pos="100000">
                <a:srgbClr val="3D0791"/>
              </a:gs>
            </a:gsLst>
            <a:lin ang="54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385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altLang="ko-KR" sz="2398" b="0" i="0" u="none" strike="noStrike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+mn-lt"/>
              <a:ea typeface="맑은 고딕" panose="020B0503020000020004" pitchFamily="34" charset="-127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1" y="6454760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noProof="0" dirty="0">
                <a:solidFill>
                  <a:schemeClr val="bg2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© SoftUni AI – </a:t>
            </a:r>
            <a:r>
              <a:rPr lang="en-US" sz="1500" u="sng" noProof="0" dirty="0">
                <a:solidFill>
                  <a:schemeClr val="bg2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https://ai.softuni.bg</a:t>
            </a:r>
            <a:r>
              <a:rPr lang="en-US" sz="1500" noProof="0" dirty="0">
                <a:solidFill>
                  <a:schemeClr val="bg2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. Copyrighted document. Unauthorized copy, reproduction or use is not permitted.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EC70F1-0E2E-91E4-E6A2-65A787BA8629}"/>
              </a:ext>
            </a:extLst>
          </p:cNvPr>
          <p:cNvSpPr txBox="1"/>
          <p:nvPr userDrawn="1"/>
        </p:nvSpPr>
        <p:spPr>
          <a:xfrm>
            <a:off x="1507426" y="4154258"/>
            <a:ext cx="648241" cy="1362975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BG" sz="7200" b="1" i="0" dirty="0">
                <a:ln>
                  <a:solidFill>
                    <a:schemeClr val="bg2"/>
                  </a:solidFill>
                </a:ln>
                <a:solidFill>
                  <a:schemeClr val="tx1">
                    <a:lumMod val="60000"/>
                    <a:lumOff val="40000"/>
                  </a:schemeClr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+mn-lt"/>
                <a:ea typeface="Roboto Bk" panose="02000000000000000000" pitchFamily="2" charset="0"/>
                <a:cs typeface="Roboto Bk" panose="02000000000000000000" pitchFamily="2" charset="0"/>
              </a:rPr>
              <a:t>?</a:t>
            </a:r>
          </a:p>
        </p:txBody>
      </p:sp>
      <p:sp>
        <p:nvSpPr>
          <p:cNvPr id="37" name="Slide Title">
            <a:extLst>
              <a:ext uri="{FF2B5EF4-FFF2-40B4-BE49-F238E27FC236}">
                <a16:creationId xmlns:a16="http://schemas.microsoft.com/office/drawing/2014/main" id="{2E2609AE-35F4-489D-975E-CF0D197508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8781" y="2420888"/>
            <a:ext cx="9573011" cy="1573630"/>
          </a:xfrm>
          <a:prstGeom prst="rect">
            <a:avLst/>
          </a:prstGeom>
          <a:effectLst/>
          <a:sp3d/>
        </p:spPr>
        <p:txBody>
          <a:bodyPr vert="horz" wrap="none" lIns="0" tIns="0" rIns="0" bIns="0" rtlCol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contourClr>
                <a:srgbClr val="DDDDDD"/>
              </a:contourClr>
            </a:sp3d>
          </a:bodyPr>
          <a:lstStyle>
            <a:lvl1pPr algn="ctr">
              <a:defRPr kumimoji="0" lang="en-US" sz="12000" b="1" i="0" u="none" strike="noStrike" cap="none" spc="0" normalizeH="0" baseline="0" dirty="0">
                <a:ln>
                  <a:noFill/>
                </a:ln>
                <a:solidFill>
                  <a:schemeClr val="bg1">
                    <a:lumMod val="20000"/>
                    <a:lumOff val="80000"/>
                  </a:schemeClr>
                </a:solidFill>
                <a:effectLst/>
                <a:uLnTx/>
                <a:uFillTx/>
                <a:latin typeface="+mj-lt"/>
                <a:ea typeface="Roboto" panose="02000000000000000000" pitchFamily="2" charset="0"/>
                <a:cs typeface="Montserrat ExtraBold" pitchFamily="2" charset="77"/>
              </a:defRPr>
            </a:lvl1pPr>
          </a:lstStyle>
          <a:p>
            <a:pPr marL="0" marR="0" lvl="0" indent="0" defTabSz="913852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tabLst/>
            </a:pPr>
            <a:r>
              <a:rPr lang="en-US" dirty="0"/>
              <a:t>Questions?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B0542B-DFEE-AA07-0D4B-D995DA72A9E4}"/>
              </a:ext>
            </a:extLst>
          </p:cNvPr>
          <p:cNvSpPr txBox="1"/>
          <p:nvPr userDrawn="1"/>
        </p:nvSpPr>
        <p:spPr>
          <a:xfrm>
            <a:off x="549939" y="1942961"/>
            <a:ext cx="648241" cy="1264743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BG" sz="6600" b="1" i="0" dirty="0">
                <a:ln>
                  <a:solidFill>
                    <a:schemeClr val="bg2"/>
                  </a:solidFill>
                </a:ln>
                <a:noFill/>
                <a:effectLst>
                  <a:glow rad="127000">
                    <a:srgbClr val="3D0791"/>
                  </a:glow>
                </a:effectLst>
                <a:latin typeface="+mn-lt"/>
                <a:ea typeface="Roboto Bk" panose="02000000000000000000" pitchFamily="2" charset="0"/>
                <a:cs typeface="Roboto Bk" panose="02000000000000000000" pitchFamily="2" charset="0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6DBBF8-89AB-257F-2DCC-3B727460FF4D}"/>
              </a:ext>
            </a:extLst>
          </p:cNvPr>
          <p:cNvSpPr txBox="1"/>
          <p:nvPr userDrawn="1"/>
        </p:nvSpPr>
        <p:spPr>
          <a:xfrm>
            <a:off x="2155667" y="537622"/>
            <a:ext cx="648241" cy="1264743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BG" sz="6600" b="1" i="0" dirty="0">
                <a:ln>
                  <a:solidFill>
                    <a:schemeClr val="bg2"/>
                  </a:solidFill>
                </a:ln>
                <a:noFill/>
                <a:effectLst>
                  <a:glow rad="127000">
                    <a:srgbClr val="00BA96"/>
                  </a:glow>
                </a:effectLst>
                <a:latin typeface="+mn-lt"/>
                <a:ea typeface="Roboto Bk" panose="02000000000000000000" pitchFamily="2" charset="0"/>
                <a:cs typeface="Roboto Bk" panose="02000000000000000000" pitchFamily="2" charset="0"/>
              </a:rPr>
              <a:t>?</a:t>
            </a:r>
          </a:p>
        </p:txBody>
      </p:sp>
      <p:pic>
        <p:nvPicPr>
          <p:cNvPr id="2" name="Picture 1" descr="SoftUni AI logo">
            <a:extLst>
              <a:ext uri="{FF2B5EF4-FFF2-40B4-BE49-F238E27FC236}">
                <a16:creationId xmlns:a16="http://schemas.microsoft.com/office/drawing/2014/main" id="{33E14498-C719-5F30-A24E-70A215FE3DB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593" y="164258"/>
            <a:ext cx="757574" cy="710987"/>
          </a:xfrm>
          <a:prstGeom prst="rect">
            <a:avLst/>
          </a:prstGeom>
        </p:spPr>
      </p:pic>
      <p:sp>
        <p:nvSpPr>
          <p:cNvPr id="3" name="Slide Number">
            <a:extLst>
              <a:ext uri="{FF2B5EF4-FFF2-40B4-BE49-F238E27FC236}">
                <a16:creationId xmlns:a16="http://schemas.microsoft.com/office/drawing/2014/main" id="{E553D3D5-8A92-F806-8E9C-5C59AF54F6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accent2">
                    <a:lumMod val="50000"/>
                    <a:alpha val="40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769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urce Code Example">
  <p:cSld name="Source Code Example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>
            <a:spLocks noGrp="1"/>
          </p:cNvSpPr>
          <p:nvPr>
            <p:ph type="sldNum" idx="12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10"/>
          <p:cNvSpPr txBox="1">
            <a:spLocks noGrp="1"/>
          </p:cNvSpPr>
          <p:nvPr>
            <p:ph type="body" idx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rgbClr val="ACB4C3">
              <a:alpha val="14509"/>
            </a:srgbClr>
          </a:solidFill>
          <a:ln w="12700" cap="flat" cmpd="sng">
            <a:solidFill>
              <a:srgbClr val="112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108000" rIns="144000" bIns="108000" anchor="t" anchorCtr="0">
            <a:sp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8"/>
              <a:buNone/>
              <a:defRPr sz="2398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10"/>
          <p:cNvSpPr txBox="1">
            <a:spLocks noGrp="1"/>
          </p:cNvSpPr>
          <p:nvPr>
            <p:ph type="body" idx="2"/>
          </p:nvPr>
        </p:nvSpPr>
        <p:spPr>
          <a:xfrm>
            <a:off x="190501" y="1196126"/>
            <a:ext cx="11811097" cy="5561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36000" rIns="108000" bIns="36000" anchor="t" anchorCtr="0">
            <a:normAutofit/>
          </a:bodyPr>
          <a:lstStyle>
            <a:lvl1pPr marL="457200" lvl="0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398"/>
              <a:buNone/>
              <a:defRPr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198"/>
              <a:buNone/>
              <a:defRPr/>
            </a:lvl2pPr>
            <a:lvl3pPr marL="1371600" lvl="2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10"/>
          <p:cNvSpPr/>
          <p:nvPr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98"/>
              <a:buFont typeface="Calibri"/>
              <a:buNone/>
            </a:pPr>
            <a:endParaRPr sz="2398" b="0" i="0" u="none" strike="noStrike" cap="none">
              <a:solidFill>
                <a:srgbClr val="F7C8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0" descr="Software University 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67957" y="253936"/>
            <a:ext cx="1915704" cy="55923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0"/>
          <p:cNvSpPr txBox="1">
            <a:spLocks noGrp="1"/>
          </p:cNvSpPr>
          <p:nvPr>
            <p:ph type="title"/>
          </p:nvPr>
        </p:nvSpPr>
        <p:spPr>
          <a:xfrm>
            <a:off x="190406" y="100750"/>
            <a:ext cx="9715594" cy="882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36000" rIns="108000" bIns="360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98"/>
              <a:buFont typeface="Calibri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0495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Center Icon">
            <a:extLst>
              <a:ext uri="{FF2B5EF4-FFF2-40B4-BE49-F238E27FC236}">
                <a16:creationId xmlns:a16="http://schemas.microsoft.com/office/drawing/2014/main" id="{13B9A8FE-2718-4F2C-98D4-CBF86AD69D58}"/>
              </a:ext>
            </a:extLst>
          </p:cNvPr>
          <p:cNvSpPr>
            <a:spLocks noChangeAspect="1"/>
          </p:cNvSpPr>
          <p:nvPr userDrawn="1"/>
        </p:nvSpPr>
        <p:spPr>
          <a:xfrm>
            <a:off x="4319736" y="2852937"/>
            <a:ext cx="3552529" cy="3552529"/>
          </a:xfrm>
          <a:prstGeom prst="ellipse">
            <a:avLst/>
          </a:prstGeom>
          <a:gradFill>
            <a:gsLst>
              <a:gs pos="0">
                <a:srgbClr val="00BA96"/>
              </a:gs>
              <a:gs pos="100000">
                <a:srgbClr val="3D07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385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2398" b="0" i="0" u="none" strike="noStrike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</a:endParaRPr>
          </a:p>
        </p:txBody>
      </p:sp>
      <p:sp>
        <p:nvSpPr>
          <p:cNvPr id="8" name="Slide Subtitle">
            <a:extLst>
              <a:ext uri="{FF2B5EF4-FFF2-40B4-BE49-F238E27FC236}">
                <a16:creationId xmlns:a16="http://schemas.microsoft.com/office/drawing/2014/main" id="{588387B4-E99E-4145-9D1D-F17CA5190D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109" y="1801752"/>
            <a:ext cx="10961783" cy="73178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5000"/>
              </a:lnSpc>
              <a:buNone/>
              <a:defRPr sz="3600" b="0" i="0" baseline="0">
                <a:solidFill>
                  <a:schemeClr val="bg1">
                    <a:lumMod val="20000"/>
                    <a:lumOff val="80000"/>
                  </a:schemeClr>
                </a:solidFill>
                <a:latin typeface="Montserrat Medium" panose="00000600000000000000" pitchFamily="50" charset="-52"/>
                <a:ea typeface="Roboto" panose="02000000000000000000" pitchFamily="2" charset="0"/>
                <a:cs typeface="Montserrat Medium" panose="00000600000000000000" pitchFamily="50" charset="-52"/>
              </a:defRPr>
            </a:lvl1pPr>
          </a:lstStyle>
          <a:p>
            <a:pPr lvl="0"/>
            <a:r>
              <a:rPr lang="en-US" dirty="0"/>
              <a:t>Click to Edit Section Subtitle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8A28C56F-AE84-49D0-9AD1-1F0CEEABF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109" y="836713"/>
            <a:ext cx="10961783" cy="780383"/>
          </a:xfrm>
          <a:prstGeom prst="rect">
            <a:avLst/>
          </a:prstGeom>
        </p:spPr>
        <p:txBody>
          <a:bodyPr vert="horz" lIns="108000" tIns="36000" rIns="108000" bIns="36000" rtlCol="0" anchor="ctr">
            <a:noAutofit/>
          </a:bodyPr>
          <a:lstStyle>
            <a:lvl1pPr algn="ctr">
              <a:lnSpc>
                <a:spcPct val="105000"/>
              </a:lnSpc>
              <a:defRPr lang="en-US" sz="5396" b="1" i="0" baseline="0">
                <a:solidFill>
                  <a:srgbClr val="00BA96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Section Title</a:t>
            </a:r>
            <a:endParaRPr lang="en-US" altLang="ko-KR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013B7E9D-0360-E6FE-252B-10CE9E4DA3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  <a:alpha val="30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67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urce Code Example" userDrawn="1">
  <p:cSld name="Source Code Example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>
            <a:spLocks noGrp="1"/>
          </p:cNvSpPr>
          <p:nvPr>
            <p:ph type="sldNum" idx="12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5" name="Google Shape;145;p10"/>
          <p:cNvSpPr txBox="1">
            <a:spLocks noGrp="1"/>
          </p:cNvSpPr>
          <p:nvPr>
            <p:ph type="body" idx="2" hasCustomPrompt="1"/>
          </p:nvPr>
        </p:nvSpPr>
        <p:spPr>
          <a:xfrm>
            <a:off x="190502" y="1196126"/>
            <a:ext cx="11811097" cy="5561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36000" rIns="108000" bIns="36000" anchor="t" anchorCtr="0">
            <a:normAutofit/>
          </a:bodyPr>
          <a:lstStyle>
            <a:lvl1pPr marL="360363" marR="0" lvl="0" indent="-360363" algn="l" defTabSz="1218438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 kumimoji="0" lang="en-US" sz="3398" b="0" i="0" u="none" strike="noStrike" kern="1200" cap="none" spc="0" normalizeH="0" baseline="0" noProof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</a:defRPr>
            </a:lvl1pPr>
            <a:lvl2pPr marL="803275" marR="0" lvl="1" indent="-360363" algn="l" defTabSz="1218438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 kumimoji="0" lang="en-US" sz="3198" b="0" i="0" u="none" strike="noStrike" kern="1200" cap="none" spc="0" normalizeH="0" baseline="0" noProof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</a:defRPr>
            </a:lvl2pPr>
            <a:lvl3pPr marL="1255713" marR="0" lvl="2" indent="-360363" algn="l" defTabSz="1218438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 kumimoji="0" lang="en-US" sz="2998" b="0" i="0" u="none" strike="noStrike" kern="1200" cap="none" spc="0" normalizeH="0" baseline="0" noProof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</a:defRPr>
            </a:lvl3pPr>
            <a:lvl4pPr marL="1700213" marR="0" lvl="3" indent="-352425" algn="l" defTabSz="1218438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 kumimoji="0" lang="en-US" sz="2798" b="0" i="0" u="none" strike="noStrike" kern="1200" cap="none" spc="0" normalizeH="0" baseline="0" noProof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</a:defRPr>
            </a:lvl4pPr>
            <a:lvl5pPr marL="2058988" marR="0" lvl="4" indent="-266700" algn="l" defTabSz="1218438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 kumimoji="0" lang="en-US" sz="2598" b="0" i="0" u="none" strike="noStrike" kern="1200" cap="none" spc="0" normalizeH="0" baseline="0" noProof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</a:defRPr>
            </a:lvl5pPr>
            <a:lvl6pPr marL="2742377" lvl="5" indent="-34279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440" lvl="6" indent="-34279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503" lvl="7" indent="-34279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566" lvl="8" indent="-34279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marL="360363" marR="0" lvl="0" indent="-360363" algn="l" defTabSz="1218438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3398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Edit Master text styles</a:t>
            </a:r>
          </a:p>
          <a:p>
            <a:pPr marL="803275" marR="0" lvl="1" indent="-360363" algn="l" defTabSz="1218438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3198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Second level</a:t>
            </a:r>
          </a:p>
          <a:p>
            <a:pPr marL="1255713" marR="0" lvl="2" indent="-360363" algn="l" defTabSz="1218438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998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Third level</a:t>
            </a:r>
          </a:p>
          <a:p>
            <a:pPr marL="1700213" marR="0" lvl="3" indent="-352425" algn="l" defTabSz="1218438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798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Fourth level</a:t>
            </a:r>
          </a:p>
          <a:p>
            <a:pPr marL="2058988" marR="0" lvl="4" indent="-266700" algn="l" defTabSz="1218438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598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Fifth level</a:t>
            </a:r>
            <a:endParaRPr lang="en-US" dirty="0"/>
          </a:p>
          <a:p>
            <a:endParaRPr lang="bg-BG" dirty="0"/>
          </a:p>
        </p:txBody>
      </p:sp>
      <p:sp>
        <p:nvSpPr>
          <p:cNvPr id="146" name="Google Shape;146;p10"/>
          <p:cNvSpPr/>
          <p:nvPr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98"/>
              <a:buFont typeface="Calibri"/>
              <a:buNone/>
            </a:pPr>
            <a:endParaRPr sz="2397" b="0" i="0" u="none" strike="noStrike" cap="none" dirty="0">
              <a:solidFill>
                <a:srgbClr val="F7C8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0" descr="Software University 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67957" y="253938"/>
            <a:ext cx="1915704" cy="55923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0"/>
          <p:cNvSpPr txBox="1"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36000" rIns="108000" bIns="360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98"/>
              <a:buFont typeface="Calibri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Slide Title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66764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of Rectangle 5">
            <a:extLst>
              <a:ext uri="{FF2B5EF4-FFF2-40B4-BE49-F238E27FC236}">
                <a16:creationId xmlns:a16="http://schemas.microsoft.com/office/drawing/2014/main" id="{7E953556-B573-B731-F03E-C067894BEC60}"/>
              </a:ext>
            </a:extLst>
          </p:cNvPr>
          <p:cNvSpPr/>
          <p:nvPr userDrawn="1"/>
        </p:nvSpPr>
        <p:spPr bwMode="auto">
          <a:xfrm flipV="1">
            <a:off x="1" y="0"/>
            <a:ext cx="12191999" cy="1052736"/>
          </a:xfrm>
          <a:prstGeom prst="round1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G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0406" y="1265319"/>
            <a:ext cx="11804830" cy="5455622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011119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2C533D70-FB0A-9867-7306-5CD364F6C1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838" y="260649"/>
            <a:ext cx="1599329" cy="53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854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of Rectangle 5">
            <a:extLst>
              <a:ext uri="{FF2B5EF4-FFF2-40B4-BE49-F238E27FC236}">
                <a16:creationId xmlns:a16="http://schemas.microsoft.com/office/drawing/2014/main" id="{7E953556-B573-B731-F03E-C067894BEC60}"/>
              </a:ext>
            </a:extLst>
          </p:cNvPr>
          <p:cNvSpPr/>
          <p:nvPr userDrawn="1"/>
        </p:nvSpPr>
        <p:spPr bwMode="auto">
          <a:xfrm flipV="1">
            <a:off x="1" y="0"/>
            <a:ext cx="12191999" cy="1052736"/>
          </a:xfrm>
          <a:prstGeom prst="round1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G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0406" y="1265319"/>
            <a:ext cx="11804830" cy="5455622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011119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8808D75B-9E10-D2AC-122F-B8079EB21B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4186" y="260648"/>
            <a:ext cx="1647410" cy="52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967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0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rgbClr val="18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13" y="1138844"/>
            <a:ext cx="11804814" cy="553051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2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GB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9766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92" r:id="rId2"/>
    <p:sldLayoutId id="2147483676" r:id="rId3"/>
    <p:sldLayoutId id="2147483693" r:id="rId4"/>
    <p:sldLayoutId id="2147483694" r:id="rId5"/>
    <p:sldLayoutId id="2147483695" r:id="rId6"/>
    <p:sldLayoutId id="2147483703" r:id="rId7"/>
    <p:sldLayoutId id="2147483704" r:id="rId8"/>
  </p:sldLayoutIdLst>
  <p:hf hdr="0" ftr="0" dt="0"/>
  <p:txStyles>
    <p:titleStyle>
      <a:lvl1pPr algn="l" defTabSz="1218438" rtl="0" eaLnBrk="1" hangingPunct="1">
        <a:spcBef>
          <a:spcPct val="0"/>
        </a:spcBef>
        <a:buNone/>
        <a:defRPr sz="4400" b="1" kern="1200">
          <a:solidFill>
            <a:schemeClr val="bg1">
              <a:lumMod val="20000"/>
              <a:lumOff val="80000"/>
            </a:schemeClr>
          </a:solidFill>
          <a:latin typeface="+mj-lt"/>
          <a:ea typeface="Roboto" panose="02000000000000000000" pitchFamily="2" charset="0"/>
          <a:cs typeface="Montserrat Bold"/>
        </a:defRPr>
      </a:lvl1pPr>
    </p:titleStyle>
    <p:bodyStyle>
      <a:lvl1pPr marL="361950" indent="-361950" algn="l" defTabSz="1218438" rtl="0" eaLnBrk="1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bg1"/>
        </a:buClr>
        <a:buFont typeface="Arial" panose="020B0604020202020204" pitchFamily="34" charset="0"/>
        <a:buChar char="•"/>
        <a:defRPr sz="3400" b="0" i="0" kern="1200">
          <a:solidFill>
            <a:schemeClr val="bg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1pPr>
      <a:lvl2pPr marL="809625" indent="-361950" algn="l" defTabSz="1218438" rtl="0" eaLnBrk="1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bg1"/>
        </a:buClr>
        <a:buFont typeface="Arial" panose="020B0604020202020204" pitchFamily="34" charset="0"/>
        <a:buChar char="•"/>
        <a:defRPr sz="3200" b="0" i="0" kern="1200">
          <a:solidFill>
            <a:schemeClr val="bg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2pPr>
      <a:lvl3pPr marL="1257300" indent="-361950" algn="l" defTabSz="1218438" rtl="0" eaLnBrk="1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bg1"/>
        </a:buClr>
        <a:buFont typeface="Arial" panose="020B0604020202020204" pitchFamily="34" charset="0"/>
        <a:buChar char="•"/>
        <a:defRPr sz="3000" b="0" i="0" kern="1200">
          <a:solidFill>
            <a:schemeClr val="bg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3pPr>
      <a:lvl4pPr marL="1704975" indent="-361950" algn="l" defTabSz="1218438" rtl="0" eaLnBrk="1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bg1"/>
        </a:buClr>
        <a:buFont typeface="Arial" panose="020B0604020202020204" pitchFamily="34" charset="0"/>
        <a:buChar char="•"/>
        <a:defRPr sz="2800" b="0" i="0" kern="1200">
          <a:solidFill>
            <a:schemeClr val="bg2"/>
          </a:solidFill>
          <a:latin typeface="+mn-lt"/>
          <a:ea typeface="+mn-ea"/>
          <a:cs typeface="+mn-cs"/>
        </a:defRPr>
      </a:lvl4pPr>
      <a:lvl5pPr marL="2152650" indent="-361950" algn="l" defTabSz="1218438" rtl="0" eaLnBrk="1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bg1"/>
        </a:buClr>
        <a:buFont typeface="Arial" panose="020B0604020202020204" pitchFamily="34" charset="0"/>
        <a:buChar char="•"/>
        <a:defRPr sz="2600" b="0" i="0" kern="1200">
          <a:solidFill>
            <a:schemeClr val="bg2"/>
          </a:solidFill>
          <a:latin typeface="+mn-lt"/>
          <a:ea typeface="+mn-ea"/>
          <a:cs typeface="+mn-cs"/>
        </a:defRPr>
      </a:lvl5pPr>
      <a:lvl6pPr marL="3350704" indent="-304610" algn="l" defTabSz="1218438" rtl="0" ea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 userDrawn="1">
          <p15:clr>
            <a:srgbClr val="F26B43"/>
          </p15:clr>
        </p15:guide>
        <p15:guide id="4" pos="184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 descr="SoftUni Background"/>
          <p:cNvPicPr preferRelativeResize="0"/>
          <p:nvPr/>
        </p:nvPicPr>
        <p:blipFill rotWithShape="1">
          <a:blip r:embed="rId3">
            <a:alphaModFix/>
          </a:blip>
          <a:srcRect b="1671"/>
          <a:stretch/>
        </p:blipFill>
        <p:spPr>
          <a:xfrm>
            <a:off x="1" y="3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36000" rIns="108000" bIns="36000" anchor="t" anchorCtr="0">
            <a:normAutofit/>
          </a:bodyPr>
          <a:lstStyle>
            <a:lvl1pPr marL="457200" marR="0" lvl="0" indent="-444372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398"/>
              <a:buFont typeface="Noto Sans Symbols"/>
              <a:buChar char="▪"/>
              <a:defRPr sz="33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31672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198"/>
              <a:buFont typeface="Noto Sans Symbols"/>
              <a:buChar char="▪"/>
              <a:defRPr sz="31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18972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98"/>
              <a:buFont typeface="Noto Sans Symbols"/>
              <a:buChar char="▪"/>
              <a:defRPr sz="29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06272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98"/>
              <a:buFont typeface="Noto Sans Symbols"/>
              <a:buChar char="▪"/>
              <a:defRPr sz="27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93573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Noto Sans Symbols"/>
              <a:buChar char="▪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9782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65"/>
              <a:buFont typeface="Arial"/>
              <a:buChar char="•"/>
              <a:defRPr sz="26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97827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5"/>
              <a:buFont typeface="Arial"/>
              <a:buChar char="•"/>
              <a:defRPr sz="26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97827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5"/>
              <a:buFont typeface="Arial"/>
              <a:buChar char="•"/>
              <a:defRPr sz="26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97827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5"/>
              <a:buFont typeface="Arial"/>
              <a:buChar char="•"/>
              <a:defRPr sz="26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190406" y="100750"/>
            <a:ext cx="11804829" cy="882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36000" rIns="108000" bIns="360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98"/>
              <a:buFont typeface="Calibri"/>
              <a:buNone/>
              <a:defRPr sz="3998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597916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13" y="1138844"/>
            <a:ext cx="11804814" cy="553051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2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GB" dirty="0"/>
              <a:t>Click to Edit Master Title Style</a:t>
            </a:r>
            <a:endParaRPr dirty="0"/>
          </a:p>
        </p:txBody>
      </p:sp>
      <p:pic>
        <p:nvPicPr>
          <p:cNvPr id="4" name="Picture 3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477391F3-4BD6-7310-3061-C4F0669F918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3371" y="5140036"/>
            <a:ext cx="1738629" cy="171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228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hf hdr="0" ftr="0" dt="0"/>
  <p:txStyles>
    <p:titleStyle>
      <a:lvl1pPr algn="l" defTabSz="1218438" rtl="0" eaLnBrk="1" hangingPunct="1">
        <a:spcBef>
          <a:spcPct val="0"/>
        </a:spcBef>
        <a:buNone/>
        <a:defRPr sz="3600" b="1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361950" indent="-361950" algn="l" defTabSz="1218438" rtl="0" eaLnBrk="1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30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809625" indent="-361950" algn="l" defTabSz="1218438" rtl="0" eaLnBrk="1" hangingPunct="1">
        <a:lnSpc>
          <a:spcPct val="105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257300" indent="-361950" algn="l" defTabSz="1218438" rtl="0" eaLnBrk="1" hangingPunct="1">
        <a:lnSpc>
          <a:spcPct val="105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704975" indent="-361950" algn="l" defTabSz="1218438" rtl="0" eaLnBrk="1" hangingPunct="1">
        <a:lnSpc>
          <a:spcPct val="105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2152650" indent="-361950" algn="l" defTabSz="1218438" rtl="0" eaLnBrk="1" hangingPunct="1">
        <a:lnSpc>
          <a:spcPct val="105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3350704" indent="-304610" algn="l" defTabSz="1218438" rtl="0" ea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184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13" y="1138844"/>
            <a:ext cx="11804814" cy="553051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2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GB" dirty="0"/>
              <a:t>Click to Edit Master Title Style</a:t>
            </a:r>
            <a:endParaRPr dirty="0"/>
          </a:p>
        </p:txBody>
      </p:sp>
      <p:pic>
        <p:nvPicPr>
          <p:cNvPr id="4" name="Picture 3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477391F3-4BD6-7310-3061-C4F0669F918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3371" y="5140036"/>
            <a:ext cx="1738629" cy="171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894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hf hdr="0" ftr="0" dt="0"/>
  <p:txStyles>
    <p:titleStyle>
      <a:lvl1pPr algn="l" defTabSz="1218438" rtl="0" eaLnBrk="1" hangingPunct="1">
        <a:spcBef>
          <a:spcPct val="0"/>
        </a:spcBef>
        <a:buNone/>
        <a:defRPr sz="3600" b="1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361950" indent="-361950" algn="l" defTabSz="1218438" rtl="0" eaLnBrk="1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30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809625" indent="-361950" algn="l" defTabSz="1218438" rtl="0" eaLnBrk="1" hangingPunct="1">
        <a:lnSpc>
          <a:spcPct val="105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257300" indent="-361950" algn="l" defTabSz="1218438" rtl="0" eaLnBrk="1" hangingPunct="1">
        <a:lnSpc>
          <a:spcPct val="105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704975" indent="-361950" algn="l" defTabSz="1218438" rtl="0" eaLnBrk="1" hangingPunct="1">
        <a:lnSpc>
          <a:spcPct val="105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2152650" indent="-361950" algn="l" defTabSz="1218438" rtl="0" eaLnBrk="1" hangingPunct="1">
        <a:lnSpc>
          <a:spcPct val="105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3350704" indent="-304610" algn="l" defTabSz="1218438" rtl="0" ea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neon.com/pricing" TargetMode="External"/><Relationship Id="rId2" Type="http://schemas.openxmlformats.org/officeDocument/2006/relationships/hyperlink" Target="https://neon.com/demos/regional-latency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neon.com/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orm.drizzle.team/" TargetMode="Externa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akashbhandari.com.np/posts/how-to-avoid-the-n+1-query-problem-with-eager-loading/" TargetMode="Externa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9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hyperlink" Target="https://cloudflare.com/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0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7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hyperlink" Target="https://jestjs.io/" TargetMode="Externa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wright.dev/" TargetMode="External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hyperlink" Target="https://netlify.com/" TargetMode="Externa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areers.postbank.bg/" TargetMode="External"/><Relationship Id="rId2" Type="http://schemas.openxmlformats.org/officeDocument/2006/relationships/hyperlink" Target="https://www.postbank.bg/product-information-PBPG-retailers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7.png"/><Relationship Id="rId7" Type="http://schemas.openxmlformats.org/officeDocument/2006/relationships/image" Target="../media/image89.png"/><Relationship Id="rId2" Type="http://schemas.openxmlformats.org/officeDocument/2006/relationships/hyperlink" Target="https://createx.bg/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draftkings.com/" TargetMode="External"/><Relationship Id="rId11" Type="http://schemas.openxmlformats.org/officeDocument/2006/relationships/image" Target="../media/image93.png"/><Relationship Id="rId5" Type="http://schemas.openxmlformats.org/officeDocument/2006/relationships/image" Target="../media/image88.png"/><Relationship Id="rId10" Type="http://schemas.openxmlformats.org/officeDocument/2006/relationships/image" Target="../media/image92.png"/><Relationship Id="rId4" Type="http://schemas.openxmlformats.org/officeDocument/2006/relationships/hyperlink" Target="https://indeavr.com/careers/" TargetMode="External"/><Relationship Id="rId9" Type="http://schemas.openxmlformats.org/officeDocument/2006/relationships/image" Target="../media/image91.sv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8.png"/><Relationship Id="rId5" Type="http://schemas.openxmlformats.org/officeDocument/2006/relationships/image" Target="../media/image97.jpg"/><Relationship Id="rId4" Type="http://schemas.openxmlformats.org/officeDocument/2006/relationships/image" Target="../media/image96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hyperlink" Target="https://www.btwork.eu/" TargetMode="Externa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4.png"/><Relationship Id="rId4" Type="http://schemas.openxmlformats.org/officeDocument/2006/relationships/hyperlink" Target="https://ai.softuni.bg/" TargetMode="External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jpeg"/><Relationship Id="rId3" Type="http://schemas.openxmlformats.org/officeDocument/2006/relationships/hyperlink" Target="https://ai.softuni.bg/" TargetMode="External"/><Relationship Id="rId7" Type="http://schemas.openxmlformats.org/officeDocument/2006/relationships/image" Target="../media/image10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hyperlink" Target="https://www.youtube.com/@SoftUniAI" TargetMode="External"/><Relationship Id="rId4" Type="http://schemas.openxmlformats.org/officeDocument/2006/relationships/hyperlink" Target="https://www.facebook.com/SoftUniA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F3AA72F-8A25-51A1-FD6C-C54D19B8C46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43829" y="4333487"/>
            <a:ext cx="5024781" cy="513199"/>
          </a:xfrm>
        </p:spPr>
        <p:txBody>
          <a:bodyPr/>
          <a:lstStyle/>
          <a:p>
            <a:r>
              <a:rPr lang="en-US" dirty="0"/>
              <a:t>Co-founder @ SoftUni</a:t>
            </a:r>
            <a:endParaRPr lang="en-US" noProof="1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43059" y="3613221"/>
            <a:ext cx="5025550" cy="699404"/>
          </a:xfrm>
        </p:spPr>
        <p:txBody>
          <a:bodyPr wrap="square" anchor="t" anchorCtr="0">
            <a:spAutoFit/>
          </a:bodyPr>
          <a:lstStyle/>
          <a:p>
            <a:r>
              <a:rPr lang="en-US" dirty="0"/>
              <a:t>Svetlin Nakov, PhD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376" y="1365472"/>
            <a:ext cx="11233248" cy="1326356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Neon DB, Drizzle ORM, Next.js APIs with Database</a:t>
            </a:r>
            <a:br>
              <a:rPr lang="en-US" dirty="0"/>
            </a:br>
            <a:r>
              <a:rPr lang="en-US" dirty="0"/>
              <a:t>and Auth, Automated Testing, Serverless Deployment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368" y="404664"/>
            <a:ext cx="11248256" cy="957038"/>
          </a:xfrm>
        </p:spPr>
        <p:txBody>
          <a:bodyPr>
            <a:noAutofit/>
          </a:bodyPr>
          <a:lstStyle/>
          <a:p>
            <a:r>
              <a:rPr lang="en-US" sz="4800" dirty="0"/>
              <a:t>Server-Side Development with AI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F9ECD094-858F-DED4-519D-896F8F23258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8" b="7738"/>
          <a:stretch>
            <a:fillRect/>
          </a:stretch>
        </p:blipFill>
        <p:spPr>
          <a:prstGeom prst="rect">
            <a:avLst/>
          </a:prstGeom>
          <a:solidFill>
            <a:srgbClr val="FFFFFF">
              <a:lumMod val="95000"/>
            </a:srgbClr>
          </a:solidFill>
          <a:ln w="6350">
            <a:solidFill>
              <a:srgbClr val="234465">
                <a:lumMod val="40000"/>
                <a:lumOff val="60000"/>
              </a:srgbClr>
            </a:solidFill>
          </a:ln>
        </p:spPr>
      </p:pic>
    </p:spTree>
    <p:extLst>
      <p:ext uri="{BB962C8B-B14F-4D97-AF65-F5344CB8AC3E}">
        <p14:creationId xmlns:p14="http://schemas.microsoft.com/office/powerpoint/2010/main" val="2259589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"/>
          <p:cNvSpPr txBox="1">
            <a:spLocks noGrp="1"/>
          </p:cNvSpPr>
          <p:nvPr>
            <p:ph type="body" sz="quarter" idx="13"/>
          </p:nvPr>
        </p:nvSpPr>
        <p:spPr>
          <a:xfrm>
            <a:off x="198439" y="1148112"/>
            <a:ext cx="11801475" cy="5589682"/>
          </a:xfrm>
          <a:noFill/>
          <a:ln>
            <a:noFill/>
          </a:ln>
        </p:spPr>
        <p:txBody>
          <a:bodyPr spcFirstLastPara="1" vert="horz" wrap="square" lIns="108000" tIns="36000" rIns="108000" bIns="36000" rtlCol="0" anchor="t" anchorCtr="0">
            <a:noAutofit/>
          </a:bodyPr>
          <a:lstStyle/>
          <a:p>
            <a:pPr marL="540000" lvl="1" indent="-540000">
              <a:lnSpc>
                <a:spcPct val="100000"/>
              </a:lnSpc>
              <a:buFont typeface="+mj-lt"/>
              <a:buAutoNum type="arabicPeriod"/>
            </a:pPr>
            <a:r>
              <a:rPr lang="en-US" sz="2500" b="1" dirty="0">
                <a:solidFill>
                  <a:srgbClr val="FFD999"/>
                </a:solidFill>
              </a:rPr>
              <a:t>Neon</a:t>
            </a:r>
            <a:r>
              <a:rPr lang="en-US" sz="2500" dirty="0">
                <a:solidFill>
                  <a:srgbClr val="FFFFFF"/>
                </a:solidFill>
              </a:rPr>
              <a:t>: Serverless PostgreSQL in the cloud + Neon MCP</a:t>
            </a:r>
          </a:p>
          <a:p>
            <a:pPr marL="540000" lvl="1" indent="-540000">
              <a:lnSpc>
                <a:spcPct val="100000"/>
              </a:lnSpc>
              <a:buFont typeface="+mj-lt"/>
              <a:buAutoNum type="arabicPeriod"/>
            </a:pPr>
            <a:r>
              <a:rPr lang="en-US" sz="2500" b="1" dirty="0">
                <a:solidFill>
                  <a:srgbClr val="FFD999"/>
                </a:solidFill>
              </a:rPr>
              <a:t>ORM Frameworks and Drizzle</a:t>
            </a:r>
            <a:r>
              <a:rPr lang="en-US" sz="2500" dirty="0">
                <a:solidFill>
                  <a:srgbClr val="FFFFFF"/>
                </a:solidFill>
              </a:rPr>
              <a:t>: schema, queries, migrations, type-safety</a:t>
            </a:r>
          </a:p>
          <a:p>
            <a:pPr marL="540000" lvl="1" indent="-540000">
              <a:lnSpc>
                <a:spcPct val="100000"/>
              </a:lnSpc>
              <a:buFont typeface="+mj-lt"/>
              <a:buAutoNum type="arabicPeriod"/>
            </a:pPr>
            <a:r>
              <a:rPr lang="en-US" sz="2500" b="1" dirty="0">
                <a:solidFill>
                  <a:schemeClr val="accent4"/>
                </a:solidFill>
              </a:rPr>
              <a:t>Exercise: Countries and Towns</a:t>
            </a:r>
            <a:r>
              <a:rPr lang="en-US" sz="2500" dirty="0">
                <a:solidFill>
                  <a:srgbClr val="FFFFFF"/>
                </a:solidFill>
              </a:rPr>
              <a:t> console app with Neon + Drizzle</a:t>
            </a:r>
          </a:p>
          <a:p>
            <a:pPr marL="540000" lvl="1" indent="-540000">
              <a:lnSpc>
                <a:spcPct val="100000"/>
              </a:lnSpc>
              <a:buFont typeface="+mj-lt"/>
              <a:buAutoNum type="arabicPeriod"/>
            </a:pPr>
            <a:r>
              <a:rPr lang="en-US" sz="2500" b="1" dirty="0">
                <a:solidFill>
                  <a:srgbClr val="FFD999"/>
                </a:solidFill>
              </a:rPr>
              <a:t>Back-End API</a:t>
            </a:r>
            <a:r>
              <a:rPr lang="en-US" sz="2500" dirty="0">
                <a:solidFill>
                  <a:srgbClr val="FFFFFF"/>
                </a:solidFill>
              </a:rPr>
              <a:t> </a:t>
            </a:r>
            <a:r>
              <a:rPr lang="en-US" sz="2500" b="1" dirty="0">
                <a:solidFill>
                  <a:srgbClr val="FFD999"/>
                </a:solidFill>
              </a:rPr>
              <a:t>with Next.js + Neon</a:t>
            </a:r>
            <a:r>
              <a:rPr lang="en-US" sz="2500" dirty="0">
                <a:solidFill>
                  <a:srgbClr val="FFFFFF"/>
                </a:solidFill>
              </a:rPr>
              <a:t>: API route handlers, Neon DB, JWT auth</a:t>
            </a:r>
          </a:p>
          <a:p>
            <a:pPr marL="540000" lvl="1" indent="-540000">
              <a:lnSpc>
                <a:spcPct val="100000"/>
              </a:lnSpc>
              <a:buFont typeface="+mj-lt"/>
              <a:buAutoNum type="arabicPeriod"/>
            </a:pPr>
            <a:r>
              <a:rPr lang="en-US" sz="2500" b="1" dirty="0">
                <a:solidFill>
                  <a:schemeClr val="accent4"/>
                </a:solidFill>
              </a:rPr>
              <a:t>Exercise: RESTful Blog API</a:t>
            </a:r>
            <a:r>
              <a:rPr lang="en-US" sz="2500" dirty="0">
                <a:solidFill>
                  <a:srgbClr val="FFFFFF"/>
                </a:solidFill>
              </a:rPr>
              <a:t> with Next.js + Drizzle + Neon</a:t>
            </a:r>
          </a:p>
          <a:p>
            <a:pPr marL="540000" lvl="1" indent="-540000">
              <a:lnSpc>
                <a:spcPct val="100000"/>
              </a:lnSpc>
              <a:buFont typeface="+mj-lt"/>
              <a:buAutoNum type="arabicPeriod"/>
            </a:pPr>
            <a:r>
              <a:rPr lang="en-US" sz="2500" b="1" dirty="0">
                <a:solidFill>
                  <a:srgbClr val="FFD999"/>
                </a:solidFill>
              </a:rPr>
              <a:t>Blog System Client App</a:t>
            </a:r>
            <a:r>
              <a:rPr lang="en-US" sz="2500" dirty="0">
                <a:solidFill>
                  <a:srgbClr val="FFFFFF"/>
                </a:solidFill>
              </a:rPr>
              <a:t>: React front-end in the Next.js app</a:t>
            </a:r>
          </a:p>
          <a:p>
            <a:pPr marL="540000" lvl="1" indent="-540000">
              <a:lnSpc>
                <a:spcPct val="100000"/>
              </a:lnSpc>
              <a:buFont typeface="+mj-lt"/>
              <a:buAutoNum type="arabicPeriod"/>
            </a:pPr>
            <a:r>
              <a:rPr lang="en-US" sz="2500" b="1" dirty="0">
                <a:solidFill>
                  <a:srgbClr val="FFD999"/>
                </a:solidFill>
              </a:rPr>
              <a:t>File Uploads</a:t>
            </a:r>
            <a:r>
              <a:rPr lang="en-US" sz="2500" dirty="0">
                <a:solidFill>
                  <a:srgbClr val="FFFFFF"/>
                </a:solidFill>
              </a:rPr>
              <a:t> with </a:t>
            </a:r>
            <a:r>
              <a:rPr lang="en-US" sz="2500" b="1" dirty="0">
                <a:solidFill>
                  <a:schemeClr val="accent4"/>
                </a:solidFill>
              </a:rPr>
              <a:t>Cloudflare R2 </a:t>
            </a:r>
            <a:r>
              <a:rPr lang="en-US" sz="2500" dirty="0">
                <a:solidFill>
                  <a:srgbClr val="FFFFFF"/>
                </a:solidFill>
              </a:rPr>
              <a:t>(an S3-compatible object storage)</a:t>
            </a:r>
          </a:p>
          <a:p>
            <a:pPr marL="540000" lvl="1" indent="-540000">
              <a:lnSpc>
                <a:spcPct val="100000"/>
              </a:lnSpc>
              <a:buFont typeface="+mj-lt"/>
              <a:buAutoNum type="arabicPeriod"/>
            </a:pPr>
            <a:r>
              <a:rPr lang="en-US" sz="2500" b="1" dirty="0">
                <a:solidFill>
                  <a:srgbClr val="FFD999"/>
                </a:solidFill>
              </a:rPr>
              <a:t>Automated Testing</a:t>
            </a:r>
            <a:r>
              <a:rPr lang="en-US" sz="2500" dirty="0">
                <a:solidFill>
                  <a:srgbClr val="FFFFFF"/>
                </a:solidFill>
              </a:rPr>
              <a:t>: Jest unit + integration tests, Playwright E2E</a:t>
            </a:r>
          </a:p>
          <a:p>
            <a:pPr marL="540000" lvl="1" indent="-540000">
              <a:lnSpc>
                <a:spcPct val="100000"/>
              </a:lnSpc>
              <a:buFont typeface="+mj-lt"/>
              <a:buAutoNum type="arabicPeriod"/>
            </a:pPr>
            <a:r>
              <a:rPr lang="en-US" sz="2500" b="1" dirty="0">
                <a:solidFill>
                  <a:srgbClr val="FFD999"/>
                </a:solidFill>
              </a:rPr>
              <a:t>Serverless vs. Server-based Deployment</a:t>
            </a:r>
            <a:r>
              <a:rPr lang="en-US" sz="2500" dirty="0">
                <a:solidFill>
                  <a:srgbClr val="FFFFFF"/>
                </a:solidFill>
              </a:rPr>
              <a:t>: providers and trade-offs</a:t>
            </a:r>
          </a:p>
          <a:p>
            <a:pPr marL="540000" lvl="1" indent="-540000">
              <a:lnSpc>
                <a:spcPct val="100000"/>
              </a:lnSpc>
              <a:buFont typeface="+mj-lt"/>
              <a:buAutoNum type="arabicPeriod"/>
            </a:pPr>
            <a:r>
              <a:rPr lang="en-US" sz="2500" b="1" dirty="0">
                <a:solidFill>
                  <a:srgbClr val="FFD999"/>
                </a:solidFill>
              </a:rPr>
              <a:t>Deploying Next.js App to Netlify</a:t>
            </a:r>
            <a:r>
              <a:rPr lang="en-US" sz="2500" dirty="0">
                <a:solidFill>
                  <a:srgbClr val="FFFFFF"/>
                </a:solidFill>
              </a:rPr>
              <a:t>: deploy from GitHub, env variables</a:t>
            </a:r>
          </a:p>
        </p:txBody>
      </p:sp>
      <p:sp>
        <p:nvSpPr>
          <p:cNvPr id="486" name="Google Shape;486;p4"/>
          <p:cNvSpPr txBox="1">
            <a:spLocks noGrp="1"/>
          </p:cNvSpPr>
          <p:nvPr>
            <p:ph type="title"/>
          </p:nvPr>
        </p:nvSpPr>
        <p:spPr>
          <a:xfrm>
            <a:off x="191943" y="100750"/>
            <a:ext cx="10768224" cy="882654"/>
          </a:xfrm>
          <a:noFill/>
          <a:ln>
            <a:noFill/>
          </a:ln>
        </p:spPr>
        <p:txBody>
          <a:bodyPr spcFirstLastPara="1" vert="horz" wrap="square" lIns="108000" tIns="36000" rIns="108000" bIns="36000" rtlCol="0" anchor="ctr" anchorCtr="0">
            <a:normAutofit/>
          </a:bodyPr>
          <a:lstStyle/>
          <a:p>
            <a:pPr lvl="0"/>
            <a:r>
              <a:rPr lang="en-US" dirty="0"/>
              <a:t>Agenda</a:t>
            </a:r>
          </a:p>
        </p:txBody>
      </p:sp>
      <p:sp>
        <p:nvSpPr>
          <p:cNvPr id="487" name="Google Shape;487;p4"/>
          <p:cNvSpPr txBox="1">
            <a:spLocks noGrp="1"/>
          </p:cNvSpPr>
          <p:nvPr>
            <p:ph type="sldNum" sz="quarter" idx="5"/>
          </p:nvPr>
        </p:nvSpPr>
        <p:spPr>
          <a:xfrm>
            <a:off x="11754618" y="6507000"/>
            <a:ext cx="367414" cy="297000"/>
          </a:xfr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pPr lvl="0"/>
            <a:fld id="{00000000-1234-1234-1234-123412341234}" type="slidenum">
              <a:rPr lang="bg-BG">
                <a:sym typeface="Roboto"/>
              </a:rPr>
              <a:pPr lvl="0"/>
              <a:t>2</a:t>
            </a:fld>
            <a:endParaRPr lang="bg-BG" dirty="0"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0BF6A0AF-A50D-7140-70CD-CFB632E95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">
            <a:extLst>
              <a:ext uri="{FF2B5EF4-FFF2-40B4-BE49-F238E27FC236}">
                <a16:creationId xmlns:a16="http://schemas.microsoft.com/office/drawing/2014/main" id="{B5833D15-27F8-D3B8-4969-66DA8AB986E4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>
          <a:xfrm>
            <a:off x="616537" y="1622476"/>
            <a:ext cx="10958928" cy="731785"/>
          </a:xfrm>
          <a:noFill/>
          <a:ln>
            <a:noFill/>
          </a:ln>
        </p:spPr>
        <p:txBody>
          <a:bodyPr spcFirstLastPara="1" vert="horz" wrap="square" lIns="108000" tIns="36000" rIns="108000" bIns="36000" rtlCol="0" anchor="ctr" anchorCtr="0">
            <a:noAutofit/>
          </a:bodyPr>
          <a:lstStyle/>
          <a:p>
            <a:pPr lvl="0"/>
            <a:r>
              <a:rPr lang="en-US" dirty="0"/>
              <a:t>#</a:t>
            </a:r>
            <a:r>
              <a:rPr lang="bg-BG" dirty="0"/>
              <a:t> </a:t>
            </a:r>
            <a:r>
              <a:rPr lang="en-US" noProof="1"/>
              <a:t>AppsAI</a:t>
            </a:r>
            <a:endParaRPr lang="en-US" dirty="0"/>
          </a:p>
        </p:txBody>
      </p:sp>
      <p:sp>
        <p:nvSpPr>
          <p:cNvPr id="472" name="Google Shape;472;p2">
            <a:extLst>
              <a:ext uri="{FF2B5EF4-FFF2-40B4-BE49-F238E27FC236}">
                <a16:creationId xmlns:a16="http://schemas.microsoft.com/office/drawing/2014/main" id="{A46E25EB-373E-103C-C38C-E107F321ED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6537" y="692697"/>
            <a:ext cx="10958928" cy="780383"/>
          </a:xfrm>
          <a:noFill/>
          <a:ln>
            <a:noFill/>
          </a:ln>
        </p:spPr>
        <p:txBody>
          <a:bodyPr spcFirstLastPara="1" vert="horz" wrap="square" lIns="108000" tIns="36000" rIns="108000" bIns="36000" rtlCol="0" anchor="ctr" anchorCtr="0">
            <a:noAutofit/>
          </a:bodyPr>
          <a:lstStyle/>
          <a:p>
            <a:pPr lvl="0"/>
            <a:r>
              <a:rPr lang="en-US" dirty="0"/>
              <a:t>Sli.do Code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731503F4-B943-B774-2EE8-286C097C09B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382" r="382"/>
          <a:stretch/>
        </p:blipFill>
        <p:spPr>
          <a:xfrm>
            <a:off x="1579564" y="2781300"/>
            <a:ext cx="9032875" cy="3384550"/>
          </a:xfrm>
          <a:prstGeom prst="rect">
            <a:avLst/>
          </a:prstGeom>
          <a:ln>
            <a:solidFill>
              <a:srgbClr val="63C5B0">
                <a:alpha val="60000"/>
              </a:srgbClr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2346293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3" descr="Bulb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59232" y="3573016"/>
            <a:ext cx="1473536" cy="2159492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"/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08000" tIns="36000" rIns="108000" bIns="36000" rtlCol="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SzPts val="3600"/>
            </a:pPr>
            <a:r>
              <a:rPr lang="bg-BG" dirty="0"/>
              <a:t>20:00 / 21:00</a:t>
            </a:r>
            <a:endParaRPr dirty="0"/>
          </a:p>
        </p:txBody>
      </p:sp>
      <p:sp>
        <p:nvSpPr>
          <p:cNvPr id="479" name="Google Shape;479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08000" tIns="36000" rIns="108000" bIns="360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rgbClr val="00BA96"/>
              </a:buClr>
              <a:buSzPts val="5300"/>
            </a:pPr>
            <a:r>
              <a:rPr lang="en-US" dirty="0"/>
              <a:t>Breaks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643CDE-8E68-9C4B-FB91-24D4665A30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6537" y="1436690"/>
            <a:ext cx="10958928" cy="1178548"/>
          </a:xfrm>
        </p:spPr>
        <p:txBody>
          <a:bodyPr/>
          <a:lstStyle/>
          <a:p>
            <a:r>
              <a:rPr lang="en-US" dirty="0"/>
              <a:t>Neon: PostgreSQL DB in the Cloud,</a:t>
            </a:r>
            <a:br>
              <a:rPr lang="en-US" dirty="0"/>
            </a:br>
            <a:r>
              <a:rPr lang="en-US" dirty="0"/>
              <a:t>Scale-to-Zero, SQL Editor, Neon MCP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940597-DAE4-91AA-835D-40DD830B3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855" y="485061"/>
            <a:ext cx="11516786" cy="780383"/>
          </a:xfrm>
        </p:spPr>
        <p:txBody>
          <a:bodyPr/>
          <a:lstStyle/>
          <a:p>
            <a:r>
              <a:rPr lang="en-US" sz="5200" dirty="0"/>
              <a:t>Neon DB: Serverless PostgreSQL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17ECD-EE28-34AE-1128-57A5041596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21ADCA65-DE64-801C-EE3C-B08EBC869B5C}"/>
              </a:ext>
            </a:extLst>
          </p:cNvPr>
          <p:cNvPicPr>
            <a:picLocks noGrp="1" noChangeAspect="1"/>
          </p:cNvPicPr>
          <p:nvPr>
            <p:ph type="pic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0" b="17010"/>
          <a:stretch>
            <a:fillRect/>
          </a:stretch>
        </p:blipFill>
        <p:spPr>
          <a:xfrm>
            <a:off x="2789207" y="2996952"/>
            <a:ext cx="6613585" cy="3297512"/>
          </a:xfrm>
          <a:prstGeom prst="rect">
            <a:avLst/>
          </a:prstGeom>
          <a:ln>
            <a:solidFill>
              <a:srgbClr val="63C5B0">
                <a:alpha val="60000"/>
              </a:srgbClr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2343345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301ED-ABB6-D108-2CDE-6E1FDCE1B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4618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9D73C2-D5BB-D4BC-AAEA-036BBE5A64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3" y="1196125"/>
            <a:ext cx="11798774" cy="549496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chemeClr val="accent4"/>
                </a:solidFill>
              </a:rPr>
              <a:t>Neon</a:t>
            </a:r>
            <a:r>
              <a:rPr lang="en-US" sz="2800" dirty="0"/>
              <a:t> == serverless </a:t>
            </a:r>
            <a:r>
              <a:rPr lang="en-US" sz="2800" b="1" dirty="0">
                <a:solidFill>
                  <a:schemeClr val="accent4"/>
                </a:solidFill>
              </a:rPr>
              <a:t>PostgreSQL</a:t>
            </a:r>
            <a:r>
              <a:rPr lang="en-US" sz="2800" dirty="0"/>
              <a:t> in the cloud</a:t>
            </a:r>
          </a:p>
          <a:p>
            <a:pPr lvl="1">
              <a:lnSpc>
                <a:spcPct val="100000"/>
              </a:lnSpc>
            </a:pPr>
            <a:r>
              <a:rPr lang="en-US" sz="2600" dirty="0"/>
              <a:t>Neon </a:t>
            </a:r>
            <a:r>
              <a:rPr lang="en-US" sz="2600" b="1" dirty="0">
                <a:solidFill>
                  <a:schemeClr val="accent4"/>
                </a:solidFill>
              </a:rPr>
              <a:t>separates compute from storage</a:t>
            </a:r>
            <a:r>
              <a:rPr lang="en-US" sz="2600" dirty="0"/>
              <a:t>:</a:t>
            </a:r>
            <a:br>
              <a:rPr lang="en-US" sz="2600" dirty="0"/>
            </a:br>
            <a:r>
              <a:rPr lang="en-US" sz="2600" dirty="0"/>
              <a:t>attach DB storage to DB compute on demand</a:t>
            </a:r>
            <a:endParaRPr lang="en-US" sz="2600" b="1" dirty="0">
              <a:solidFill>
                <a:schemeClr val="accent4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sz="2600" dirty="0"/>
              <a:t>What is a </a:t>
            </a:r>
            <a:r>
              <a:rPr lang="en-US" sz="2600" b="1" dirty="0">
                <a:solidFill>
                  <a:schemeClr val="accent4"/>
                </a:solidFill>
              </a:rPr>
              <a:t>serverless database</a:t>
            </a:r>
            <a:r>
              <a:rPr lang="en-US" sz="2600" dirty="0"/>
              <a:t>?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Suspends compute after </a:t>
            </a:r>
            <a:r>
              <a:rPr lang="en-US" sz="2400" b="1" dirty="0">
                <a:solidFill>
                  <a:schemeClr val="accent4"/>
                </a:solidFill>
              </a:rPr>
              <a:t>5 min idle </a:t>
            </a:r>
            <a:r>
              <a:rPr lang="en-US" sz="2400" dirty="0"/>
              <a:t>→ resumes on next query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Cold query starts in </a:t>
            </a:r>
            <a:r>
              <a:rPr lang="en-US" sz="2400" b="1" noProof="1">
                <a:solidFill>
                  <a:schemeClr val="accent4"/>
                </a:solidFill>
              </a:rPr>
              <a:t>~600 ms</a:t>
            </a:r>
            <a:r>
              <a:rPr lang="en-US" sz="2400" dirty="0"/>
              <a:t> (wake up)</a:t>
            </a:r>
            <a:endParaRPr lang="en-US" sz="2400" b="1" dirty="0">
              <a:solidFill>
                <a:schemeClr val="accent4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sz="2600" dirty="0"/>
              <a:t>See</a:t>
            </a:r>
            <a:r>
              <a:rPr lang="en-US" sz="2600" b="1" dirty="0"/>
              <a:t> </a:t>
            </a:r>
            <a:r>
              <a:rPr lang="en-US" sz="2600" b="1" dirty="0">
                <a:solidFill>
                  <a:schemeClr val="accent4"/>
                </a:solidFill>
              </a:rPr>
              <a:t>Neon Latency Benchmarks</a:t>
            </a:r>
            <a:r>
              <a:rPr lang="en-US" sz="2600" b="1" dirty="0"/>
              <a:t>:</a:t>
            </a:r>
            <a:br>
              <a:rPr lang="en-US" sz="2600" b="1" dirty="0"/>
            </a:br>
            <a:r>
              <a:rPr lang="en-US" sz="2600" dirty="0">
                <a:hlinkClick r:id="rId2"/>
              </a:rPr>
              <a:t>https://neon.com/demos/regional-latency</a:t>
            </a:r>
            <a:endParaRPr lang="en-US" sz="2600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800" dirty="0"/>
              <a:t>Generous </a:t>
            </a:r>
            <a:r>
              <a:rPr lang="en-US" sz="2800" b="1" dirty="0">
                <a:solidFill>
                  <a:schemeClr val="accent4"/>
                </a:solidFill>
                <a:hlinkClick r:id="rId3"/>
              </a:rPr>
              <a:t>free tier</a:t>
            </a:r>
            <a:r>
              <a:rPr lang="bg-BG" sz="2800" dirty="0"/>
              <a:t>, </a:t>
            </a:r>
            <a:r>
              <a:rPr lang="en-US" sz="2800" dirty="0"/>
              <a:t>great for learning:</a:t>
            </a:r>
          </a:p>
          <a:p>
            <a:pPr lvl="1">
              <a:lnSpc>
                <a:spcPct val="100000"/>
              </a:lnSpc>
            </a:pPr>
            <a:r>
              <a:rPr lang="en-US" sz="2600" b="1" dirty="0">
                <a:solidFill>
                  <a:schemeClr val="accent4"/>
                </a:solidFill>
              </a:rPr>
              <a:t>100 free projects</a:t>
            </a:r>
            <a:r>
              <a:rPr lang="en-US" sz="2600" dirty="0"/>
              <a:t>, </a:t>
            </a:r>
            <a:r>
              <a:rPr lang="en-US" sz="2600" b="1" dirty="0">
                <a:solidFill>
                  <a:schemeClr val="accent4"/>
                </a:solidFill>
              </a:rPr>
              <a:t>0.5 GB</a:t>
            </a:r>
            <a:r>
              <a:rPr lang="en-US" sz="2600" dirty="0"/>
              <a:t> storage / project, </a:t>
            </a:r>
            <a:r>
              <a:rPr lang="en-US" sz="2600" b="1" dirty="0">
                <a:solidFill>
                  <a:schemeClr val="accent4"/>
                </a:solidFill>
              </a:rPr>
              <a:t>3 compute hours</a:t>
            </a:r>
            <a:r>
              <a:rPr lang="en-US" sz="2600" dirty="0"/>
              <a:t> / day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465473-3E6F-A71C-8881-15CEDDD5E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43" y="100750"/>
            <a:ext cx="10800601" cy="882654"/>
          </a:xfrm>
        </p:spPr>
        <p:txBody>
          <a:bodyPr>
            <a:normAutofit/>
          </a:bodyPr>
          <a:lstStyle/>
          <a:p>
            <a:r>
              <a:rPr lang="en-US" dirty="0"/>
              <a:t>What is Neon?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1363B0-66BB-73B2-D1C6-69681E9C79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1590" y="1492702"/>
            <a:ext cx="2849026" cy="1545748"/>
          </a:xfrm>
          <a:prstGeom prst="roundRect">
            <a:avLst>
              <a:gd name="adj" fmla="val 3014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87294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B940B2-3DF8-FAD4-5E5D-8808024F08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F81915-F35A-D442-12B2-5E84E340F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Serverless Postgres?</a:t>
            </a:r>
          </a:p>
        </p:txBody>
      </p:sp>
      <p:sp>
        <p:nvSpPr>
          <p:cNvPr id="16" name="Card Background">
            <a:extLst>
              <a:ext uri="{FF2B5EF4-FFF2-40B4-BE49-F238E27FC236}">
                <a16:creationId xmlns:a16="http://schemas.microsoft.com/office/drawing/2014/main" id="{C62BFD12-43DC-47BD-8FCE-871AB3963C65}"/>
              </a:ext>
            </a:extLst>
          </p:cNvPr>
          <p:cNvSpPr/>
          <p:nvPr/>
        </p:nvSpPr>
        <p:spPr bwMode="auto">
          <a:xfrm>
            <a:off x="326008" y="1460498"/>
            <a:ext cx="5647891" cy="4992838"/>
          </a:xfrm>
          <a:prstGeom prst="roundRect">
            <a:avLst>
              <a:gd name="adj" fmla="val 5591"/>
            </a:avLst>
          </a:prstGeom>
          <a:solidFill>
            <a:schemeClr val="accent6">
              <a:lumMod val="50000"/>
              <a:alpha val="25000"/>
            </a:schemeClr>
          </a:solidFill>
          <a:ln w="15240" cap="flat" cmpd="sng" algn="ctr">
            <a:solidFill>
              <a:srgbClr val="16FFBB">
                <a:alpha val="80000"/>
              </a:srgb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2600" dirty="0"/>
              <a:t>🗄️ </a:t>
            </a:r>
            <a:r>
              <a:rPr lang="en-US" sz="2600" b="1" dirty="0">
                <a:solidFill>
                  <a:srgbClr val="FFD999"/>
                </a:solidFill>
              </a:rPr>
              <a:t>Traditional PostgreSQL</a:t>
            </a:r>
          </a:p>
          <a:p>
            <a:pPr marL="534988" indent="-26670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D999"/>
                </a:solidFill>
              </a:rPr>
              <a:t>Always-on server </a:t>
            </a:r>
            <a:r>
              <a:rPr lang="en-US" sz="2400" dirty="0">
                <a:solidFill>
                  <a:schemeClr val="bg2"/>
                </a:solidFill>
              </a:rPr>
              <a:t>– pay 24/7</a:t>
            </a:r>
            <a:endParaRPr lang="bg-BG" sz="2400" dirty="0">
              <a:solidFill>
                <a:schemeClr val="bg2"/>
              </a:solidFill>
            </a:endParaRPr>
          </a:p>
          <a:p>
            <a:pPr marL="534988" indent="-26670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D999"/>
                </a:solidFill>
              </a:rPr>
              <a:t>Manual scaling </a:t>
            </a:r>
            <a:r>
              <a:rPr lang="en-US" sz="2400" dirty="0">
                <a:solidFill>
                  <a:schemeClr val="bg2"/>
                </a:solidFill>
              </a:rPr>
              <a:t>– adjust resources yourself (CPU, RAM)</a:t>
            </a:r>
          </a:p>
          <a:p>
            <a:pPr marL="534988" indent="-2667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D999"/>
                </a:solidFill>
              </a:rPr>
              <a:t>Provisioning </a:t>
            </a:r>
            <a:r>
              <a:rPr lang="en-US" sz="2400" dirty="0">
                <a:solidFill>
                  <a:schemeClr val="bg2"/>
                </a:solidFill>
              </a:rPr>
              <a:t>– slow startup times</a:t>
            </a:r>
            <a:endParaRPr lang="bg-BG" sz="2400" dirty="0">
              <a:solidFill>
                <a:schemeClr val="bg2"/>
              </a:solidFill>
            </a:endParaRPr>
          </a:p>
          <a:p>
            <a:pPr marL="534988" indent="-26670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D999"/>
                </a:solidFill>
              </a:rPr>
              <a:t>Backups &amp; patching </a:t>
            </a:r>
            <a:r>
              <a:rPr lang="en-US" sz="2400" dirty="0">
                <a:solidFill>
                  <a:schemeClr val="bg2"/>
                </a:solidFill>
              </a:rPr>
              <a:t>– handled manually</a:t>
            </a:r>
            <a:endParaRPr lang="bg-BG" sz="2400" dirty="0">
              <a:solidFill>
                <a:schemeClr val="bg2"/>
              </a:solidFill>
            </a:endParaRPr>
          </a:p>
          <a:p>
            <a:pPr marL="534988" indent="-26670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D999"/>
                </a:solidFill>
              </a:rPr>
              <a:t>One DB = one VM </a:t>
            </a:r>
            <a:r>
              <a:rPr lang="en-US" sz="2400" dirty="0">
                <a:solidFill>
                  <a:schemeClr val="bg2"/>
                </a:solidFill>
              </a:rPr>
              <a:t>– tightly coupled resources</a:t>
            </a:r>
            <a:endParaRPr lang="bg-BG" sz="2400" dirty="0">
              <a:solidFill>
                <a:schemeClr val="bg2"/>
              </a:solidFill>
            </a:endParaRPr>
          </a:p>
          <a:p>
            <a:pPr marL="534988" indent="-26670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D999"/>
                </a:solidFill>
              </a:rPr>
              <a:t>Branching / cloning </a:t>
            </a:r>
            <a:r>
              <a:rPr lang="en-US" sz="2400" dirty="0">
                <a:solidFill>
                  <a:schemeClr val="bg2"/>
                </a:solidFill>
              </a:rPr>
              <a:t>– hard to manage</a:t>
            </a:r>
          </a:p>
        </p:txBody>
      </p:sp>
      <p:sp>
        <p:nvSpPr>
          <p:cNvPr id="20" name="Card Background">
            <a:extLst>
              <a:ext uri="{FF2B5EF4-FFF2-40B4-BE49-F238E27FC236}">
                <a16:creationId xmlns:a16="http://schemas.microsoft.com/office/drawing/2014/main" id="{DEF96568-DE12-4B7E-84F4-589ED6F999EB}"/>
              </a:ext>
            </a:extLst>
          </p:cNvPr>
          <p:cNvSpPr/>
          <p:nvPr/>
        </p:nvSpPr>
        <p:spPr bwMode="auto">
          <a:xfrm>
            <a:off x="6312024" y="1460499"/>
            <a:ext cx="5553968" cy="4992837"/>
          </a:xfrm>
          <a:prstGeom prst="roundRect">
            <a:avLst>
              <a:gd name="adj" fmla="val 5234"/>
            </a:avLst>
          </a:prstGeom>
          <a:solidFill>
            <a:schemeClr val="accent6">
              <a:lumMod val="50000"/>
              <a:alpha val="25000"/>
            </a:schemeClr>
          </a:solidFill>
          <a:ln w="15240" cap="flat" cmpd="sng" algn="ctr">
            <a:solidFill>
              <a:srgbClr val="16FFBB">
                <a:alpha val="80000"/>
              </a:srgb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2600" dirty="0"/>
              <a:t>⚡ </a:t>
            </a:r>
            <a:r>
              <a:rPr lang="en-US" sz="2600" b="1" dirty="0">
                <a:solidFill>
                  <a:schemeClr val="accent4"/>
                </a:solidFill>
              </a:rPr>
              <a:t>Serverless PostgreSQL (Neon)</a:t>
            </a:r>
          </a:p>
          <a:p>
            <a:pPr marL="534988" indent="-266700" algn="l">
              <a:spcBef>
                <a:spcPts val="400"/>
              </a:spcBef>
              <a:buFont typeface="Arial"/>
              <a:buChar char="•"/>
            </a:pPr>
            <a:r>
              <a:rPr lang="en-US" sz="2400" b="1" dirty="0">
                <a:solidFill>
                  <a:schemeClr val="accent4"/>
                </a:solidFill>
              </a:rPr>
              <a:t>Pay for what you use</a:t>
            </a:r>
            <a:r>
              <a:rPr lang="en-US" sz="2400" dirty="0">
                <a:solidFill>
                  <a:srgbClr val="FFFFFF"/>
                </a:solidFill>
              </a:rPr>
              <a:t> – scale-to-zero when idle / auto-scale</a:t>
            </a:r>
          </a:p>
          <a:p>
            <a:pPr marL="534988" indent="-266700">
              <a:spcBef>
                <a:spcPts val="400"/>
              </a:spcBef>
              <a:buFont typeface="Arial"/>
              <a:buChar char="•"/>
            </a:pPr>
            <a:r>
              <a:rPr lang="en-US" sz="2400" b="1" dirty="0">
                <a:solidFill>
                  <a:srgbClr val="FFD999"/>
                </a:solidFill>
              </a:rPr>
              <a:t>Provisioning </a:t>
            </a:r>
            <a:r>
              <a:rPr lang="en-US" sz="2400" dirty="0">
                <a:solidFill>
                  <a:schemeClr val="bg2"/>
                </a:solidFill>
              </a:rPr>
              <a:t>– </a:t>
            </a:r>
            <a:r>
              <a:rPr lang="en-US" sz="2400" b="1" dirty="0">
                <a:solidFill>
                  <a:schemeClr val="accent4"/>
                </a:solidFill>
              </a:rPr>
              <a:t>databases spin up </a:t>
            </a:r>
            <a:r>
              <a:rPr lang="en-US" sz="2400" dirty="0">
                <a:solidFill>
                  <a:srgbClr val="FFFFFF"/>
                </a:solidFill>
              </a:rPr>
              <a:t>in milliseconds</a:t>
            </a:r>
          </a:p>
          <a:p>
            <a:pPr marL="534988" indent="-266700">
              <a:spcBef>
                <a:spcPts val="400"/>
              </a:spcBef>
              <a:buFont typeface="Arial"/>
              <a:buChar char="•"/>
            </a:pPr>
            <a:r>
              <a:rPr lang="en-US" sz="2400" b="1" dirty="0">
                <a:solidFill>
                  <a:schemeClr val="accent4"/>
                </a:solidFill>
              </a:rPr>
              <a:t>Managed infrastructure</a:t>
            </a:r>
            <a:r>
              <a:rPr lang="en-US" sz="2400" dirty="0">
                <a:solidFill>
                  <a:srgbClr val="FFFFFF"/>
                </a:solidFill>
              </a:rPr>
              <a:t>: auto patches, maintenance, backups</a:t>
            </a:r>
          </a:p>
          <a:p>
            <a:pPr marL="534988" indent="-266700">
              <a:spcBef>
                <a:spcPts val="400"/>
              </a:spcBef>
              <a:buFont typeface="Arial"/>
              <a:buChar char="•"/>
            </a:pPr>
            <a:r>
              <a:rPr lang="en-US" sz="2400" b="1" dirty="0">
                <a:solidFill>
                  <a:schemeClr val="accent4"/>
                </a:solidFill>
              </a:rPr>
              <a:t>Instant branching</a:t>
            </a:r>
            <a:r>
              <a:rPr lang="en-US" sz="2400" dirty="0">
                <a:solidFill>
                  <a:srgbClr val="FFFFFF"/>
                </a:solidFill>
              </a:rPr>
              <a:t> – like Git for databases</a:t>
            </a:r>
          </a:p>
          <a:p>
            <a:pPr marL="534988" indent="-266700" algn="l">
              <a:spcBef>
                <a:spcPts val="400"/>
              </a:spcBef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Perfect match for </a:t>
            </a:r>
            <a:r>
              <a:rPr lang="en-US" sz="2400" b="1" dirty="0">
                <a:solidFill>
                  <a:schemeClr val="accent4"/>
                </a:solidFill>
              </a:rPr>
              <a:t>serverless</a:t>
            </a:r>
            <a:r>
              <a:rPr lang="en-US" sz="2400" dirty="0">
                <a:solidFill>
                  <a:srgbClr val="FFFFFF"/>
                </a:solidFill>
              </a:rPr>
              <a:t> apps (Vercel, Netlify)</a:t>
            </a:r>
          </a:p>
        </p:txBody>
      </p:sp>
    </p:spTree>
    <p:extLst>
      <p:ext uri="{BB962C8B-B14F-4D97-AF65-F5344CB8AC3E}">
        <p14:creationId xmlns:p14="http://schemas.microsoft.com/office/powerpoint/2010/main" val="846912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301ED-ABB6-D108-2CDE-6E1FDCE1B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4618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9D73C2-D5BB-D4BC-AAEA-036BBE5A64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2" y="1196125"/>
            <a:ext cx="11808715" cy="5561125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4"/>
                </a:solidFill>
              </a:rPr>
              <a:t>Sign up </a:t>
            </a:r>
            <a:r>
              <a:rPr lang="en-US" sz="3200" dirty="0"/>
              <a:t>at </a:t>
            </a:r>
            <a:r>
              <a:rPr lang="en-US" sz="3200" b="1" dirty="0">
                <a:solidFill>
                  <a:schemeClr val="accent4"/>
                </a:solidFill>
                <a:hlinkClick r:id="rId2"/>
              </a:rPr>
              <a:t>https://neon.com</a:t>
            </a:r>
            <a:r>
              <a:rPr lang="en-US" sz="3200" dirty="0"/>
              <a:t> (GitHub / Google login)</a:t>
            </a:r>
          </a:p>
          <a:p>
            <a:r>
              <a:rPr lang="en-US" sz="3200" b="1" dirty="0">
                <a:solidFill>
                  <a:schemeClr val="accent4"/>
                </a:solidFill>
              </a:rPr>
              <a:t>Create a project </a:t>
            </a:r>
            <a:r>
              <a:rPr lang="en-US" sz="3200" dirty="0"/>
              <a:t>→ pick </a:t>
            </a:r>
            <a:r>
              <a:rPr lang="en-US" sz="3200" b="1" dirty="0">
                <a:solidFill>
                  <a:schemeClr val="accent4"/>
                </a:solidFill>
              </a:rPr>
              <a:t>region</a:t>
            </a:r>
            <a:r>
              <a:rPr lang="en-US" sz="3200" dirty="0"/>
              <a:t> + PostgreSQL version</a:t>
            </a:r>
          </a:p>
          <a:p>
            <a:pPr>
              <a:spcBef>
                <a:spcPts val="1200"/>
              </a:spcBef>
            </a:pPr>
            <a:r>
              <a:rPr lang="en-US" sz="3200" dirty="0"/>
              <a:t>Neon auto-creates:</a:t>
            </a:r>
          </a:p>
          <a:p>
            <a:pPr lvl="1">
              <a:lnSpc>
                <a:spcPct val="100000"/>
              </a:lnSpc>
            </a:pPr>
            <a:r>
              <a:rPr lang="en-US" sz="2900" b="1" dirty="0">
                <a:solidFill>
                  <a:schemeClr val="accent4"/>
                </a:solidFill>
              </a:rPr>
              <a:t>Default database</a:t>
            </a:r>
            <a:r>
              <a:rPr lang="en-US" sz="2900" dirty="0"/>
              <a:t> (neondb)</a:t>
            </a:r>
          </a:p>
          <a:p>
            <a:pPr lvl="1">
              <a:lnSpc>
                <a:spcPct val="100000"/>
              </a:lnSpc>
            </a:pPr>
            <a:r>
              <a:rPr lang="en-US" sz="2900" b="1" dirty="0">
                <a:solidFill>
                  <a:schemeClr val="accent4"/>
                </a:solidFill>
              </a:rPr>
              <a:t>Default branch</a:t>
            </a:r>
            <a:r>
              <a:rPr lang="en-US" sz="2900" dirty="0"/>
              <a:t> (production)</a:t>
            </a:r>
          </a:p>
          <a:p>
            <a:pPr lvl="1">
              <a:lnSpc>
                <a:spcPct val="100000"/>
              </a:lnSpc>
            </a:pPr>
            <a:r>
              <a:rPr lang="en-US" sz="2900" b="1" dirty="0">
                <a:solidFill>
                  <a:schemeClr val="accent4"/>
                </a:solidFill>
              </a:rPr>
              <a:t>Pooled + unpooled</a:t>
            </a:r>
            <a:r>
              <a:rPr lang="en-US" sz="2900" dirty="0"/>
              <a:t> connection strings</a:t>
            </a:r>
          </a:p>
          <a:p>
            <a:pPr>
              <a:spcBef>
                <a:spcPts val="1200"/>
              </a:spcBef>
            </a:pPr>
            <a:r>
              <a:rPr lang="en-US" sz="3200" dirty="0"/>
              <a:t>Copy </a:t>
            </a:r>
            <a:r>
              <a:rPr lang="en-US" sz="3200" b="1" dirty="0">
                <a:solidFill>
                  <a:schemeClr val="accent4"/>
                </a:solidFill>
              </a:rPr>
              <a:t>DATABASE_URL</a:t>
            </a:r>
            <a:r>
              <a:rPr lang="en-US" sz="3200" dirty="0"/>
              <a:t> → paste in the app's </a:t>
            </a:r>
            <a:r>
              <a:rPr lang="en-US" sz="3200" b="1" dirty="0">
                <a:solidFill>
                  <a:schemeClr val="accent4"/>
                </a:solidFill>
              </a:rPr>
              <a:t>.env</a:t>
            </a:r>
            <a:r>
              <a:rPr lang="en-US" sz="3200" dirty="0"/>
              <a:t> file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465473-3E6F-A71C-8881-15CEDDD5E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43" y="100750"/>
            <a:ext cx="10800601" cy="882654"/>
          </a:xfrm>
        </p:spPr>
        <p:txBody>
          <a:bodyPr>
            <a:normAutofit/>
          </a:bodyPr>
          <a:lstStyle/>
          <a:p>
            <a:r>
              <a:rPr lang="en-US" dirty="0"/>
              <a:t>Creating a Neon Database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23F0193-0569-F008-2904-32B7622F86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3"/>
          <a:stretch>
            <a:fillRect/>
          </a:stretch>
        </p:blipFill>
        <p:spPr>
          <a:xfrm>
            <a:off x="7738991" y="2708920"/>
            <a:ext cx="4015627" cy="2037651"/>
          </a:xfrm>
          <a:prstGeom prst="roundRect">
            <a:avLst>
              <a:gd name="adj" fmla="val 3014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41987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37595A-C90A-ED43-C2F8-1337A561F8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3B8F26-B2AB-05BB-1076-9994DE627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Neon Table Editor</a:t>
            </a:r>
            <a:endParaRPr lang="bg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B02289-65A3-F53A-5EC4-C979728CC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86" y="1357434"/>
            <a:ext cx="10805630" cy="5167910"/>
          </a:xfrm>
          <a:prstGeom prst="roundRect">
            <a:avLst>
              <a:gd name="adj" fmla="val 833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5037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301ED-ABB6-D108-2CDE-6E1FDCE1B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4618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9D73C2-D5BB-D4BC-AAEA-036BBE5A64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3" y="1196125"/>
            <a:ext cx="5396057" cy="5561125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accent4"/>
                </a:solidFill>
              </a:rPr>
              <a:t>Built-in SQL editor</a:t>
            </a:r>
            <a:r>
              <a:rPr lang="en-US" sz="2800" dirty="0"/>
              <a:t> in the Neon console</a:t>
            </a:r>
          </a:p>
          <a:p>
            <a:r>
              <a:rPr lang="en-US" sz="2800" dirty="0"/>
              <a:t>Run arbitrary SQL: </a:t>
            </a:r>
            <a:r>
              <a:rPr lang="en-US" sz="2800" b="1" dirty="0">
                <a:solidFill>
                  <a:schemeClr val="accent4"/>
                </a:solidFill>
              </a:rPr>
              <a:t>CREATE TABLE</a:t>
            </a:r>
            <a:r>
              <a:rPr lang="en-US" sz="2800" dirty="0"/>
              <a:t>, </a:t>
            </a:r>
            <a:r>
              <a:rPr lang="en-US" sz="2800" b="1" dirty="0">
                <a:solidFill>
                  <a:schemeClr val="accent4"/>
                </a:solidFill>
              </a:rPr>
              <a:t>INSERT</a:t>
            </a:r>
            <a:r>
              <a:rPr lang="en-US" sz="2800" dirty="0"/>
              <a:t>, </a:t>
            </a:r>
            <a:r>
              <a:rPr lang="en-US" sz="2800" b="1" dirty="0">
                <a:solidFill>
                  <a:schemeClr val="accent4"/>
                </a:solidFill>
              </a:rPr>
              <a:t>SELECT</a:t>
            </a:r>
            <a:r>
              <a:rPr lang="en-US" sz="2800" dirty="0"/>
              <a:t>, …</a:t>
            </a:r>
          </a:p>
          <a:p>
            <a:r>
              <a:rPr lang="en-US" sz="2800" b="1" dirty="0">
                <a:solidFill>
                  <a:schemeClr val="accent4"/>
                </a:solidFill>
              </a:rPr>
              <a:t>Visual table browser</a:t>
            </a:r>
            <a:r>
              <a:rPr lang="en-US" sz="2800" dirty="0"/>
              <a:t>: columns, rows, relations</a:t>
            </a:r>
          </a:p>
          <a:p>
            <a:r>
              <a:rPr lang="en-US" sz="2800" dirty="0"/>
              <a:t>Query history, compute usage, storage usage</a:t>
            </a:r>
          </a:p>
          <a:p>
            <a:r>
              <a:rPr lang="en-US" sz="2800" b="1" dirty="0">
                <a:solidFill>
                  <a:schemeClr val="accent4"/>
                </a:solidFill>
              </a:rPr>
              <a:t>Branching</a:t>
            </a:r>
            <a:r>
              <a:rPr lang="en-US" sz="2800" dirty="0"/>
              <a:t>: create a throw-away branch for experiments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465473-3E6F-A71C-8881-15CEDDD5E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43" y="100750"/>
            <a:ext cx="10800601" cy="882654"/>
          </a:xfrm>
        </p:spPr>
        <p:txBody>
          <a:bodyPr>
            <a:normAutofit/>
          </a:bodyPr>
          <a:lstStyle/>
          <a:p>
            <a:r>
              <a:rPr lang="en-US" dirty="0"/>
              <a:t>Neon SQL Editor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27015A-D4BB-A956-40AE-B0583D442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8193" y="1196125"/>
            <a:ext cx="2552206" cy="2047818"/>
          </a:xfrm>
          <a:prstGeom prst="roundRect">
            <a:avLst>
              <a:gd name="adj" fmla="val 1619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DCA922-7D72-7103-C1A1-2E059168D5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68"/>
          <a:stretch>
            <a:fillRect/>
          </a:stretch>
        </p:blipFill>
        <p:spPr>
          <a:xfrm>
            <a:off x="5798193" y="3429000"/>
            <a:ext cx="5914431" cy="917365"/>
          </a:xfrm>
          <a:prstGeom prst="roundRect">
            <a:avLst>
              <a:gd name="adj" fmla="val 3014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0BED8D-2772-26FA-75AB-FEE5806868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192" y="4514766"/>
            <a:ext cx="5914431" cy="2140735"/>
          </a:xfrm>
          <a:prstGeom prst="roundRect">
            <a:avLst>
              <a:gd name="adj" fmla="val 1679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7D794E-8B26-D2BA-5B95-6C2A836414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6280" y="1196125"/>
            <a:ext cx="2213298" cy="2047818"/>
          </a:xfrm>
          <a:prstGeom prst="roundRect">
            <a:avLst>
              <a:gd name="adj" fmla="val 1619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6726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C35FF-43B7-6B2E-9FCA-961E1D5CF7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39" y="1196125"/>
            <a:ext cx="6237925" cy="55611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chemeClr val="accent4"/>
                </a:solidFill>
              </a:rPr>
              <a:t>MCP</a:t>
            </a:r>
            <a:r>
              <a:rPr lang="en-US" sz="2800" dirty="0"/>
              <a:t> == Model Context Protocol</a:t>
            </a:r>
          </a:p>
          <a:p>
            <a:pPr lvl="1">
              <a:lnSpc>
                <a:spcPct val="100000"/>
              </a:lnSpc>
            </a:pPr>
            <a:r>
              <a:rPr lang="en-US" sz="2500" dirty="0"/>
              <a:t>Enables AI agents (Copilot, Claude) to talk </a:t>
            </a:r>
            <a:r>
              <a:rPr lang="en-US" sz="2500" b="1" dirty="0">
                <a:solidFill>
                  <a:schemeClr val="accent4"/>
                </a:solidFill>
              </a:rPr>
              <a:t>directly to your Neon DB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800" dirty="0"/>
              <a:t>Install </a:t>
            </a:r>
            <a:r>
              <a:rPr lang="en-US" sz="2800" b="1" dirty="0">
                <a:solidFill>
                  <a:schemeClr val="accent4"/>
                </a:solidFill>
              </a:rPr>
              <a:t>Neon CLI + MCP</a:t>
            </a:r>
            <a:r>
              <a:rPr lang="en-US" sz="2800" dirty="0"/>
              <a:t> in VS Code</a:t>
            </a:r>
          </a:p>
          <a:p>
            <a:pPr lvl="1">
              <a:lnSpc>
                <a:spcPct val="100000"/>
              </a:lnSpc>
            </a:pPr>
            <a:r>
              <a:rPr lang="en-US" sz="2400" dirty="0"/>
              <a:t>VS Code </a:t>
            </a:r>
            <a:r>
              <a:rPr lang="en-US" sz="2400" dirty="0">
                <a:sym typeface="Wingdings" panose="05000000000000000000" pitchFamily="2" charset="2"/>
              </a:rPr>
              <a:t> Extensions  Search `</a:t>
            </a:r>
            <a:r>
              <a:rPr lang="en-US" sz="2400" b="1" noProof="1">
                <a:solidFill>
                  <a:schemeClr val="accent4"/>
                </a:solidFill>
                <a:sym typeface="Wingdings" panose="05000000000000000000" pitchFamily="2" charset="2"/>
              </a:rPr>
              <a:t>@mcp neon</a:t>
            </a:r>
            <a:r>
              <a:rPr lang="en-US" sz="2400" dirty="0">
                <a:sym typeface="Wingdings" panose="05000000000000000000" pitchFamily="2" charset="2"/>
              </a:rPr>
              <a:t>`  Install in Workspace  Connect Neon DB account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Neon MCP in VS Code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942C00-74D6-B9A2-E000-EFC7A5732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4887" y="1334372"/>
            <a:ext cx="3854479" cy="2463940"/>
          </a:xfrm>
          <a:prstGeom prst="roundRect">
            <a:avLst>
              <a:gd name="adj" fmla="val 1541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85521D-913C-396C-FC7C-0287B2B4DA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024" y="3280448"/>
            <a:ext cx="4009041" cy="1872208"/>
          </a:xfrm>
          <a:prstGeom prst="roundRect">
            <a:avLst>
              <a:gd name="adj" fmla="val 3300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98B65DB-03AE-71DD-C20F-38160F6E59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368" y="4725144"/>
            <a:ext cx="4102976" cy="1279601"/>
          </a:xfrm>
          <a:prstGeom prst="roundRect">
            <a:avLst>
              <a:gd name="adj" fmla="val 5945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7B40FF1-8BE4-E882-A600-F235B0DEDD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5340" y="5328399"/>
            <a:ext cx="5112568" cy="1298313"/>
          </a:xfrm>
          <a:prstGeom prst="roundRect">
            <a:avLst>
              <a:gd name="adj" fmla="val 5945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1E6459C-EFA5-2E90-26AE-CCB7A16470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0564" y="3692092"/>
            <a:ext cx="2158802" cy="2934620"/>
          </a:xfrm>
          <a:prstGeom prst="roundRect">
            <a:avLst>
              <a:gd name="adj" fmla="val 2127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452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5248D-272F-E9F1-F773-2D47A83E1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D56A92-232A-A2DD-7B5E-804B7DD93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791B7-A7A6-07B1-DE3C-7D00B5E866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39" y="1196125"/>
            <a:ext cx="11736709" cy="55611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3200" dirty="0"/>
              <a:t>Note: </a:t>
            </a:r>
            <a:r>
              <a:rPr lang="en-US" sz="3200" b="1" dirty="0">
                <a:solidFill>
                  <a:schemeClr val="accent4"/>
                </a:solidFill>
              </a:rPr>
              <a:t>Neon MCP </a:t>
            </a:r>
            <a:r>
              <a:rPr lang="en-US" sz="3200" dirty="0"/>
              <a:t>connects to your </a:t>
            </a:r>
            <a:r>
              <a:rPr lang="en-US" sz="3200" b="1" dirty="0">
                <a:solidFill>
                  <a:schemeClr val="accent4"/>
                </a:solidFill>
              </a:rPr>
              <a:t>entire Neon account </a:t>
            </a:r>
            <a:r>
              <a:rPr lang="en-US" sz="3200" dirty="0"/>
              <a:t>(all projects), not to certain Neon project</a:t>
            </a:r>
          </a:p>
          <a:p>
            <a:pPr lvl="1">
              <a:lnSpc>
                <a:spcPct val="100000"/>
              </a:lnSpc>
            </a:pPr>
            <a:r>
              <a:rPr lang="en-US" sz="2700" dirty="0"/>
              <a:t>AI dev agents using Neon MCP see </a:t>
            </a:r>
            <a:r>
              <a:rPr lang="en-US" sz="2700" b="1" dirty="0">
                <a:solidFill>
                  <a:schemeClr val="accent4"/>
                </a:solidFill>
              </a:rPr>
              <a:t>all projects </a:t>
            </a:r>
            <a:r>
              <a:rPr lang="en-US" sz="2700" dirty="0"/>
              <a:t>in your Neon account</a:t>
            </a:r>
          </a:p>
          <a:p>
            <a:pPr lvl="1">
              <a:lnSpc>
                <a:spcPct val="100000"/>
              </a:lnSpc>
            </a:pPr>
            <a:r>
              <a:rPr lang="en-US" sz="2700" dirty="0"/>
              <a:t>Y</a:t>
            </a:r>
            <a:r>
              <a:rPr lang="en-US" sz="2700" dirty="0">
                <a:sym typeface="Wingdings" panose="05000000000000000000" pitchFamily="2" charset="2"/>
              </a:rPr>
              <a:t>ou should tell </a:t>
            </a:r>
            <a:r>
              <a:rPr lang="en-US" sz="2700" b="1" dirty="0">
                <a:solidFill>
                  <a:schemeClr val="accent4"/>
                </a:solidFill>
                <a:sym typeface="Wingdings" panose="05000000000000000000" pitchFamily="2" charset="2"/>
              </a:rPr>
              <a:t>which Neon DB to use</a:t>
            </a:r>
            <a:r>
              <a:rPr lang="en-US" sz="2700" dirty="0">
                <a:sym typeface="Wingdings" panose="05000000000000000000" pitchFamily="2" charset="2"/>
              </a:rPr>
              <a:t> explicitly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3200" b="1" dirty="0">
                <a:solidFill>
                  <a:schemeClr val="accent4"/>
                </a:solidFill>
                <a:sym typeface="Wingdings" panose="05000000000000000000" pitchFamily="2" charset="2"/>
              </a:rPr>
              <a:t>Best practice</a:t>
            </a:r>
            <a:r>
              <a:rPr lang="en-US" sz="3200" dirty="0">
                <a:sym typeface="Wingdings" panose="05000000000000000000" pitchFamily="2" charset="2"/>
              </a:rPr>
              <a:t>: define your Neon DB name in </a:t>
            </a:r>
            <a:r>
              <a:rPr lang="en-US" sz="3200" b="1" dirty="0">
                <a:solidFill>
                  <a:schemeClr val="accent4"/>
                </a:solidFill>
                <a:sym typeface="Wingdings" panose="05000000000000000000" pitchFamily="2" charset="2"/>
              </a:rPr>
              <a:t>AGENTS.md</a:t>
            </a:r>
            <a:endParaRPr lang="en-US" sz="3200" dirty="0"/>
          </a:p>
          <a:p>
            <a:pPr lvl="1"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DC69A0-A59A-090C-F798-BF5E663A3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Neon MCP in VS Code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34EC546-ED81-2A78-4EB2-7353D947BA12}"/>
              </a:ext>
            </a:extLst>
          </p:cNvPr>
          <p:cNvGrpSpPr/>
          <p:nvPr/>
        </p:nvGrpSpPr>
        <p:grpSpPr>
          <a:xfrm>
            <a:off x="623392" y="4285532"/>
            <a:ext cx="10945216" cy="2137472"/>
            <a:chOff x="187518" y="4243856"/>
            <a:chExt cx="4091836" cy="2137472"/>
          </a:xfrm>
        </p:grpSpPr>
        <p:sp>
          <p:nvSpPr>
            <p:cNvPr id="7" name="Text Placeholder 5">
              <a:extLst>
                <a:ext uri="{FF2B5EF4-FFF2-40B4-BE49-F238E27FC236}">
                  <a16:creationId xmlns:a16="http://schemas.microsoft.com/office/drawing/2014/main" id="{8344C083-81CA-626B-B93E-4DBF8C4FC164}"/>
                </a:ext>
              </a:extLst>
            </p:cNvPr>
            <p:cNvSpPr txBox="1">
              <a:spLocks/>
            </p:cNvSpPr>
            <p:nvPr/>
          </p:nvSpPr>
          <p:spPr>
            <a:xfrm>
              <a:off x="187518" y="4243856"/>
              <a:ext cx="4091836" cy="607071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vert="horz" wrap="square" lIns="144000" tIns="72000" rIns="144000" bIns="72000" rtlCol="0">
              <a:spAutoFit/>
            </a:bodyPr>
            <a:lstStyle>
              <a:defPPr>
                <a:defRPr lang="en-US"/>
              </a:defPPr>
              <a:lvl1pPr indent="0" defTabSz="1218438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bg1"/>
                </a:buClr>
                <a:buFont typeface="Arial" panose="020B0604020202020204" pitchFamily="34" charset="0"/>
                <a:buNone/>
                <a:defRPr sz="2800" b="1" i="0">
                  <a:solidFill>
                    <a:schemeClr val="bg2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Roboto" panose="02000000000000000000" pitchFamily="2" charset="0"/>
                </a:defRPr>
              </a:lvl1pPr>
              <a:lvl2pPr marL="809625" indent="-361950" defTabSz="1218438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Font typeface="Arial" panose="020B0604020202020204" pitchFamily="34" charset="0"/>
                <a:buChar char="•"/>
                <a:defRPr sz="3200" b="0" i="0">
                  <a:solidFill>
                    <a:schemeClr val="bg2"/>
                  </a:solidFill>
                  <a:ea typeface="Roboto" panose="02000000000000000000" pitchFamily="2" charset="0"/>
                  <a:cs typeface="Roboto" panose="02000000000000000000" pitchFamily="2" charset="0"/>
                </a:defRPr>
              </a:lvl2pPr>
              <a:lvl3pPr marL="1257300" indent="-361950" defTabSz="1218438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Font typeface="Arial" panose="020B0604020202020204" pitchFamily="34" charset="0"/>
                <a:buChar char="•"/>
                <a:defRPr sz="3000" b="0" i="0">
                  <a:solidFill>
                    <a:schemeClr val="bg2"/>
                  </a:solidFill>
                  <a:ea typeface="Roboto" panose="02000000000000000000" pitchFamily="2" charset="0"/>
                  <a:cs typeface="Roboto" panose="02000000000000000000" pitchFamily="2" charset="0"/>
                </a:defRPr>
              </a:lvl3pPr>
              <a:lvl4pPr marL="1704975" indent="-361950" defTabSz="1218438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Font typeface="Arial" panose="020B0604020202020204" pitchFamily="34" charset="0"/>
                <a:buChar char="•"/>
                <a:defRPr sz="2800" b="0" i="0">
                  <a:solidFill>
                    <a:schemeClr val="bg2"/>
                  </a:solidFill>
                </a:defRPr>
              </a:lvl4pPr>
              <a:lvl5pPr marL="2152650" indent="-361950" defTabSz="1218438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Font typeface="Arial" panose="020B0604020202020204" pitchFamily="34" charset="0"/>
                <a:buChar char="•"/>
                <a:defRPr sz="2600" b="0" i="0">
                  <a:solidFill>
                    <a:schemeClr val="bg2"/>
                  </a:solidFill>
                </a:defRPr>
              </a:lvl5pPr>
              <a:lvl6pPr marL="3350704" indent="-304610" defTabSz="1218438">
                <a:spcBef>
                  <a:spcPct val="20000"/>
                </a:spcBef>
                <a:buFont typeface="Arial" pitchFamily="34" charset="0"/>
                <a:buChar char="•"/>
                <a:defRPr sz="2665"/>
              </a:lvl6pPr>
              <a:lvl7pPr marL="3959924" indent="-304610" defTabSz="1218438">
                <a:spcBef>
                  <a:spcPct val="20000"/>
                </a:spcBef>
                <a:buFont typeface="Arial" pitchFamily="34" charset="0"/>
                <a:buChar char="•"/>
                <a:defRPr sz="2665"/>
              </a:lvl7pPr>
              <a:lvl8pPr marL="4569143" indent="-304610" defTabSz="1218438">
                <a:spcBef>
                  <a:spcPct val="20000"/>
                </a:spcBef>
                <a:buFont typeface="Arial" pitchFamily="34" charset="0"/>
                <a:buChar char="•"/>
                <a:defRPr sz="2665"/>
              </a:lvl8pPr>
              <a:lvl9pPr marL="5178362" indent="-304610" defTabSz="1218438">
                <a:spcBef>
                  <a:spcPct val="20000"/>
                </a:spcBef>
                <a:buFont typeface="Arial" pitchFamily="34" charset="0"/>
                <a:buChar char="•"/>
                <a:defRPr sz="2665"/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3000" noProof="1">
                  <a:solidFill>
                    <a:schemeClr val="accent4"/>
                  </a:solidFill>
                  <a:latin typeface="Consolas"/>
                </a:rPr>
                <a:t>AGENTS.md</a:t>
              </a:r>
            </a:p>
          </p:txBody>
        </p:sp>
        <p:sp>
          <p:nvSpPr>
            <p:cNvPr id="9" name="Text Placeholder 5">
              <a:extLst>
                <a:ext uri="{FF2B5EF4-FFF2-40B4-BE49-F238E27FC236}">
                  <a16:creationId xmlns:a16="http://schemas.microsoft.com/office/drawing/2014/main" id="{DE5CFE46-70AF-332A-CD28-33B13B386040}"/>
                </a:ext>
              </a:extLst>
            </p:cNvPr>
            <p:cNvSpPr txBox="1">
              <a:spLocks/>
            </p:cNvSpPr>
            <p:nvPr/>
          </p:nvSpPr>
          <p:spPr>
            <a:xfrm>
              <a:off x="187518" y="4850927"/>
              <a:ext cx="4091836" cy="1530401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vert="horz" wrap="square" lIns="144000" tIns="72000" rIns="144000" bIns="72000" rtlCol="0">
              <a:spAutoFit/>
            </a:bodyPr>
            <a:lstStyle>
              <a:defPPr>
                <a:defRPr lang="en-US"/>
              </a:defPPr>
              <a:lvl1pPr indent="0" defTabSz="1218438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bg1"/>
                </a:buClr>
                <a:buFont typeface="Arial" panose="020B0604020202020204" pitchFamily="34" charset="0"/>
                <a:buNone/>
                <a:defRPr sz="2800" b="1" i="0">
                  <a:solidFill>
                    <a:schemeClr val="bg2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Roboto" panose="02000000000000000000" pitchFamily="2" charset="0"/>
                </a:defRPr>
              </a:lvl1pPr>
              <a:lvl2pPr marL="809625" indent="-361950" defTabSz="1218438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Font typeface="Arial" panose="020B0604020202020204" pitchFamily="34" charset="0"/>
                <a:buChar char="•"/>
                <a:defRPr sz="3200" b="0" i="0">
                  <a:solidFill>
                    <a:schemeClr val="bg2"/>
                  </a:solidFill>
                  <a:ea typeface="Roboto" panose="02000000000000000000" pitchFamily="2" charset="0"/>
                  <a:cs typeface="Roboto" panose="02000000000000000000" pitchFamily="2" charset="0"/>
                </a:defRPr>
              </a:lvl2pPr>
              <a:lvl3pPr marL="1257300" indent="-361950" defTabSz="1218438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Font typeface="Arial" panose="020B0604020202020204" pitchFamily="34" charset="0"/>
                <a:buChar char="•"/>
                <a:defRPr sz="3000" b="0" i="0">
                  <a:solidFill>
                    <a:schemeClr val="bg2"/>
                  </a:solidFill>
                  <a:ea typeface="Roboto" panose="02000000000000000000" pitchFamily="2" charset="0"/>
                  <a:cs typeface="Roboto" panose="02000000000000000000" pitchFamily="2" charset="0"/>
                </a:defRPr>
              </a:lvl3pPr>
              <a:lvl4pPr marL="1704975" indent="-361950" defTabSz="1218438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Font typeface="Arial" panose="020B0604020202020204" pitchFamily="34" charset="0"/>
                <a:buChar char="•"/>
                <a:defRPr sz="2800" b="0" i="0">
                  <a:solidFill>
                    <a:schemeClr val="bg2"/>
                  </a:solidFill>
                </a:defRPr>
              </a:lvl4pPr>
              <a:lvl5pPr marL="2152650" indent="-361950" defTabSz="1218438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Font typeface="Arial" panose="020B0604020202020204" pitchFamily="34" charset="0"/>
                <a:buChar char="•"/>
                <a:defRPr sz="2600" b="0" i="0">
                  <a:solidFill>
                    <a:schemeClr val="bg2"/>
                  </a:solidFill>
                </a:defRPr>
              </a:lvl5pPr>
              <a:lvl6pPr marL="3350704" indent="-304610" defTabSz="1218438">
                <a:spcBef>
                  <a:spcPct val="20000"/>
                </a:spcBef>
                <a:buFont typeface="Arial" pitchFamily="34" charset="0"/>
                <a:buChar char="•"/>
                <a:defRPr sz="2665"/>
              </a:lvl6pPr>
              <a:lvl7pPr marL="3959924" indent="-304610" defTabSz="1218438">
                <a:spcBef>
                  <a:spcPct val="20000"/>
                </a:spcBef>
                <a:buFont typeface="Arial" pitchFamily="34" charset="0"/>
                <a:buChar char="•"/>
                <a:defRPr sz="2665"/>
              </a:lvl7pPr>
              <a:lvl8pPr marL="4569143" indent="-304610" defTabSz="1218438">
                <a:spcBef>
                  <a:spcPct val="20000"/>
                </a:spcBef>
                <a:buFont typeface="Arial" pitchFamily="34" charset="0"/>
                <a:buChar char="•"/>
                <a:defRPr sz="2665"/>
              </a:lvl8pPr>
              <a:lvl9pPr marL="5178362" indent="-304610" defTabSz="1218438">
                <a:spcBef>
                  <a:spcPct val="20000"/>
                </a:spcBef>
                <a:buFont typeface="Arial" pitchFamily="34" charset="0"/>
                <a:buChar char="•"/>
                <a:defRPr sz="2665"/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3000" noProof="1">
                  <a:latin typeface="Consolas"/>
                </a:rPr>
                <a:t># Neon MCP Database Access Rules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3000" noProof="1">
                  <a:latin typeface="Consolas"/>
                </a:rPr>
                <a:t>  - Connect </a:t>
              </a:r>
              <a:r>
                <a:rPr lang="en-US" sz="3000" noProof="1">
                  <a:solidFill>
                    <a:schemeClr val="accent4"/>
                  </a:solidFill>
                  <a:latin typeface="Consolas"/>
                </a:rPr>
                <a:t>Neon MCP </a:t>
              </a:r>
              <a:r>
                <a:rPr lang="en-US" sz="3000" noProof="1">
                  <a:latin typeface="Consolas"/>
                </a:rPr>
                <a:t>only to a database project named `</a:t>
              </a:r>
              <a:r>
                <a:rPr lang="en-US" sz="3000" noProof="1">
                  <a:solidFill>
                    <a:schemeClr val="accent4"/>
                  </a:solidFill>
                  <a:latin typeface="Consolas"/>
                </a:rPr>
                <a:t>CountriesDB</a:t>
              </a:r>
              <a:r>
                <a:rPr lang="en-US" sz="3000" noProof="1">
                  <a:latin typeface="Consolas"/>
                </a:rPr>
                <a:t>` in my Neon account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8323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C35FF-43B7-6B2E-9FCA-961E1D5CF7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352" y="1340768"/>
            <a:ext cx="4752528" cy="54164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🤖 </a:t>
            </a:r>
            <a:r>
              <a:rPr lang="en-US" sz="2800" b="1" dirty="0">
                <a:solidFill>
                  <a:schemeClr val="accent4"/>
                </a:solidFill>
              </a:rPr>
              <a:t>AI prompts</a:t>
            </a:r>
            <a:r>
              <a:rPr lang="en-US" sz="2800" dirty="0"/>
              <a:t> you can use right away:</a:t>
            </a:r>
          </a:p>
          <a:p>
            <a:pPr marL="538163" indent="-355600">
              <a:spcBef>
                <a:spcPts val="800"/>
              </a:spcBef>
            </a:pPr>
            <a:r>
              <a:rPr lang="en-US" sz="2800" b="1" dirty="0">
                <a:solidFill>
                  <a:schemeClr val="accent4"/>
                </a:solidFill>
              </a:rPr>
              <a:t>Neon MCP</a:t>
            </a:r>
            <a:r>
              <a:rPr lang="en-US" sz="2800" dirty="0"/>
              <a:t> </a:t>
            </a:r>
            <a:r>
              <a:rPr lang="en-US" sz="2800" dirty="0">
                <a:sym typeface="Wingdings" panose="05000000000000000000" pitchFamily="2" charset="2"/>
              </a:rPr>
              <a:t></a:t>
            </a:r>
            <a:r>
              <a:rPr lang="en-US" sz="2800" dirty="0"/>
              <a:t> the AI has </a:t>
            </a:r>
            <a:r>
              <a:rPr lang="en-US" sz="2800" b="1" dirty="0">
                <a:solidFill>
                  <a:schemeClr val="accent4"/>
                </a:solidFill>
              </a:rPr>
              <a:t>direct DB access</a:t>
            </a:r>
          </a:p>
          <a:p>
            <a:pPr marL="538163" indent="-355600">
              <a:spcBef>
                <a:spcPts val="800"/>
              </a:spcBef>
            </a:pPr>
            <a:r>
              <a:rPr lang="en-US" sz="2800" dirty="0"/>
              <a:t>No need to </a:t>
            </a:r>
            <a:r>
              <a:rPr lang="en-US" sz="2800" b="1" dirty="0">
                <a:solidFill>
                  <a:schemeClr val="accent4"/>
                </a:solidFill>
              </a:rPr>
              <a:t>copy-paste SQL</a:t>
            </a:r>
            <a:r>
              <a:rPr lang="en-US" sz="2800" dirty="0"/>
              <a:t> around anymore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2800" dirty="0"/>
              <a:t>👉 Try these </a:t>
            </a:r>
            <a:r>
              <a:rPr lang="en-US" sz="2800" b="1" dirty="0">
                <a:solidFill>
                  <a:schemeClr val="accent4"/>
                </a:solidFill>
              </a:rPr>
              <a:t>example prompts</a:t>
            </a:r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Playing with the Neon MCP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299461E-3473-216D-EB53-F97AAEF6763A}"/>
              </a:ext>
            </a:extLst>
          </p:cNvPr>
          <p:cNvSpPr txBox="1">
            <a:spLocks/>
          </p:cNvSpPr>
          <p:nvPr/>
        </p:nvSpPr>
        <p:spPr>
          <a:xfrm>
            <a:off x="5374646" y="1434607"/>
            <a:ext cx="6337978" cy="494672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noProof="1">
                <a:solidFill>
                  <a:schemeClr val="accent4"/>
                </a:solidFill>
                <a:latin typeface="Consolas"/>
              </a:rPr>
              <a:t>#1 </a:t>
            </a:r>
            <a:r>
              <a:rPr lang="en-US" sz="2600" noProof="1">
                <a:latin typeface="Consolas"/>
              </a:rPr>
              <a:t>Create DB tables: `countries` (id, name, createdAt) and `towns` (id, name, countryId, createdAt)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600" noProof="1"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noProof="1">
                <a:solidFill>
                  <a:schemeClr val="accent4"/>
                </a:solidFill>
                <a:latin typeface="Consolas"/>
              </a:rPr>
              <a:t>#2 </a:t>
            </a:r>
            <a:r>
              <a:rPr lang="en-US" sz="2600" noProof="1">
                <a:latin typeface="Consolas"/>
              </a:rPr>
              <a:t>Show all tables in the database + their columns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600" noProof="1">
              <a:solidFill>
                <a:schemeClr val="accent4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noProof="1">
                <a:solidFill>
                  <a:schemeClr val="accent4"/>
                </a:solidFill>
                <a:latin typeface="Consolas"/>
              </a:rPr>
              <a:t>#3 </a:t>
            </a:r>
            <a:r>
              <a:rPr lang="en-US" sz="2600" noProof="1">
                <a:latin typeface="Consolas"/>
              </a:rPr>
              <a:t>Insert a few sample countries + towns in the DB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600" noProof="1"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noProof="1">
                <a:solidFill>
                  <a:schemeClr val="accent4"/>
                </a:solidFill>
                <a:latin typeface="Consolas"/>
              </a:rPr>
              <a:t>#3 </a:t>
            </a:r>
            <a:r>
              <a:rPr lang="en-US" sz="2600" noProof="1">
                <a:latin typeface="Consolas"/>
              </a:rPr>
              <a:t>Count the rows in every table in the DB</a:t>
            </a:r>
          </a:p>
        </p:txBody>
      </p:sp>
    </p:spTree>
    <p:extLst>
      <p:ext uri="{BB962C8B-B14F-4D97-AF65-F5344CB8AC3E}">
        <p14:creationId xmlns:p14="http://schemas.microsoft.com/office/powerpoint/2010/main" val="33201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allAtOnce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643CDE-8E68-9C4B-FB91-24D4665A30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6537" y="1503685"/>
            <a:ext cx="10958928" cy="1178548"/>
          </a:xfrm>
        </p:spPr>
        <p:txBody>
          <a:bodyPr/>
          <a:lstStyle/>
          <a:p>
            <a:r>
              <a:rPr lang="en-US" dirty="0"/>
              <a:t>ORM Frameworks, Drizzle ORM, Schema, Queries, Migrations, DB Operations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940597-DAE4-91AA-835D-40DD830B3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207" y="493299"/>
            <a:ext cx="11024081" cy="780383"/>
          </a:xfrm>
        </p:spPr>
        <p:txBody>
          <a:bodyPr/>
          <a:lstStyle/>
          <a:p>
            <a:r>
              <a:rPr lang="en-US" dirty="0"/>
              <a:t>ORM Frameworks and Drizzle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17ECD-EE28-34AE-1128-57A5041596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6374B134-B7A8-3FA4-AFAE-10A09610EBE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67" b="10443"/>
          <a:stretch>
            <a:fillRect/>
          </a:stretch>
        </p:blipFill>
        <p:spPr>
          <a:xfrm>
            <a:off x="2701829" y="2981908"/>
            <a:ext cx="6788342" cy="3384376"/>
          </a:xfrm>
          <a:prstGeom prst="rect">
            <a:avLst/>
          </a:prstGeom>
          <a:ln>
            <a:solidFill>
              <a:srgbClr val="63C5B0">
                <a:alpha val="60000"/>
              </a:srgbClr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877595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C35FF-43B7-6B2E-9FCA-961E1D5CF7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1" y="1196125"/>
            <a:ext cx="5760044" cy="5561125"/>
          </a:xfrm>
        </p:spPr>
        <p:txBody>
          <a:bodyPr>
            <a:noAutofit/>
          </a:bodyPr>
          <a:lstStyle/>
          <a:p>
            <a:pPr marL="355600" indent="-355600">
              <a:lnSpc>
                <a:spcPct val="97000"/>
              </a:lnSpc>
              <a:spcBef>
                <a:spcPts val="600"/>
              </a:spcBef>
              <a:buFont typeface="Arial"/>
              <a:buChar char="•"/>
            </a:pPr>
            <a:r>
              <a:rPr lang="en-US" sz="3100" b="1" dirty="0">
                <a:solidFill>
                  <a:schemeClr val="accent4"/>
                </a:solidFill>
              </a:rPr>
              <a:t>ORM framework</a:t>
            </a:r>
            <a:r>
              <a:rPr lang="en-US" sz="3100" dirty="0"/>
              <a:t> ==</a:t>
            </a:r>
            <a:br>
              <a:rPr lang="en-US" sz="3100" dirty="0"/>
            </a:br>
            <a:r>
              <a:rPr lang="en-US" sz="3100" dirty="0"/>
              <a:t>Object-Relational Mapper</a:t>
            </a:r>
          </a:p>
          <a:p>
            <a:pPr marL="803275" lvl="1" indent="-355600">
              <a:lnSpc>
                <a:spcPct val="97000"/>
              </a:lnSpc>
              <a:buFont typeface="Arial"/>
              <a:buChar char="•"/>
            </a:pPr>
            <a:r>
              <a:rPr lang="en-US" sz="2900" dirty="0"/>
              <a:t>Connects your </a:t>
            </a:r>
            <a:r>
              <a:rPr lang="en-US" sz="2900" b="1" dirty="0">
                <a:solidFill>
                  <a:schemeClr val="accent4"/>
                </a:solidFill>
              </a:rPr>
              <a:t>code</a:t>
            </a:r>
            <a:r>
              <a:rPr lang="en-US" sz="2900" dirty="0"/>
              <a:t> with </a:t>
            </a:r>
            <a:r>
              <a:rPr lang="en-US" sz="2900" b="1" dirty="0">
                <a:solidFill>
                  <a:schemeClr val="accent4"/>
                </a:solidFill>
              </a:rPr>
              <a:t>DB</a:t>
            </a:r>
            <a:endParaRPr lang="bg-BG" sz="2900" b="1" dirty="0">
              <a:solidFill>
                <a:schemeClr val="accent4"/>
              </a:solidFill>
            </a:endParaRPr>
          </a:p>
          <a:p>
            <a:pPr marL="803275" lvl="1" indent="-355600">
              <a:lnSpc>
                <a:spcPct val="97000"/>
              </a:lnSpc>
              <a:buFont typeface="Arial"/>
              <a:buChar char="•"/>
            </a:pPr>
            <a:r>
              <a:rPr lang="en-US" sz="2900" dirty="0"/>
              <a:t>Maps DB </a:t>
            </a:r>
            <a:r>
              <a:rPr lang="en-US" sz="2900" b="1" dirty="0">
                <a:solidFill>
                  <a:schemeClr val="accent4"/>
                </a:solidFill>
              </a:rPr>
              <a:t>tables ↔ TypeScript objects</a:t>
            </a:r>
          </a:p>
          <a:p>
            <a:pPr marL="803275" lvl="1" indent="-355600">
              <a:lnSpc>
                <a:spcPct val="97000"/>
              </a:lnSpc>
              <a:buFont typeface="Arial"/>
              <a:buChar char="•"/>
            </a:pPr>
            <a:r>
              <a:rPr lang="en-US" sz="2900" dirty="0"/>
              <a:t>Provides DB access </a:t>
            </a:r>
            <a:r>
              <a:rPr lang="en-US" sz="2900" b="1" dirty="0">
                <a:solidFill>
                  <a:schemeClr val="accent4"/>
                </a:solidFill>
              </a:rPr>
              <a:t>API</a:t>
            </a:r>
          </a:p>
          <a:p>
            <a:pPr marL="355600" indent="-355600">
              <a:lnSpc>
                <a:spcPct val="97000"/>
              </a:lnSpc>
              <a:spcBef>
                <a:spcPts val="600"/>
              </a:spcBef>
              <a:buFont typeface="Arial"/>
              <a:buChar char="•"/>
            </a:pPr>
            <a:r>
              <a:rPr lang="en-US" sz="3100" dirty="0"/>
              <a:t>Benefits of ORMs:</a:t>
            </a:r>
          </a:p>
          <a:p>
            <a:pPr marL="803275" lvl="1" indent="-355600">
              <a:lnSpc>
                <a:spcPct val="97000"/>
              </a:lnSpc>
              <a:buFont typeface="Arial"/>
              <a:buChar char="•"/>
            </a:pPr>
            <a:r>
              <a:rPr lang="en-US" sz="2900" b="1" dirty="0">
                <a:solidFill>
                  <a:schemeClr val="accent4"/>
                </a:solidFill>
              </a:rPr>
              <a:t>Less boilerplate </a:t>
            </a:r>
            <a:r>
              <a:rPr lang="en-US" sz="2900" dirty="0"/>
              <a:t>code</a:t>
            </a:r>
          </a:p>
          <a:p>
            <a:pPr marL="803275" lvl="1" indent="-355600">
              <a:lnSpc>
                <a:spcPct val="97000"/>
              </a:lnSpc>
              <a:buFont typeface="Arial"/>
              <a:buChar char="•"/>
            </a:pPr>
            <a:r>
              <a:rPr lang="en-US" sz="2900" dirty="0"/>
              <a:t>Safe from </a:t>
            </a:r>
            <a:r>
              <a:rPr lang="en-US" sz="2900" b="1" dirty="0">
                <a:solidFill>
                  <a:schemeClr val="accent4"/>
                </a:solidFill>
              </a:rPr>
              <a:t>SQL-injection</a:t>
            </a:r>
            <a:endParaRPr lang="en-US" sz="2900" dirty="0"/>
          </a:p>
          <a:p>
            <a:pPr marL="803275" lvl="1" indent="-355600">
              <a:lnSpc>
                <a:spcPct val="97000"/>
              </a:lnSpc>
              <a:buFont typeface="Arial"/>
              <a:buChar char="•"/>
            </a:pPr>
            <a:r>
              <a:rPr lang="en-US" sz="2900" dirty="0"/>
              <a:t>Built-in </a:t>
            </a:r>
            <a:r>
              <a:rPr lang="en-US" sz="2900" b="1" dirty="0">
                <a:solidFill>
                  <a:schemeClr val="accent4"/>
                </a:solidFill>
              </a:rPr>
              <a:t>migrations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ORM?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299461E-3473-216D-EB53-F97AAEF6763A}"/>
              </a:ext>
            </a:extLst>
          </p:cNvPr>
          <p:cNvSpPr txBox="1">
            <a:spLocks/>
          </p:cNvSpPr>
          <p:nvPr/>
        </p:nvSpPr>
        <p:spPr>
          <a:xfrm>
            <a:off x="6240016" y="1484784"/>
            <a:ext cx="5516075" cy="1868955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noProof="1">
                <a:solidFill>
                  <a:srgbClr val="98D8CB"/>
                </a:solidFill>
                <a:latin typeface="Consolas"/>
              </a:rPr>
              <a:t>// Raw SQL approach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noProof="1">
                <a:solidFill>
                  <a:schemeClr val="accent4"/>
                </a:solidFill>
                <a:latin typeface="Consolas"/>
              </a:rPr>
              <a:t>const</a:t>
            </a:r>
            <a:r>
              <a:rPr lang="en-US" noProof="1">
                <a:latin typeface="Consolas"/>
              </a:rPr>
              <a:t> rows = </a:t>
            </a:r>
            <a:r>
              <a:rPr lang="en-US" b="1" noProof="1">
                <a:solidFill>
                  <a:schemeClr val="accent4"/>
                </a:solidFill>
                <a:latin typeface="Consolas"/>
              </a:rPr>
              <a:t>await</a:t>
            </a:r>
            <a:r>
              <a:rPr lang="en-US" noProof="1">
                <a:latin typeface="Consolas"/>
              </a:rPr>
              <a:t> sql`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1">
                <a:latin typeface="Consolas"/>
              </a:rPr>
              <a:t>  </a:t>
            </a:r>
            <a:r>
              <a:rPr lang="en-US" b="1" noProof="1">
                <a:solidFill>
                  <a:schemeClr val="accent4"/>
                </a:solidFill>
                <a:latin typeface="Consolas"/>
              </a:rPr>
              <a:t>SELECT</a:t>
            </a:r>
            <a:r>
              <a:rPr lang="en-US" noProof="1">
                <a:latin typeface="Consolas"/>
              </a:rPr>
              <a:t> * </a:t>
            </a:r>
            <a:r>
              <a:rPr lang="en-US" b="1" noProof="1">
                <a:solidFill>
                  <a:schemeClr val="accent4"/>
                </a:solidFill>
                <a:latin typeface="Consolas"/>
              </a:rPr>
              <a:t>FROM</a:t>
            </a:r>
            <a:r>
              <a:rPr lang="en-US" noProof="1">
                <a:latin typeface="Consolas"/>
              </a:rPr>
              <a:t> users</a:t>
            </a:r>
            <a:br>
              <a:rPr lang="en-US" noProof="1">
                <a:latin typeface="Consolas"/>
              </a:rPr>
            </a:br>
            <a:r>
              <a:rPr lang="en-US" noProof="1">
                <a:latin typeface="Consolas"/>
              </a:rPr>
              <a:t>  </a:t>
            </a:r>
            <a:r>
              <a:rPr lang="en-US" b="1" noProof="1">
                <a:solidFill>
                  <a:schemeClr val="accent4"/>
                </a:solidFill>
                <a:latin typeface="Consolas"/>
              </a:rPr>
              <a:t>WHERE</a:t>
            </a:r>
            <a:r>
              <a:rPr lang="en-US" noProof="1">
                <a:latin typeface="Consolas"/>
              </a:rPr>
              <a:t> id = ${id}`;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165BC6-457E-8424-1702-51272A7C70BE}"/>
              </a:ext>
            </a:extLst>
          </p:cNvPr>
          <p:cNvSpPr txBox="1">
            <a:spLocks/>
          </p:cNvSpPr>
          <p:nvPr/>
        </p:nvSpPr>
        <p:spPr>
          <a:xfrm>
            <a:off x="6240016" y="3771458"/>
            <a:ext cx="5516075" cy="2299842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noProof="1">
                <a:solidFill>
                  <a:srgbClr val="98D8CB"/>
                </a:solidFill>
                <a:latin typeface="Consolas"/>
              </a:rPr>
              <a:t>// ORM approach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noProof="1">
                <a:solidFill>
                  <a:schemeClr val="accent4"/>
                </a:solidFill>
                <a:latin typeface="Consolas"/>
              </a:rPr>
              <a:t>const</a:t>
            </a:r>
            <a:r>
              <a:rPr lang="en-US" noProof="1">
                <a:latin typeface="Consolas"/>
              </a:rPr>
              <a:t> user =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noProof="1">
                <a:solidFill>
                  <a:schemeClr val="accent4"/>
                </a:solidFill>
                <a:latin typeface="Consolas"/>
              </a:rPr>
              <a:t>  await</a:t>
            </a:r>
            <a:r>
              <a:rPr lang="en-US" noProof="1">
                <a:latin typeface="Consolas"/>
              </a:rPr>
              <a:t> db.select()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1">
                <a:latin typeface="Consolas"/>
              </a:rPr>
              <a:t>  .from(users)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1">
                <a:latin typeface="Consolas"/>
              </a:rPr>
              <a:t>  .where(eq(users.id,</a:t>
            </a:r>
            <a:r>
              <a:rPr lang="en-US" noProof="1">
                <a:latin typeface="+mn-ea"/>
                <a:ea typeface="+mn-ea"/>
              </a:rPr>
              <a:t> </a:t>
            </a:r>
            <a:r>
              <a:rPr lang="en-US" noProof="1">
                <a:latin typeface="Consolas"/>
              </a:rPr>
              <a:t>id));</a:t>
            </a:r>
          </a:p>
        </p:txBody>
      </p:sp>
    </p:spTree>
    <p:extLst>
      <p:ext uri="{BB962C8B-B14F-4D97-AF65-F5344CB8AC3E}">
        <p14:creationId xmlns:p14="http://schemas.microsoft.com/office/powerpoint/2010/main" val="3021050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  <p:bldP spid="6" grpId="0" build="allAtOnce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301ED-ABB6-D108-2CDE-6E1FDCE1B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02D294F-11ED-9446-B2B9-86623589AB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43802" y="1628173"/>
            <a:ext cx="4250010" cy="194484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4"/>
                </a:solidFill>
              </a:rPr>
              <a:t>Drizzle</a:t>
            </a:r>
            <a:r>
              <a:rPr lang="en-US" sz="2800" dirty="0"/>
              <a:t> and </a:t>
            </a:r>
            <a:r>
              <a:rPr lang="en-US" sz="2800" b="1" dirty="0">
                <a:solidFill>
                  <a:schemeClr val="accent4"/>
                </a:solidFill>
              </a:rPr>
              <a:t>Prisma</a:t>
            </a:r>
            <a:r>
              <a:rPr lang="en-US" sz="2800" dirty="0"/>
              <a:t> are the modern JS ORMs</a:t>
            </a:r>
          </a:p>
          <a:p>
            <a:pPr lvl="1"/>
            <a:r>
              <a:rPr lang="en-US" sz="2600" dirty="0"/>
              <a:t>Best for </a:t>
            </a:r>
            <a:r>
              <a:rPr lang="en-US" sz="2600" b="1" dirty="0">
                <a:solidFill>
                  <a:schemeClr val="accent4"/>
                </a:solidFill>
              </a:rPr>
              <a:t>AI-first </a:t>
            </a:r>
            <a:r>
              <a:rPr lang="en-US" sz="2600" dirty="0"/>
              <a:t>development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465473-3E6F-A71C-8881-15CEDDD5E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4" y="100750"/>
            <a:ext cx="10803414" cy="88265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dirty="0"/>
              <a:t>Popular Node.js ORMs</a:t>
            </a:r>
          </a:p>
        </p:txBody>
      </p:sp>
      <p:sp>
        <p:nvSpPr>
          <p:cNvPr id="2" name="Card Background">
            <a:extLst>
              <a:ext uri="{FF2B5EF4-FFF2-40B4-BE49-F238E27FC236}">
                <a16:creationId xmlns:a16="http://schemas.microsoft.com/office/drawing/2014/main" id="{25819578-97FA-4650-86E3-EF0F75154706}"/>
              </a:ext>
            </a:extLst>
          </p:cNvPr>
          <p:cNvSpPr/>
          <p:nvPr/>
        </p:nvSpPr>
        <p:spPr bwMode="auto">
          <a:xfrm>
            <a:off x="4295800" y="1482130"/>
            <a:ext cx="3113632" cy="2221656"/>
          </a:xfrm>
          <a:prstGeom prst="roundRect">
            <a:avLst>
              <a:gd name="adj" fmla="val 7747"/>
            </a:avLst>
          </a:prstGeom>
          <a:solidFill>
            <a:schemeClr val="accent6">
              <a:lumMod val="50000"/>
              <a:alpha val="25000"/>
            </a:schemeClr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dirty="0"/>
              <a:t>⚡ </a:t>
            </a:r>
            <a:r>
              <a:rPr lang="en-US" sz="3200" b="1" dirty="0">
                <a:solidFill>
                  <a:srgbClr val="FFD999"/>
                </a:solidFill>
              </a:rPr>
              <a:t>Prisma</a:t>
            </a:r>
          </a:p>
          <a:p>
            <a:pPr marL="228600" indent="-228600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Very popular</a:t>
            </a:r>
          </a:p>
          <a:p>
            <a:pPr marL="228600" indent="-228600">
              <a:lnSpc>
                <a:spcPct val="115000"/>
              </a:lnSpc>
              <a:spcBef>
                <a:spcPts val="400"/>
              </a:spcBef>
              <a:buFont typeface="Arial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Code-first schema</a:t>
            </a:r>
          </a:p>
          <a:p>
            <a:pPr marL="228600" indent="-228600">
              <a:lnSpc>
                <a:spcPct val="115000"/>
              </a:lnSpc>
              <a:spcBef>
                <a:spcPts val="400"/>
              </a:spcBef>
              <a:buFont typeface="Arial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Strong types</a:t>
            </a:r>
          </a:p>
        </p:txBody>
      </p:sp>
      <p:sp>
        <p:nvSpPr>
          <p:cNvPr id="3" name="Card Background">
            <a:extLst>
              <a:ext uri="{FF2B5EF4-FFF2-40B4-BE49-F238E27FC236}">
                <a16:creationId xmlns:a16="http://schemas.microsoft.com/office/drawing/2014/main" id="{2AD6E3F2-0DFE-4555-8437-E688B252F48E}"/>
              </a:ext>
            </a:extLst>
          </p:cNvPr>
          <p:cNvSpPr/>
          <p:nvPr/>
        </p:nvSpPr>
        <p:spPr bwMode="auto">
          <a:xfrm>
            <a:off x="551384" y="1482130"/>
            <a:ext cx="3113632" cy="2221656"/>
          </a:xfrm>
          <a:prstGeom prst="roundRect">
            <a:avLst>
              <a:gd name="adj" fmla="val 6542"/>
            </a:avLst>
          </a:prstGeom>
          <a:solidFill>
            <a:schemeClr val="accent6">
              <a:lumMod val="50000"/>
              <a:alpha val="25000"/>
            </a:schemeClr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dirty="0"/>
              <a:t>💧 </a:t>
            </a:r>
            <a:r>
              <a:rPr lang="en-US" sz="3200" b="1" dirty="0">
                <a:solidFill>
                  <a:srgbClr val="FFD999"/>
                </a:solidFill>
              </a:rPr>
              <a:t>Drizzle</a:t>
            </a:r>
          </a:p>
          <a:p>
            <a:pPr marL="228600" indent="-228600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Lightweight</a:t>
            </a:r>
          </a:p>
          <a:p>
            <a:pPr marL="228600" indent="-228600">
              <a:lnSpc>
                <a:spcPct val="115000"/>
              </a:lnSpc>
              <a:spcBef>
                <a:spcPts val="400"/>
              </a:spcBef>
              <a:buFont typeface="Arial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SQL-like API</a:t>
            </a:r>
          </a:p>
          <a:p>
            <a:pPr marL="228600" indent="-228600">
              <a:lnSpc>
                <a:spcPct val="115000"/>
              </a:lnSpc>
              <a:spcBef>
                <a:spcPts val="400"/>
              </a:spcBef>
              <a:buFont typeface="Arial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Serverless-friendly</a:t>
            </a:r>
          </a:p>
        </p:txBody>
      </p:sp>
      <p:sp>
        <p:nvSpPr>
          <p:cNvPr id="4" name="Card Background">
            <a:extLst>
              <a:ext uri="{FF2B5EF4-FFF2-40B4-BE49-F238E27FC236}">
                <a16:creationId xmlns:a16="http://schemas.microsoft.com/office/drawing/2014/main" id="{9DFEDE06-6E11-41D1-8F40-ACE419FA1F81}"/>
              </a:ext>
            </a:extLst>
          </p:cNvPr>
          <p:cNvSpPr/>
          <p:nvPr/>
        </p:nvSpPr>
        <p:spPr bwMode="auto">
          <a:xfrm>
            <a:off x="1326184" y="4202512"/>
            <a:ext cx="3113632" cy="2221656"/>
          </a:xfrm>
          <a:prstGeom prst="roundRect">
            <a:avLst>
              <a:gd name="adj" fmla="val 7667"/>
            </a:avLst>
          </a:prstGeom>
          <a:solidFill>
            <a:schemeClr val="accent6">
              <a:lumMod val="50000"/>
              <a:alpha val="25000"/>
            </a:schemeClr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dirty="0"/>
              <a:t>🏛️ </a:t>
            </a:r>
            <a:r>
              <a:rPr lang="en-US" sz="3200" b="1" dirty="0">
                <a:solidFill>
                  <a:srgbClr val="FFD999"/>
                </a:solidFill>
              </a:rPr>
              <a:t>TypeORM</a:t>
            </a:r>
          </a:p>
          <a:p>
            <a:pPr marL="228600" indent="-228600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Classic ORM</a:t>
            </a:r>
          </a:p>
          <a:p>
            <a:pPr marL="228600" indent="-228600">
              <a:lnSpc>
                <a:spcPct val="115000"/>
              </a:lnSpc>
              <a:spcBef>
                <a:spcPts val="400"/>
              </a:spcBef>
              <a:buFont typeface="Arial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Active Record</a:t>
            </a:r>
          </a:p>
          <a:p>
            <a:pPr marL="228600" indent="-228600">
              <a:lnSpc>
                <a:spcPct val="115000"/>
              </a:lnSpc>
              <a:spcBef>
                <a:spcPts val="400"/>
              </a:spcBef>
              <a:buFont typeface="Arial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Data Mapper</a:t>
            </a:r>
          </a:p>
        </p:txBody>
      </p:sp>
      <p:sp>
        <p:nvSpPr>
          <p:cNvPr id="8" name="Card Background">
            <a:extLst>
              <a:ext uri="{FF2B5EF4-FFF2-40B4-BE49-F238E27FC236}">
                <a16:creationId xmlns:a16="http://schemas.microsoft.com/office/drawing/2014/main" id="{8B8C9DC6-831B-453C-B95F-C304DB423D1B}"/>
              </a:ext>
            </a:extLst>
          </p:cNvPr>
          <p:cNvSpPr/>
          <p:nvPr/>
        </p:nvSpPr>
        <p:spPr bwMode="auto">
          <a:xfrm>
            <a:off x="5115248" y="4212630"/>
            <a:ext cx="3113632" cy="2211538"/>
          </a:xfrm>
          <a:prstGeom prst="roundRect">
            <a:avLst>
              <a:gd name="adj" fmla="val 7292"/>
            </a:avLst>
          </a:prstGeom>
          <a:solidFill>
            <a:schemeClr val="accent6">
              <a:lumMod val="50000"/>
              <a:alpha val="25000"/>
            </a:schemeClr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dirty="0"/>
              <a:t>📜 </a:t>
            </a:r>
            <a:r>
              <a:rPr lang="en-US" sz="3200" b="1" dirty="0">
                <a:solidFill>
                  <a:srgbClr val="FFD999"/>
                </a:solidFill>
              </a:rPr>
              <a:t>Sequelize</a:t>
            </a:r>
          </a:p>
          <a:p>
            <a:pPr marL="228600" indent="-228600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The oldest</a:t>
            </a:r>
          </a:p>
          <a:p>
            <a:pPr marL="228600" indent="-228600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Very mature</a:t>
            </a:r>
          </a:p>
          <a:p>
            <a:pPr marL="228600" indent="-228600">
              <a:lnSpc>
                <a:spcPct val="115000"/>
              </a:lnSpc>
              <a:spcBef>
                <a:spcPts val="400"/>
              </a:spcBef>
              <a:buFont typeface="Arial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Legacy-oriented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493C4C1-2D71-4E1C-8313-2095FF156DC0}"/>
              </a:ext>
            </a:extLst>
          </p:cNvPr>
          <p:cNvSpPr txBox="1">
            <a:spLocks/>
          </p:cNvSpPr>
          <p:nvPr/>
        </p:nvSpPr>
        <p:spPr>
          <a:xfrm>
            <a:off x="8386576" y="4344986"/>
            <a:ext cx="3457922" cy="1100238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36195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400" b="0" i="0" kern="1200" baseline="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15265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335070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accent4"/>
                </a:solidFill>
              </a:rPr>
              <a:t>Drizzle</a:t>
            </a:r>
            <a:r>
              <a:rPr lang="en-US" sz="2800" dirty="0"/>
              <a:t> is best for </a:t>
            </a:r>
            <a:r>
              <a:rPr lang="en-US" sz="2800" b="1" dirty="0">
                <a:solidFill>
                  <a:schemeClr val="accent4"/>
                </a:solidFill>
              </a:rPr>
              <a:t>serverless</a:t>
            </a:r>
            <a:r>
              <a:rPr lang="en-US" sz="2800" dirty="0"/>
              <a:t> apps</a:t>
            </a:r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393637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2" grpId="0" animBg="1"/>
      <p:bldP spid="4" grpId="0" animBg="1"/>
      <p:bldP spid="8" grpId="0" animBg="1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301ED-ABB6-D108-2CDE-6E1FDCE1B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4618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9D73C2-D5BB-D4BC-AAEA-036BBE5A64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2" y="1196125"/>
            <a:ext cx="11717029" cy="5561125"/>
          </a:xfrm>
        </p:spPr>
        <p:txBody>
          <a:bodyPr>
            <a:noAutofit/>
          </a:bodyPr>
          <a:lstStyle/>
          <a:p>
            <a:pPr marL="266700" indent="-266700">
              <a:spcBef>
                <a:spcPts val="600"/>
              </a:spcBef>
              <a:buFont typeface="Arial"/>
              <a:buChar char="•"/>
            </a:pPr>
            <a:r>
              <a:rPr lang="en-US" sz="3200" b="1" dirty="0">
                <a:solidFill>
                  <a:schemeClr val="accent4"/>
                </a:solidFill>
              </a:rPr>
              <a:t>Drizzle</a:t>
            </a:r>
            <a:r>
              <a:rPr lang="en-US" sz="3200" dirty="0"/>
              <a:t> == TypeScript-first, SQL-like ORM</a:t>
            </a:r>
          </a:p>
          <a:p>
            <a:pPr marL="676275" lvl="1" indent="-314325">
              <a:buFont typeface="Arial"/>
              <a:buChar char="•"/>
            </a:pPr>
            <a:r>
              <a:rPr lang="en-US" dirty="0">
                <a:hlinkClick r:id="rId3"/>
              </a:rPr>
              <a:t>https://orm.drizzle.team</a:t>
            </a:r>
            <a:endParaRPr lang="en-US" dirty="0"/>
          </a:p>
          <a:p>
            <a:pPr marL="676275" lvl="1" indent="-314325">
              <a:buFont typeface="Arial"/>
              <a:buChar char="•"/>
            </a:pPr>
            <a:r>
              <a:rPr lang="en-US" dirty="0"/>
              <a:t>Feels like </a:t>
            </a:r>
            <a:r>
              <a:rPr lang="en-US" b="1" dirty="0">
                <a:solidFill>
                  <a:schemeClr val="accent4"/>
                </a:solidFill>
              </a:rPr>
              <a:t>SQL</a:t>
            </a:r>
            <a:r>
              <a:rPr lang="en-US" dirty="0"/>
              <a:t>, but fully </a:t>
            </a:r>
            <a:r>
              <a:rPr lang="en-US" b="1" dirty="0">
                <a:solidFill>
                  <a:schemeClr val="accent4"/>
                </a:solidFill>
              </a:rPr>
              <a:t>type-safe</a:t>
            </a:r>
          </a:p>
          <a:p>
            <a:pPr marL="676275" lvl="1" indent="-314325">
              <a:buFont typeface="Arial"/>
              <a:buChar char="•"/>
            </a:pPr>
            <a:r>
              <a:rPr lang="en-US" b="1" dirty="0">
                <a:solidFill>
                  <a:schemeClr val="accent4"/>
                </a:solidFill>
              </a:rPr>
              <a:t>Lightweight </a:t>
            </a:r>
            <a:r>
              <a:rPr lang="en-US" dirty="0"/>
              <a:t>(~7 KB runtime), edge-ready</a:t>
            </a:r>
          </a:p>
          <a:p>
            <a:pPr marL="676275" lvl="1" indent="-314325">
              <a:buFont typeface="Arial"/>
              <a:buChar char="•"/>
            </a:pPr>
            <a:r>
              <a:rPr lang="en-US" b="1" dirty="0">
                <a:solidFill>
                  <a:schemeClr val="accent4"/>
                </a:solidFill>
              </a:rPr>
              <a:t>Serverless-friendly</a:t>
            </a:r>
            <a:r>
              <a:rPr lang="en-US" dirty="0"/>
              <a:t>: works with Neon, Vercel, Cloudflare</a:t>
            </a:r>
          </a:p>
          <a:p>
            <a:pPr marL="266700" indent="-266700">
              <a:spcBef>
                <a:spcPts val="1200"/>
              </a:spcBef>
              <a:buFont typeface="Arial"/>
              <a:buChar char="•"/>
            </a:pPr>
            <a:r>
              <a:rPr lang="en-US" sz="3200" dirty="0"/>
              <a:t>Two data access APIs:</a:t>
            </a:r>
          </a:p>
          <a:p>
            <a:pPr marL="676275" lvl="1" indent="-314325">
              <a:buFont typeface="Arial"/>
              <a:buChar char="•"/>
            </a:pPr>
            <a:r>
              <a:rPr lang="en-US" dirty="0"/>
              <a:t>Query API: </a:t>
            </a:r>
            <a:r>
              <a:rPr lang="en-US" b="1" noProof="1">
                <a:solidFill>
                  <a:srgbClr val="FFD999"/>
                </a:solidFill>
              </a:rPr>
              <a:t>db.query.users.findMany()</a:t>
            </a:r>
          </a:p>
          <a:p>
            <a:pPr marL="676275" lvl="1" indent="-314325">
              <a:buFont typeface="Arial"/>
              <a:buChar char="•"/>
            </a:pPr>
            <a:r>
              <a:rPr lang="en-US" dirty="0"/>
              <a:t>Core API: </a:t>
            </a:r>
            <a:r>
              <a:rPr lang="en-US" b="1" noProof="1">
                <a:solidFill>
                  <a:srgbClr val="FFD999"/>
                </a:solidFill>
              </a:rPr>
              <a:t>db.select().from(users)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465473-3E6F-A71C-8881-15CEDDD5E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43" y="100750"/>
            <a:ext cx="10800601" cy="882654"/>
          </a:xfrm>
        </p:spPr>
        <p:txBody>
          <a:bodyPr>
            <a:normAutofit/>
          </a:bodyPr>
          <a:lstStyle/>
          <a:p>
            <a:r>
              <a:rPr lang="en-US" dirty="0"/>
              <a:t>What is Drizzle ORM?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B9B799-AFE7-E57A-6A11-406A28D770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6" t="30060" r="2321" b="27202"/>
          <a:stretch>
            <a:fillRect/>
          </a:stretch>
        </p:blipFill>
        <p:spPr>
          <a:xfrm>
            <a:off x="7680176" y="2028246"/>
            <a:ext cx="3905628" cy="917018"/>
          </a:xfrm>
          <a:prstGeom prst="roundRect">
            <a:avLst>
              <a:gd name="adj" fmla="val 3014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9591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C35FF-43B7-6B2E-9FCA-961E1D5CF7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1" y="1315056"/>
            <a:ext cx="4751931" cy="54421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3200" b="1" dirty="0">
                <a:solidFill>
                  <a:schemeClr val="accent4"/>
                </a:solidFill>
              </a:rPr>
              <a:t>Install</a:t>
            </a:r>
            <a:r>
              <a:rPr lang="en-US" sz="3200" dirty="0"/>
              <a:t> Drizzle + Neon driver</a:t>
            </a:r>
          </a:p>
          <a:p>
            <a:pPr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3200" b="1" dirty="0">
                <a:solidFill>
                  <a:schemeClr val="accent4"/>
                </a:solidFill>
              </a:rPr>
              <a:t>Connect</a:t>
            </a:r>
            <a:r>
              <a:rPr lang="en-US" sz="3200" dirty="0"/>
              <a:t> to Neon by DB connection string</a:t>
            </a:r>
          </a:p>
          <a:p>
            <a:pPr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3200" dirty="0"/>
              <a:t>The </a:t>
            </a:r>
            <a:r>
              <a:rPr lang="en-US" sz="3200" b="1" dirty="0">
                <a:solidFill>
                  <a:schemeClr val="accent4"/>
                </a:solidFill>
              </a:rPr>
              <a:t>db</a:t>
            </a:r>
            <a:r>
              <a:rPr lang="en-US" sz="3200" dirty="0"/>
              <a:t> object is </a:t>
            </a:r>
            <a:r>
              <a:rPr lang="en-US" sz="3200" b="1" dirty="0">
                <a:solidFill>
                  <a:schemeClr val="accent4"/>
                </a:solidFill>
              </a:rPr>
              <a:t>type-safe</a:t>
            </a:r>
            <a:r>
              <a:rPr lang="en-US" sz="3200" dirty="0"/>
              <a:t> and ready to use</a:t>
            </a:r>
          </a:p>
          <a:p>
            <a:pPr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3200" dirty="0"/>
              <a:t>Works in </a:t>
            </a:r>
            <a:r>
              <a:rPr lang="en-US" sz="3200" b="1" dirty="0">
                <a:solidFill>
                  <a:schemeClr val="accent4"/>
                </a:solidFill>
              </a:rPr>
              <a:t>Node</a:t>
            </a:r>
            <a:r>
              <a:rPr lang="en-US" sz="3200" dirty="0"/>
              <a:t>,</a:t>
            </a:r>
            <a:r>
              <a:rPr lang="en-US" sz="3200" b="1" dirty="0">
                <a:solidFill>
                  <a:schemeClr val="accent4"/>
                </a:solidFill>
              </a:rPr>
              <a:t> edge</a:t>
            </a:r>
            <a:r>
              <a:rPr lang="en-US" sz="3200" dirty="0"/>
              <a:t>, and</a:t>
            </a:r>
            <a:r>
              <a:rPr lang="en-US" sz="3200" b="1" dirty="0">
                <a:solidFill>
                  <a:schemeClr val="accent4"/>
                </a:solidFill>
              </a:rPr>
              <a:t> serverless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and Connecting Drizzle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299461E-3473-216D-EB53-F97AAEF6763A}"/>
              </a:ext>
            </a:extLst>
          </p:cNvPr>
          <p:cNvSpPr txBox="1">
            <a:spLocks/>
          </p:cNvSpPr>
          <p:nvPr/>
        </p:nvSpPr>
        <p:spPr>
          <a:xfrm>
            <a:off x="5447928" y="1315056"/>
            <a:ext cx="6376757" cy="1776622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 noProof="1">
                <a:solidFill>
                  <a:srgbClr val="98D8CB"/>
                </a:solidFill>
                <a:latin typeface="Consolas"/>
              </a:rPr>
              <a:t>// Install Drizzle + Neon</a:t>
            </a:r>
          </a:p>
          <a:p>
            <a:pPr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noProof="1">
                <a:latin typeface="Consolas"/>
              </a:rPr>
              <a:t>npm install </a:t>
            </a:r>
            <a:r>
              <a:rPr lang="en-US" sz="2400" noProof="1">
                <a:solidFill>
                  <a:schemeClr val="accent4"/>
                </a:solidFill>
                <a:latin typeface="Consolas"/>
              </a:rPr>
              <a:t>drizzle-orm</a:t>
            </a:r>
            <a:r>
              <a:rPr lang="en-US" sz="2400" noProof="1">
                <a:latin typeface="Consolas"/>
              </a:rPr>
              <a:t> </a:t>
            </a:r>
            <a:r>
              <a:rPr lang="en-US" sz="2400" noProof="1">
                <a:solidFill>
                  <a:schemeClr val="accent4"/>
                </a:solidFill>
                <a:latin typeface="Consolas"/>
              </a:rPr>
              <a:t>@neondatabase/serverless</a:t>
            </a:r>
          </a:p>
          <a:p>
            <a:pPr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noProof="1">
                <a:latin typeface="Consolas"/>
              </a:rPr>
              <a:t>npm install -D </a:t>
            </a:r>
            <a:r>
              <a:rPr lang="en-US" sz="2400" noProof="1">
                <a:solidFill>
                  <a:schemeClr val="accent4"/>
                </a:solidFill>
                <a:latin typeface="Consolas"/>
              </a:rPr>
              <a:t>drizzle-kit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2AD0F28-4AA3-F832-31D0-0CB157C00977}"/>
              </a:ext>
            </a:extLst>
          </p:cNvPr>
          <p:cNvSpPr txBox="1">
            <a:spLocks/>
          </p:cNvSpPr>
          <p:nvPr/>
        </p:nvSpPr>
        <p:spPr>
          <a:xfrm>
            <a:off x="5447928" y="3343402"/>
            <a:ext cx="6376757" cy="3253950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 noProof="1">
                <a:solidFill>
                  <a:srgbClr val="98D8CB"/>
                </a:solidFill>
                <a:latin typeface="Consolas"/>
              </a:rPr>
              <a:t>// Connect to Neon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noProof="1">
                <a:solidFill>
                  <a:schemeClr val="accent4"/>
                </a:solidFill>
                <a:latin typeface="Consolas"/>
              </a:rPr>
              <a:t>import</a:t>
            </a:r>
            <a:r>
              <a:rPr lang="en-US" sz="2400" noProof="1">
                <a:latin typeface="Consolas"/>
              </a:rPr>
              <a:t> { neon } </a:t>
            </a:r>
            <a:r>
              <a:rPr lang="en-US" sz="2400" noProof="1">
                <a:solidFill>
                  <a:schemeClr val="accent4"/>
                </a:solidFill>
                <a:latin typeface="Consolas"/>
              </a:rPr>
              <a:t>from</a:t>
            </a:r>
            <a:br>
              <a:rPr lang="en-US" sz="2400" noProof="1">
                <a:solidFill>
                  <a:schemeClr val="accent4"/>
                </a:solidFill>
                <a:latin typeface="Consolas"/>
              </a:rPr>
            </a:br>
            <a:r>
              <a:rPr lang="en-US" sz="2400" noProof="1">
                <a:solidFill>
                  <a:schemeClr val="accent4"/>
                </a:solidFill>
                <a:latin typeface="Consolas"/>
              </a:rPr>
              <a:t>  </a:t>
            </a:r>
            <a:r>
              <a:rPr lang="en-US" sz="2400" noProof="1">
                <a:solidFill>
                  <a:srgbClr val="98D8CB"/>
                </a:solidFill>
                <a:latin typeface="Consolas"/>
              </a:rPr>
              <a:t>"@neondatabase/serverless"</a:t>
            </a:r>
            <a:r>
              <a:rPr lang="en-US" sz="2400" noProof="1">
                <a:latin typeface="Consolas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chemeClr val="accent4"/>
                </a:solidFill>
                <a:latin typeface="Consolas"/>
              </a:rPr>
              <a:t>import</a:t>
            </a:r>
            <a:r>
              <a:rPr lang="en-US" sz="2400" noProof="1">
                <a:latin typeface="Consolas"/>
              </a:rPr>
              <a:t> { drizzle } </a:t>
            </a:r>
            <a:r>
              <a:rPr lang="en-US" sz="2400" b="1" noProof="1">
                <a:solidFill>
                  <a:schemeClr val="accent4"/>
                </a:solidFill>
                <a:latin typeface="Consolas"/>
              </a:rPr>
              <a:t>from</a:t>
            </a:r>
            <a:br>
              <a:rPr lang="en-US" sz="2400" noProof="1">
                <a:latin typeface="Consolas"/>
              </a:rPr>
            </a:br>
            <a:r>
              <a:rPr lang="en-US" sz="2400" noProof="1">
                <a:latin typeface="Consolas"/>
              </a:rPr>
              <a:t>  </a:t>
            </a:r>
            <a:r>
              <a:rPr lang="en-US" sz="2400" noProof="1">
                <a:solidFill>
                  <a:srgbClr val="98D8CB"/>
                </a:solidFill>
                <a:latin typeface="Consolas"/>
              </a:rPr>
              <a:t>"drizzle-orm/neon-http"</a:t>
            </a:r>
            <a:r>
              <a:rPr lang="en-US" sz="2400" noProof="1">
                <a:latin typeface="Consolas"/>
              </a:rPr>
              <a:t>;</a:t>
            </a:r>
          </a:p>
          <a:p>
            <a:pPr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chemeClr val="accent4"/>
                </a:solidFill>
                <a:latin typeface="Consolas"/>
              </a:rPr>
              <a:t>const</a:t>
            </a:r>
            <a:r>
              <a:rPr lang="en-US" sz="2400" noProof="1">
                <a:latin typeface="Consolas"/>
              </a:rPr>
              <a:t> neonDb = </a:t>
            </a:r>
            <a:r>
              <a:rPr lang="en-US" sz="2400" noProof="1">
                <a:solidFill>
                  <a:schemeClr val="accent4"/>
                </a:solidFill>
                <a:latin typeface="Consolas"/>
              </a:rPr>
              <a:t>neon</a:t>
            </a:r>
            <a:r>
              <a:rPr lang="en-US" sz="2400" noProof="1">
                <a:latin typeface="Consolas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noProof="1">
                <a:latin typeface="Consolas"/>
              </a:rPr>
              <a:t>  process.env.DATABASE_URL!);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400" b="1" noProof="1">
                <a:solidFill>
                  <a:schemeClr val="accent4"/>
                </a:solidFill>
                <a:latin typeface="Consolas"/>
              </a:rPr>
              <a:t>export</a:t>
            </a:r>
            <a:r>
              <a:rPr lang="en-US" sz="2400" noProof="1">
                <a:latin typeface="Consolas"/>
              </a:rPr>
              <a:t> </a:t>
            </a:r>
            <a:r>
              <a:rPr lang="en-US" sz="2400" b="1" noProof="1">
                <a:solidFill>
                  <a:schemeClr val="accent4"/>
                </a:solidFill>
                <a:latin typeface="Consolas"/>
              </a:rPr>
              <a:t>const</a:t>
            </a:r>
            <a:r>
              <a:rPr lang="en-US" sz="2400" noProof="1">
                <a:latin typeface="Consolas"/>
              </a:rPr>
              <a:t> db = </a:t>
            </a:r>
            <a:r>
              <a:rPr lang="en-US" sz="2400" noProof="1">
                <a:solidFill>
                  <a:schemeClr val="accent4"/>
                </a:solidFill>
                <a:latin typeface="Consolas"/>
              </a:rPr>
              <a:t>drizzle</a:t>
            </a:r>
            <a:r>
              <a:rPr lang="en-US" sz="2400" noProof="1">
                <a:latin typeface="Consolas"/>
              </a:rPr>
              <a:t>(neonDb);</a:t>
            </a:r>
          </a:p>
        </p:txBody>
      </p:sp>
    </p:spTree>
    <p:extLst>
      <p:ext uri="{BB962C8B-B14F-4D97-AF65-F5344CB8AC3E}">
        <p14:creationId xmlns:p14="http://schemas.microsoft.com/office/powerpoint/2010/main" val="3737921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  <p:bldP spid="6" grpId="0" uiExpand="1" build="allAtOnce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Drizzle Schema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299461E-3473-216D-EB53-F97AAEF6763A}"/>
              </a:ext>
            </a:extLst>
          </p:cNvPr>
          <p:cNvSpPr txBox="1">
            <a:spLocks/>
          </p:cNvSpPr>
          <p:nvPr/>
        </p:nvSpPr>
        <p:spPr>
          <a:xfrm>
            <a:off x="457681" y="1412776"/>
            <a:ext cx="11298410" cy="4998017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chemeClr val="accent4"/>
                </a:solidFill>
                <a:latin typeface="Consolas"/>
              </a:rPr>
              <a:t>import</a:t>
            </a:r>
            <a:r>
              <a:rPr lang="en-US" sz="2400" noProof="1">
                <a:latin typeface="Consolas"/>
              </a:rPr>
              <a:t> { pgTable, serial, text, timestamp }</a:t>
            </a:r>
            <a:br>
              <a:rPr lang="en-US" sz="2400" noProof="1">
                <a:latin typeface="Consolas"/>
              </a:rPr>
            </a:br>
            <a:r>
              <a:rPr lang="en-US" sz="2400" b="1" noProof="1">
                <a:solidFill>
                  <a:schemeClr val="accent4"/>
                </a:solidFill>
                <a:latin typeface="Consolas"/>
              </a:rPr>
              <a:t>from</a:t>
            </a:r>
            <a:r>
              <a:rPr lang="en-US" sz="2400" noProof="1">
                <a:latin typeface="Consolas"/>
              </a:rPr>
              <a:t> </a:t>
            </a:r>
            <a:r>
              <a:rPr lang="en-US" sz="2400" noProof="1">
                <a:solidFill>
                  <a:srgbClr val="98D8CB"/>
                </a:solidFill>
                <a:latin typeface="Consolas"/>
              </a:rPr>
              <a:t>"drizzle-orm/pg-core"</a:t>
            </a:r>
            <a:r>
              <a:rPr lang="en-US" sz="2400" noProof="1">
                <a:latin typeface="Consolas"/>
              </a:rPr>
              <a:t>;</a:t>
            </a:r>
          </a:p>
          <a:p>
            <a:pPr>
              <a:spcBef>
                <a:spcPts val="0"/>
              </a:spcBef>
              <a:buNone/>
            </a:pPr>
            <a:endParaRPr lang="en-US" sz="2400" dirty="0"/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noProof="1">
                <a:latin typeface="Consolas"/>
              </a:rPr>
              <a:t>export const </a:t>
            </a:r>
            <a:r>
              <a:rPr lang="en-US" sz="2400" noProof="1">
                <a:solidFill>
                  <a:schemeClr val="accent4"/>
                </a:solidFill>
                <a:latin typeface="Consolas"/>
              </a:rPr>
              <a:t>posts</a:t>
            </a:r>
            <a:r>
              <a:rPr lang="en-US" sz="2400" noProof="1">
                <a:latin typeface="Consolas"/>
              </a:rPr>
              <a:t> = pgTable(</a:t>
            </a:r>
            <a:r>
              <a:rPr lang="en-US" sz="2400" noProof="1">
                <a:solidFill>
                  <a:srgbClr val="98D8CB"/>
                </a:solidFill>
                <a:latin typeface="Consolas"/>
              </a:rPr>
              <a:t>"posts"</a:t>
            </a:r>
            <a:r>
              <a:rPr lang="en-US" sz="2400" noProof="1">
                <a:latin typeface="Consolas"/>
              </a:rPr>
              <a:t>,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noProof="1">
                <a:latin typeface="Consolas"/>
              </a:rPr>
              <a:t>  </a:t>
            </a:r>
            <a:r>
              <a:rPr lang="en-US" sz="2400" noProof="1">
                <a:solidFill>
                  <a:schemeClr val="accent4"/>
                </a:solidFill>
                <a:latin typeface="Consolas"/>
              </a:rPr>
              <a:t>id</a:t>
            </a:r>
            <a:r>
              <a:rPr lang="en-US" sz="2400" noProof="1">
                <a:latin typeface="Consolas"/>
              </a:rPr>
              <a:t>: serial(</a:t>
            </a:r>
            <a:r>
              <a:rPr lang="en-US" sz="2400" noProof="1">
                <a:solidFill>
                  <a:srgbClr val="98D8CB"/>
                </a:solidFill>
                <a:latin typeface="Consolas"/>
              </a:rPr>
              <a:t>"id"</a:t>
            </a:r>
            <a:r>
              <a:rPr lang="en-US" sz="2400" noProof="1">
                <a:latin typeface="Consolas"/>
              </a:rPr>
              <a:t>).primaryKey(),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noProof="1">
                <a:latin typeface="Consolas"/>
              </a:rPr>
              <a:t>  </a:t>
            </a:r>
            <a:r>
              <a:rPr lang="en-US" sz="2400" noProof="1">
                <a:solidFill>
                  <a:schemeClr val="accent4"/>
                </a:solidFill>
                <a:latin typeface="Consolas"/>
              </a:rPr>
              <a:t>title</a:t>
            </a:r>
            <a:r>
              <a:rPr lang="en-US" sz="2400" noProof="1">
                <a:latin typeface="Consolas"/>
              </a:rPr>
              <a:t>: text(</a:t>
            </a:r>
            <a:r>
              <a:rPr lang="en-US" sz="2400" noProof="1">
                <a:solidFill>
                  <a:srgbClr val="98D8CB"/>
                </a:solidFill>
                <a:latin typeface="Consolas"/>
              </a:rPr>
              <a:t>"title"</a:t>
            </a:r>
            <a:r>
              <a:rPr lang="en-US" sz="2400" noProof="1">
                <a:latin typeface="Consolas"/>
              </a:rPr>
              <a:t>).notNull(),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noProof="1">
                <a:latin typeface="Consolas"/>
              </a:rPr>
              <a:t>  </a:t>
            </a:r>
            <a:r>
              <a:rPr lang="en-US" sz="2400" noProof="1">
                <a:solidFill>
                  <a:schemeClr val="accent4"/>
                </a:solidFill>
                <a:latin typeface="Consolas"/>
              </a:rPr>
              <a:t>content</a:t>
            </a:r>
            <a:r>
              <a:rPr lang="en-US" sz="2400" noProof="1">
                <a:latin typeface="Consolas"/>
              </a:rPr>
              <a:t>: text(</a:t>
            </a:r>
            <a:r>
              <a:rPr lang="en-US" sz="2400" noProof="1">
                <a:solidFill>
                  <a:srgbClr val="98D8CB"/>
                </a:solidFill>
                <a:latin typeface="Consolas"/>
              </a:rPr>
              <a:t>"content"</a:t>
            </a:r>
            <a:r>
              <a:rPr lang="en-US" sz="2400" noProof="1">
                <a:latin typeface="Consolas"/>
              </a:rPr>
              <a:t>),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noProof="1">
                <a:latin typeface="Consolas"/>
              </a:rPr>
              <a:t>  </a:t>
            </a:r>
            <a:r>
              <a:rPr lang="en-US" sz="2400" noProof="1">
                <a:solidFill>
                  <a:schemeClr val="accent4"/>
                </a:solidFill>
                <a:latin typeface="Consolas"/>
              </a:rPr>
              <a:t>createdAt</a:t>
            </a:r>
            <a:r>
              <a:rPr lang="en-US" sz="2400" noProof="1">
                <a:latin typeface="Consolas"/>
              </a:rPr>
              <a:t>: timestamp(</a:t>
            </a:r>
            <a:r>
              <a:rPr lang="en-US" sz="2400" noProof="1">
                <a:solidFill>
                  <a:srgbClr val="98D8CB"/>
                </a:solidFill>
                <a:latin typeface="Consolas"/>
              </a:rPr>
              <a:t>"created_at"</a:t>
            </a:r>
            <a:r>
              <a:rPr lang="en-US" sz="2400" noProof="1">
                <a:latin typeface="Consolas"/>
              </a:rPr>
              <a:t>).defaultNow(),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noProof="1">
                <a:latin typeface="Consolas"/>
              </a:rPr>
              <a:t>});</a:t>
            </a:r>
          </a:p>
          <a:p>
            <a:pPr>
              <a:spcBef>
                <a:spcPts val="0"/>
              </a:spcBef>
              <a:buNone/>
            </a:pPr>
            <a:endParaRPr lang="en-US" sz="2400" dirty="0"/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 noProof="1">
                <a:solidFill>
                  <a:srgbClr val="98D8CB"/>
                </a:solidFill>
                <a:latin typeface="Consolas"/>
              </a:rPr>
              <a:t>// Types inferred automatically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noProof="1">
                <a:latin typeface="Consolas"/>
              </a:rPr>
              <a:t>type </a:t>
            </a:r>
            <a:r>
              <a:rPr lang="en-US" sz="2400" noProof="1">
                <a:solidFill>
                  <a:schemeClr val="accent4"/>
                </a:solidFill>
                <a:latin typeface="Consolas"/>
              </a:rPr>
              <a:t>Post</a:t>
            </a:r>
            <a:r>
              <a:rPr lang="en-US" sz="2400" noProof="1">
                <a:latin typeface="Consolas"/>
              </a:rPr>
              <a:t> = </a:t>
            </a:r>
            <a:r>
              <a:rPr lang="en-US" sz="2400" b="1" noProof="1">
                <a:solidFill>
                  <a:schemeClr val="accent4"/>
                </a:solidFill>
                <a:latin typeface="Consolas"/>
              </a:rPr>
              <a:t>typeof</a:t>
            </a:r>
            <a:r>
              <a:rPr lang="en-US" sz="2400" noProof="1">
                <a:latin typeface="Consolas"/>
              </a:rPr>
              <a:t> posts.$inferSelect;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noProof="1">
                <a:latin typeface="Consolas"/>
              </a:rPr>
              <a:t>type </a:t>
            </a:r>
            <a:r>
              <a:rPr lang="en-US" sz="2400" noProof="1">
                <a:solidFill>
                  <a:schemeClr val="accent4"/>
                </a:solidFill>
                <a:latin typeface="Consolas"/>
              </a:rPr>
              <a:t>NewPost</a:t>
            </a:r>
            <a:r>
              <a:rPr lang="en-US" sz="2400" noProof="1">
                <a:latin typeface="Consolas"/>
              </a:rPr>
              <a:t> = </a:t>
            </a:r>
            <a:r>
              <a:rPr lang="en-US" sz="2400" b="1" noProof="1">
                <a:solidFill>
                  <a:schemeClr val="accent4"/>
                </a:solidFill>
                <a:latin typeface="Consolas"/>
              </a:rPr>
              <a:t>typeof</a:t>
            </a:r>
            <a:r>
              <a:rPr lang="en-US" sz="2400" noProof="1">
                <a:latin typeface="Consolas"/>
              </a:rPr>
              <a:t> posts.$inferInsert;</a:t>
            </a:r>
          </a:p>
        </p:txBody>
      </p:sp>
    </p:spTree>
    <p:extLst>
      <p:ext uri="{BB962C8B-B14F-4D97-AF65-F5344CB8AC3E}">
        <p14:creationId xmlns:p14="http://schemas.microsoft.com/office/powerpoint/2010/main" val="2897062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377" end="3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377" end="3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C35FF-43B7-6B2E-9FCA-961E1D5CF7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1" y="1196125"/>
            <a:ext cx="11564150" cy="5561125"/>
          </a:xfrm>
        </p:spPr>
        <p:txBody>
          <a:bodyPr>
            <a:normAutofit/>
          </a:bodyPr>
          <a:lstStyle/>
          <a:p>
            <a:pPr marL="357188" indent="-357188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3200" b="1" dirty="0">
                <a:solidFill>
                  <a:schemeClr val="accent4"/>
                </a:solidFill>
              </a:rPr>
              <a:t>Migration</a:t>
            </a:r>
            <a:r>
              <a:rPr lang="en-US" sz="3200" dirty="0"/>
              <a:t> == </a:t>
            </a:r>
            <a:r>
              <a:rPr lang="en-US" sz="3200" b="1" dirty="0">
                <a:solidFill>
                  <a:schemeClr val="accent4"/>
                </a:solidFill>
              </a:rPr>
              <a:t>versioned change</a:t>
            </a:r>
            <a:r>
              <a:rPr lang="en-US" sz="3200" dirty="0"/>
              <a:t> to the DB schema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Drizzle Migrations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299461E-3473-216D-EB53-F97AAEF6763A}"/>
              </a:ext>
            </a:extLst>
          </p:cNvPr>
          <p:cNvSpPr txBox="1">
            <a:spLocks/>
          </p:cNvSpPr>
          <p:nvPr/>
        </p:nvSpPr>
        <p:spPr>
          <a:xfrm>
            <a:off x="5375920" y="2060848"/>
            <a:ext cx="6264696" cy="100718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noProof="1">
                <a:solidFill>
                  <a:srgbClr val="98D8CB"/>
                </a:solidFill>
                <a:latin typeface="Consolas"/>
              </a:rPr>
              <a:t># </a:t>
            </a:r>
            <a:r>
              <a:rPr lang="en-US" i="1" noProof="1">
                <a:solidFill>
                  <a:srgbClr val="98D8CB"/>
                </a:solidFill>
                <a:latin typeface="+mn-ea"/>
                <a:ea typeface="+mn-ea"/>
              </a:rPr>
              <a:t>Generate migration from schema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1">
                <a:latin typeface="Consolas"/>
              </a:rPr>
              <a:t>npx drizzle-kit generate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A73B47-E793-C76A-0482-604734A10BF6}"/>
              </a:ext>
            </a:extLst>
          </p:cNvPr>
          <p:cNvSpPr txBox="1">
            <a:spLocks/>
          </p:cNvSpPr>
          <p:nvPr/>
        </p:nvSpPr>
        <p:spPr>
          <a:xfrm>
            <a:off x="5375920" y="3357923"/>
            <a:ext cx="6264696" cy="100718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noProof="1">
                <a:solidFill>
                  <a:srgbClr val="98D8CB"/>
                </a:solidFill>
                <a:latin typeface="Consolas"/>
              </a:rPr>
              <a:t># </a:t>
            </a:r>
            <a:r>
              <a:rPr lang="en-US" i="1" noProof="1">
                <a:solidFill>
                  <a:srgbClr val="98D8CB"/>
                </a:solidFill>
                <a:latin typeface="+mn-ea"/>
                <a:ea typeface="+mn-ea"/>
              </a:rPr>
              <a:t>Apply pending migrations to DB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1">
                <a:latin typeface="Consolas"/>
              </a:rPr>
              <a:t>npx drizzle-kit migrate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B4D53C9-1C1B-7768-5DF1-287717FEBCE4}"/>
              </a:ext>
            </a:extLst>
          </p:cNvPr>
          <p:cNvSpPr txBox="1">
            <a:spLocks/>
          </p:cNvSpPr>
          <p:nvPr/>
        </p:nvSpPr>
        <p:spPr>
          <a:xfrm>
            <a:off x="5375920" y="4654067"/>
            <a:ext cx="6264696" cy="100718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noProof="1">
                <a:solidFill>
                  <a:srgbClr val="98D8CB"/>
                </a:solidFill>
                <a:latin typeface="Consolas"/>
              </a:rPr>
              <a:t># </a:t>
            </a:r>
            <a:r>
              <a:rPr lang="en-US" i="1" noProof="1">
                <a:solidFill>
                  <a:srgbClr val="98D8CB"/>
                </a:solidFill>
                <a:latin typeface="+mn-ea"/>
                <a:ea typeface="+mn-ea"/>
              </a:rPr>
              <a:t>Push schema directly to DB (dev only)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1">
                <a:latin typeface="Consolas"/>
              </a:rPr>
              <a:t>npx drizzle-kit push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C119274-EDC4-1307-229E-ED9A8DAE129E}"/>
              </a:ext>
            </a:extLst>
          </p:cNvPr>
          <p:cNvSpPr txBox="1">
            <a:spLocks/>
          </p:cNvSpPr>
          <p:nvPr/>
        </p:nvSpPr>
        <p:spPr>
          <a:xfrm>
            <a:off x="191941" y="1988839"/>
            <a:ext cx="4967955" cy="4320481"/>
          </a:xfrm>
          <a:prstGeom prst="rect">
            <a:avLst/>
          </a:prstGeom>
        </p:spPr>
        <p:txBody>
          <a:bodyPr vert="horz" lIns="108000" tIns="36000" rIns="108000" bIns="36000" rtlCol="0">
            <a:normAutofit fontScale="92500"/>
          </a:bodyPr>
          <a:lstStyle>
            <a:lvl1pPr marL="36195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400" b="0" i="0" kern="1200" baseline="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15265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335070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3200" b="1" dirty="0">
                <a:solidFill>
                  <a:schemeClr val="accent4"/>
                </a:solidFill>
              </a:rPr>
              <a:t>Generate</a:t>
            </a:r>
            <a:r>
              <a:rPr lang="en-US" sz="3200" dirty="0"/>
              <a:t> migrations from schema changes (auto)</a:t>
            </a:r>
          </a:p>
          <a:p>
            <a:pPr marL="357188" indent="-357188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3200" b="1" dirty="0">
                <a:solidFill>
                  <a:schemeClr val="accent4"/>
                </a:solidFill>
              </a:rPr>
              <a:t>Migrate</a:t>
            </a:r>
            <a:r>
              <a:rPr lang="en-US" sz="3200" dirty="0"/>
              <a:t> – apply pending migrations to DB</a:t>
            </a:r>
          </a:p>
          <a:p>
            <a:pPr marL="357188" indent="-357188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3200" b="1" dirty="0">
                <a:solidFill>
                  <a:schemeClr val="accent4"/>
                </a:solidFill>
              </a:rPr>
              <a:t>Push</a:t>
            </a:r>
            <a:r>
              <a:rPr lang="en-US" sz="3200" dirty="0"/>
              <a:t> – dev only, change history is not preserved</a:t>
            </a:r>
          </a:p>
          <a:p>
            <a:pPr marL="357188" indent="-357188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3200" dirty="0"/>
              <a:t>Files in </a:t>
            </a:r>
            <a:r>
              <a:rPr lang="en-US" sz="3200" b="1" dirty="0">
                <a:solidFill>
                  <a:schemeClr val="accent4"/>
                </a:solidFill>
              </a:rPr>
              <a:t>/drizzle</a:t>
            </a:r>
            <a:r>
              <a:rPr lang="en-US" sz="3200" dirty="0"/>
              <a:t>, committed to </a:t>
            </a:r>
            <a:r>
              <a:rPr lang="en-US" sz="3200" b="1" dirty="0">
                <a:solidFill>
                  <a:schemeClr val="accent4"/>
                </a:solidFill>
              </a:rPr>
              <a:t>Git</a:t>
            </a:r>
          </a:p>
        </p:txBody>
      </p:sp>
    </p:spTree>
    <p:extLst>
      <p:ext uri="{BB962C8B-B14F-4D97-AF65-F5344CB8AC3E}">
        <p14:creationId xmlns:p14="http://schemas.microsoft.com/office/powerpoint/2010/main" val="4027285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  <p:bldP spid="6" grpId="0" build="allAtOnce" animBg="1"/>
      <p:bldP spid="7" grpId="0" build="allAtOnce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68222A-C7CD-8CD3-85E9-9EC08E039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A11DF52-377C-F1D2-E7E2-E1A308C6F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dirty="0"/>
              <a:t>DB Operations with Drizzle: SQL-Style</a:t>
            </a:r>
            <a:endParaRPr lang="bg-BG" sz="4200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422A7FE6-F793-4818-8790-05959ECC676A}"/>
              </a:ext>
            </a:extLst>
          </p:cNvPr>
          <p:cNvSpPr txBox="1">
            <a:spLocks/>
          </p:cNvSpPr>
          <p:nvPr/>
        </p:nvSpPr>
        <p:spPr>
          <a:xfrm>
            <a:off x="479377" y="1340768"/>
            <a:ext cx="11233248" cy="899459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500" i="1" noProof="1">
                <a:solidFill>
                  <a:schemeClr val="accent6"/>
                </a:solidFill>
              </a:rPr>
              <a:t>// Select all rows from a table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noProof="1"/>
              <a:t>let allPosts = await db.</a:t>
            </a:r>
            <a:r>
              <a:rPr lang="en-US" sz="2400" noProof="1">
                <a:solidFill>
                  <a:schemeClr val="accent4"/>
                </a:solidFill>
              </a:rPr>
              <a:t>select</a:t>
            </a:r>
            <a:r>
              <a:rPr lang="en-US" sz="2400" noProof="1"/>
              <a:t>().</a:t>
            </a:r>
            <a:r>
              <a:rPr lang="en-US" sz="2400" noProof="1">
                <a:solidFill>
                  <a:schemeClr val="accent4"/>
                </a:solidFill>
              </a:rPr>
              <a:t>from</a:t>
            </a:r>
            <a:r>
              <a:rPr lang="en-US" sz="2400" noProof="1"/>
              <a:t>(posts);</a:t>
            </a:r>
            <a:endParaRPr lang="en-US" sz="2500" noProof="1">
              <a:latin typeface="Consola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CE2F94-4DA8-14E5-8154-3A34F81EBD2D}"/>
              </a:ext>
            </a:extLst>
          </p:cNvPr>
          <p:cNvSpPr txBox="1">
            <a:spLocks/>
          </p:cNvSpPr>
          <p:nvPr/>
        </p:nvSpPr>
        <p:spPr>
          <a:xfrm>
            <a:off x="479377" y="3574298"/>
            <a:ext cx="11233248" cy="1299568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500" i="1" noProof="1">
                <a:solidFill>
                  <a:schemeClr val="accent6"/>
                </a:solidFill>
              </a:rPr>
              <a:t>// Insert a new row in a DB table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500" noProof="1"/>
              <a:t>let newPost: NewPost = { title: "Hello", content: "World" };</a:t>
            </a:r>
            <a:br>
              <a:rPr lang="en-US" sz="2500" noProof="1"/>
            </a:br>
            <a:r>
              <a:rPr lang="en-US" sz="2500" noProof="1"/>
              <a:t>await db.</a:t>
            </a:r>
            <a:r>
              <a:rPr lang="en-US" sz="2500" noProof="1">
                <a:solidFill>
                  <a:schemeClr val="accent4"/>
                </a:solidFill>
              </a:rPr>
              <a:t>insert</a:t>
            </a:r>
            <a:r>
              <a:rPr lang="en-US" sz="2500" noProof="1"/>
              <a:t>(posts).</a:t>
            </a:r>
            <a:r>
              <a:rPr lang="en-US" sz="2500" noProof="1">
                <a:solidFill>
                  <a:schemeClr val="accent4"/>
                </a:solidFill>
              </a:rPr>
              <a:t>values</a:t>
            </a:r>
            <a:r>
              <a:rPr lang="en-US" sz="2500" noProof="1"/>
              <a:t>(newPost);</a:t>
            </a:r>
            <a:endParaRPr lang="en-US" sz="2500" noProof="1">
              <a:latin typeface="Consolas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386164A-4598-E3FB-DF19-310480FEBE48}"/>
              </a:ext>
            </a:extLst>
          </p:cNvPr>
          <p:cNvSpPr txBox="1">
            <a:spLocks/>
          </p:cNvSpPr>
          <p:nvPr/>
        </p:nvSpPr>
        <p:spPr>
          <a:xfrm>
            <a:off x="479377" y="2457533"/>
            <a:ext cx="11233248" cy="899459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500" i="1" noProof="1">
                <a:solidFill>
                  <a:schemeClr val="accent6"/>
                </a:solidFill>
              </a:rPr>
              <a:t>// Select rows by filter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noProof="1"/>
              <a:t>let post = await db.</a:t>
            </a:r>
            <a:r>
              <a:rPr lang="en-US" sz="2400" noProof="1">
                <a:solidFill>
                  <a:schemeClr val="accent4"/>
                </a:solidFill>
              </a:rPr>
              <a:t>select</a:t>
            </a:r>
            <a:r>
              <a:rPr lang="en-US" sz="2400" noProof="1"/>
              <a:t>().</a:t>
            </a:r>
            <a:r>
              <a:rPr lang="en-US" sz="2400" noProof="1">
                <a:solidFill>
                  <a:schemeClr val="accent4"/>
                </a:solidFill>
              </a:rPr>
              <a:t>from</a:t>
            </a:r>
            <a:r>
              <a:rPr lang="en-US" sz="2400" noProof="1"/>
              <a:t>(posts).</a:t>
            </a:r>
            <a:r>
              <a:rPr lang="en-US" sz="2400" noProof="1">
                <a:solidFill>
                  <a:schemeClr val="accent4"/>
                </a:solidFill>
              </a:rPr>
              <a:t>where</a:t>
            </a:r>
            <a:r>
              <a:rPr lang="en-US" sz="2400" noProof="1"/>
              <a:t>(eq(posts.id, 1));</a:t>
            </a:r>
            <a:endParaRPr lang="en-US" sz="2500" noProof="1">
              <a:latin typeface="Consolas"/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3F5C168-BAD8-600C-E867-7285A4221A3B}"/>
              </a:ext>
            </a:extLst>
          </p:cNvPr>
          <p:cNvSpPr txBox="1">
            <a:spLocks/>
          </p:cNvSpPr>
          <p:nvPr/>
        </p:nvSpPr>
        <p:spPr>
          <a:xfrm>
            <a:off x="479377" y="5091172"/>
            <a:ext cx="11233248" cy="1299568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500" i="1" noProof="1">
                <a:solidFill>
                  <a:schemeClr val="accent6"/>
                </a:solidFill>
              </a:rPr>
              <a:t>// Update a row by 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500" noProof="1"/>
              <a:t>await db.</a:t>
            </a:r>
            <a:r>
              <a:rPr lang="en-US" sz="2500" noProof="1">
                <a:solidFill>
                  <a:schemeClr val="accent4"/>
                </a:solidFill>
              </a:rPr>
              <a:t>update</a:t>
            </a:r>
            <a:r>
              <a:rPr lang="en-US" sz="2500" noProof="1"/>
              <a:t>(posts).</a:t>
            </a:r>
            <a:r>
              <a:rPr lang="en-US" sz="2500" noProof="1">
                <a:solidFill>
                  <a:schemeClr val="accent4"/>
                </a:solidFill>
              </a:rPr>
              <a:t>set</a:t>
            </a:r>
            <a:r>
              <a:rPr lang="en-US" sz="2500" noProof="1"/>
              <a:t>({ title: "Updated title" })  .</a:t>
            </a:r>
            <a:r>
              <a:rPr lang="en-US" sz="2500" noProof="1">
                <a:solidFill>
                  <a:schemeClr val="accent4"/>
                </a:solidFill>
              </a:rPr>
              <a:t>where</a:t>
            </a:r>
            <a:r>
              <a:rPr lang="en-US" sz="2500" noProof="1"/>
              <a:t>(eq(posts.id, 1));</a:t>
            </a:r>
            <a:endParaRPr lang="en-US" sz="2500" noProof="1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043743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 animBg="1"/>
      <p:bldP spid="8" grpId="0" build="allAtOnce" animBg="1"/>
      <p:bldP spid="9" grpId="0" build="allAtOnce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643CDE-8E68-9C4B-FB91-24D4665A30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6537" y="1556533"/>
            <a:ext cx="10958928" cy="1296403"/>
          </a:xfrm>
        </p:spPr>
        <p:txBody>
          <a:bodyPr/>
          <a:lstStyle/>
          <a:p>
            <a:r>
              <a:rPr lang="en-US" dirty="0"/>
              <a:t>Console App + Neon DB + Drizzle ORM + Migrations + Seed Data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940597-DAE4-91AA-835D-40DD830B3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207" y="560385"/>
            <a:ext cx="11024081" cy="780383"/>
          </a:xfrm>
        </p:spPr>
        <p:txBody>
          <a:bodyPr/>
          <a:lstStyle/>
          <a:p>
            <a:r>
              <a:rPr lang="en-US" sz="4800" dirty="0"/>
              <a:t>Exercise: Countries and Towns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17ECD-EE28-34AE-1128-57A5041596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E1577793-81B7-7E14-F9F3-F903C3B80049}"/>
              </a:ext>
            </a:extLst>
          </p:cNvPr>
          <p:cNvPicPr>
            <a:picLocks noGrp="1" noChangeAspect="1"/>
          </p:cNvPicPr>
          <p:nvPr>
            <p:ph type="pic" idx="12"/>
          </p:nvPr>
        </p:nvPicPr>
        <p:blipFill>
          <a:blip r:embed="rId2"/>
          <a:srcRect l="226" r="226"/>
          <a:stretch>
            <a:fillRect/>
          </a:stretch>
        </p:blipFill>
        <p:spPr>
          <a:xfrm>
            <a:off x="413441" y="3295100"/>
            <a:ext cx="6273981" cy="3014220"/>
          </a:xfrm>
          <a:prstGeom prst="roundRect">
            <a:avLst>
              <a:gd name="adj" fmla="val 833"/>
            </a:avLst>
          </a:prstGeom>
          <a:ln>
            <a:solidFill>
              <a:schemeClr val="bg1">
                <a:lumMod val="75000"/>
              </a:schemeClr>
            </a:solidFill>
          </a:ln>
          <a:effectLst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8A542B6-1783-E1BC-E4C3-94F08A384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557" y="3295100"/>
            <a:ext cx="4721067" cy="3014220"/>
          </a:xfrm>
          <a:prstGeom prst="roundRect">
            <a:avLst>
              <a:gd name="adj" fmla="val 833"/>
            </a:avLst>
          </a:prstGeom>
          <a:ln>
            <a:solidFill>
              <a:schemeClr val="bg1">
                <a:lumMod val="75000"/>
              </a:schemeClr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487862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301ED-ABB6-D108-2CDE-6E1FDCE1B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4618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9D73C2-D5BB-D4BC-AAEA-036BBE5A64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2" y="1196125"/>
            <a:ext cx="8175543" cy="5561125"/>
          </a:xfrm>
        </p:spPr>
        <p:txBody>
          <a:bodyPr>
            <a:noAutofit/>
          </a:bodyPr>
          <a:lstStyle/>
          <a:p>
            <a:pPr marL="357188" indent="-357188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3200" dirty="0"/>
              <a:t>We want to build a simple </a:t>
            </a:r>
            <a:r>
              <a:rPr lang="en-US" sz="3200" b="1" dirty="0">
                <a:solidFill>
                  <a:schemeClr val="accent4"/>
                </a:solidFill>
              </a:rPr>
              <a:t>console app</a:t>
            </a:r>
            <a:r>
              <a:rPr lang="en-US" sz="3200" dirty="0"/>
              <a:t>:</a:t>
            </a:r>
          </a:p>
          <a:p>
            <a:pPr marL="676275" lvl="1" indent="-228600">
              <a:lnSpc>
                <a:spcPct val="100000"/>
              </a:lnSpc>
              <a:buFont typeface="Arial"/>
              <a:buChar char="•"/>
            </a:pPr>
            <a:r>
              <a:rPr lang="en-US" sz="2800" dirty="0"/>
              <a:t>Manage </a:t>
            </a:r>
            <a:r>
              <a:rPr lang="en-US" sz="2800" b="1" dirty="0">
                <a:solidFill>
                  <a:schemeClr val="accent4"/>
                </a:solidFill>
              </a:rPr>
              <a:t>countries </a:t>
            </a:r>
            <a:r>
              <a:rPr lang="en-US" sz="2800" dirty="0"/>
              <a:t>holding</a:t>
            </a:r>
            <a:r>
              <a:rPr lang="en-US" sz="2800" b="1" dirty="0">
                <a:solidFill>
                  <a:schemeClr val="accent4"/>
                </a:solidFill>
              </a:rPr>
              <a:t> towns</a:t>
            </a:r>
          </a:p>
          <a:p>
            <a:pPr marL="676275" lvl="1" indent="-228600">
              <a:lnSpc>
                <a:spcPct val="100000"/>
              </a:lnSpc>
              <a:buFont typeface="Arial"/>
              <a:buChar char="•"/>
            </a:pPr>
            <a:r>
              <a:rPr lang="en-US" sz="2800" dirty="0"/>
              <a:t>View / add / edit / delete countries + towns</a:t>
            </a:r>
          </a:p>
          <a:p>
            <a:pPr marL="676275" lvl="1" indent="-228600">
              <a:lnSpc>
                <a:spcPct val="100000"/>
              </a:lnSpc>
              <a:buFont typeface="Arial"/>
              <a:buChar char="•"/>
            </a:pPr>
            <a:r>
              <a:rPr lang="en-US" sz="2800" dirty="0"/>
              <a:t>Use </a:t>
            </a:r>
            <a:r>
              <a:rPr lang="en-US" sz="2800" b="1" dirty="0">
                <a:solidFill>
                  <a:schemeClr val="accent4"/>
                </a:solidFill>
              </a:rPr>
              <a:t>Node.js </a:t>
            </a:r>
            <a:r>
              <a:rPr lang="en-US" sz="2800" dirty="0"/>
              <a:t>+ </a:t>
            </a:r>
            <a:r>
              <a:rPr lang="en-US" sz="2800" b="1" dirty="0">
                <a:solidFill>
                  <a:schemeClr val="accent4"/>
                </a:solidFill>
              </a:rPr>
              <a:t>Neon DB </a:t>
            </a:r>
            <a:r>
              <a:rPr lang="en-US" sz="2800" dirty="0"/>
              <a:t>+ </a:t>
            </a:r>
            <a:r>
              <a:rPr lang="en-US" sz="2800" b="1" dirty="0">
                <a:solidFill>
                  <a:schemeClr val="accent4"/>
                </a:solidFill>
              </a:rPr>
              <a:t>Drizzle ORM</a:t>
            </a:r>
          </a:p>
          <a:p>
            <a:pPr marL="357188" indent="-357188">
              <a:lnSpc>
                <a:spcPct val="100000"/>
              </a:lnSpc>
              <a:spcBef>
                <a:spcPts val="1200"/>
              </a:spcBef>
              <a:buFont typeface="Arial"/>
              <a:buChar char="•"/>
            </a:pPr>
            <a:r>
              <a:rPr lang="en-US" sz="3200" b="1" dirty="0">
                <a:solidFill>
                  <a:srgbClr val="FFD999"/>
                </a:solidFill>
              </a:rPr>
              <a:t>Database tables</a:t>
            </a:r>
            <a:r>
              <a:rPr lang="en-US" sz="3200" b="1" dirty="0"/>
              <a:t> </a:t>
            </a:r>
            <a:r>
              <a:rPr lang="en-US" sz="3200" dirty="0"/>
              <a:t>in Neon DB:</a:t>
            </a:r>
          </a:p>
          <a:p>
            <a:pPr marL="714375" lvl="1" indent="-269875">
              <a:lnSpc>
                <a:spcPct val="100000"/>
              </a:lnSpc>
              <a:spcBef>
                <a:spcPts val="400"/>
              </a:spcBef>
            </a:pPr>
            <a:r>
              <a:rPr lang="en-US" sz="2800" b="1" noProof="1">
                <a:solidFill>
                  <a:schemeClr val="accent4"/>
                </a:solidFill>
              </a:rPr>
              <a:t>countries</a:t>
            </a:r>
            <a:r>
              <a:rPr lang="en-US" sz="2800" dirty="0"/>
              <a:t> (id, name)</a:t>
            </a:r>
          </a:p>
          <a:p>
            <a:pPr marL="714375" lvl="1" indent="-269875">
              <a:lnSpc>
                <a:spcPct val="100000"/>
              </a:lnSpc>
              <a:spcBef>
                <a:spcPts val="400"/>
              </a:spcBef>
            </a:pPr>
            <a:r>
              <a:rPr lang="en-US" sz="2800" b="1" noProof="1">
                <a:solidFill>
                  <a:schemeClr val="accent4"/>
                </a:solidFill>
              </a:rPr>
              <a:t>towns</a:t>
            </a:r>
            <a:r>
              <a:rPr lang="en-US" sz="2800" dirty="0"/>
              <a:t> (id, name, </a:t>
            </a:r>
            <a:r>
              <a:rPr lang="en-US" sz="2800" noProof="1"/>
              <a:t>countryId → countries.id</a:t>
            </a:r>
            <a:r>
              <a:rPr lang="en-US" sz="2800" dirty="0"/>
              <a:t>)</a:t>
            </a:r>
          </a:p>
          <a:p>
            <a:pPr marL="357188" indent="-357188">
              <a:lnSpc>
                <a:spcPct val="100000"/>
              </a:lnSpc>
              <a:spcBef>
                <a:spcPts val="1200"/>
              </a:spcBef>
            </a:pPr>
            <a:r>
              <a:rPr lang="en-US" sz="3200" dirty="0"/>
              <a:t>Use </a:t>
            </a:r>
            <a:r>
              <a:rPr lang="en-US" sz="3200" b="1" dirty="0">
                <a:solidFill>
                  <a:schemeClr val="accent4"/>
                </a:solidFill>
              </a:rPr>
              <a:t>Neon MCP </a:t>
            </a:r>
            <a:r>
              <a:rPr lang="en-US" sz="3200" dirty="0"/>
              <a:t>to handle interactions with the database</a:t>
            </a:r>
          </a:p>
          <a:p>
            <a:pPr marL="87313" indent="-306388">
              <a:lnSpc>
                <a:spcPct val="100000"/>
              </a:lnSpc>
              <a:spcBef>
                <a:spcPts val="400"/>
              </a:spcBef>
            </a:pPr>
            <a:endParaRPr lang="en-US" sz="30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465473-3E6F-A71C-8881-15CEDDD5E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43" y="100750"/>
            <a:ext cx="10800601" cy="882654"/>
          </a:xfrm>
        </p:spPr>
        <p:txBody>
          <a:bodyPr>
            <a:normAutofit/>
          </a:bodyPr>
          <a:lstStyle/>
          <a:p>
            <a:r>
              <a:rPr lang="en-US"/>
              <a:t>Console App: Countries and Towns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DF13396-F018-F000-CB35-9E8C19F8A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687" y="1346307"/>
            <a:ext cx="3600400" cy="2298717"/>
          </a:xfrm>
          <a:prstGeom prst="roundRect">
            <a:avLst>
              <a:gd name="adj" fmla="val 1440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CEA575-6584-D3FE-1C4B-7F5CCB954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4687" y="3803336"/>
            <a:ext cx="2273570" cy="2818762"/>
          </a:xfrm>
          <a:prstGeom prst="roundRect">
            <a:avLst>
              <a:gd name="adj" fmla="val 1440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8090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FA8CE-340A-07CC-5FFD-D95F35B38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58AA40-1D6F-29F6-8C65-7F3F09515F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9D40045-221F-DCC3-FE8C-7E9952CBC6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" y="1195388"/>
            <a:ext cx="11811000" cy="5562600"/>
          </a:xfrm>
        </p:spPr>
        <p:txBody>
          <a:bodyPr>
            <a:noAutofit/>
          </a:bodyPr>
          <a:lstStyle/>
          <a:p>
            <a:pPr>
              <a:lnSpc>
                <a:spcPct val="97000"/>
              </a:lnSpc>
            </a:pPr>
            <a:r>
              <a:rPr lang="en-US" dirty="0"/>
              <a:t>Sample </a:t>
            </a:r>
            <a:r>
              <a:rPr lang="en-US" b="1" dirty="0">
                <a:solidFill>
                  <a:schemeClr val="accent4"/>
                </a:solidFill>
              </a:rPr>
              <a:t>steps</a:t>
            </a:r>
            <a:r>
              <a:rPr lang="en-US" dirty="0"/>
              <a:t> to build the app:</a:t>
            </a:r>
          </a:p>
          <a:p>
            <a:pPr lvl="1">
              <a:lnSpc>
                <a:spcPct val="97000"/>
              </a:lnSpc>
            </a:pPr>
            <a:r>
              <a:rPr lang="en-US" dirty="0"/>
              <a:t>Create </a:t>
            </a:r>
            <a:r>
              <a:rPr lang="en-US" b="1" dirty="0">
                <a:solidFill>
                  <a:schemeClr val="accent4"/>
                </a:solidFill>
              </a:rPr>
              <a:t>Neon DB</a:t>
            </a:r>
            <a:r>
              <a:rPr lang="en-US" dirty="0"/>
              <a:t>, connect </a:t>
            </a:r>
            <a:r>
              <a:rPr lang="en-US" b="1" dirty="0">
                <a:solidFill>
                  <a:schemeClr val="accent4"/>
                </a:solidFill>
              </a:rPr>
              <a:t>Neon MCP</a:t>
            </a:r>
            <a:r>
              <a:rPr lang="en-US" dirty="0"/>
              <a:t>, define </a:t>
            </a:r>
            <a:r>
              <a:rPr lang="en-US" b="1" dirty="0">
                <a:solidFill>
                  <a:schemeClr val="accent4"/>
                </a:solidFill>
              </a:rPr>
              <a:t>AGENTS.md</a:t>
            </a:r>
          </a:p>
          <a:p>
            <a:pPr lvl="1">
              <a:lnSpc>
                <a:spcPct val="97000"/>
              </a:lnSpc>
            </a:pPr>
            <a:r>
              <a:rPr lang="en-US" dirty="0"/>
              <a:t>Install and configure </a:t>
            </a:r>
            <a:r>
              <a:rPr lang="en-US" b="1" dirty="0">
                <a:solidFill>
                  <a:schemeClr val="accent4"/>
                </a:solidFill>
              </a:rPr>
              <a:t>Drizzle ORM </a:t>
            </a:r>
            <a:r>
              <a:rPr lang="en-US" dirty="0"/>
              <a:t>+ </a:t>
            </a:r>
            <a:r>
              <a:rPr lang="en-US" b="1" dirty="0">
                <a:solidFill>
                  <a:schemeClr val="accent4"/>
                </a:solidFill>
              </a:rPr>
              <a:t>DB connection</a:t>
            </a:r>
          </a:p>
          <a:p>
            <a:pPr lvl="1">
              <a:lnSpc>
                <a:spcPct val="97000"/>
              </a:lnSpc>
            </a:pPr>
            <a:r>
              <a:rPr lang="en-US" b="1" dirty="0">
                <a:solidFill>
                  <a:schemeClr val="accent4"/>
                </a:solidFill>
              </a:rPr>
              <a:t>Create DB schema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/>
              <a:t>(Drizzle migration)</a:t>
            </a:r>
            <a:endParaRPr lang="en-US" b="1" dirty="0"/>
          </a:p>
          <a:p>
            <a:pPr lvl="1">
              <a:lnSpc>
                <a:spcPct val="97000"/>
              </a:lnSpc>
            </a:pPr>
            <a:r>
              <a:rPr lang="en-US" b="1" dirty="0">
                <a:solidFill>
                  <a:schemeClr val="accent4"/>
                </a:solidFill>
              </a:rPr>
              <a:t>Seed sample data</a:t>
            </a:r>
            <a:r>
              <a:rPr lang="en-US" dirty="0"/>
              <a:t> (Node.js script)</a:t>
            </a:r>
            <a:endParaRPr lang="en-US" b="1" dirty="0">
              <a:solidFill>
                <a:schemeClr val="accent4"/>
              </a:solidFill>
            </a:endParaRPr>
          </a:p>
          <a:p>
            <a:pPr lvl="2">
              <a:lnSpc>
                <a:spcPct val="97000"/>
              </a:lnSpc>
            </a:pPr>
            <a:r>
              <a:rPr lang="en-US" dirty="0"/>
              <a:t>3 countries + 5-10 towns each</a:t>
            </a:r>
          </a:p>
          <a:p>
            <a:pPr lvl="1">
              <a:lnSpc>
                <a:spcPct val="97000"/>
              </a:lnSpc>
            </a:pPr>
            <a:r>
              <a:rPr lang="en-US" dirty="0"/>
              <a:t>Implement </a:t>
            </a:r>
            <a:r>
              <a:rPr lang="en-US" b="1" dirty="0">
                <a:solidFill>
                  <a:schemeClr val="accent4"/>
                </a:solidFill>
              </a:rPr>
              <a:t>app logic</a:t>
            </a:r>
            <a:r>
              <a:rPr lang="en-US" dirty="0"/>
              <a:t>: </a:t>
            </a:r>
          </a:p>
          <a:p>
            <a:pPr lvl="2">
              <a:lnSpc>
                <a:spcPct val="97000"/>
              </a:lnSpc>
            </a:pPr>
            <a:r>
              <a:rPr lang="en-US" dirty="0"/>
              <a:t>Print all countries with their towns</a:t>
            </a:r>
          </a:p>
          <a:p>
            <a:pPr lvl="2">
              <a:lnSpc>
                <a:spcPct val="97000"/>
              </a:lnSpc>
            </a:pPr>
            <a:r>
              <a:rPr lang="en-US" dirty="0"/>
              <a:t>Add / edit / delete towns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94BAFEB-4EFE-9CA4-E780-DB71B8969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4" y="100750"/>
            <a:ext cx="10803414" cy="882654"/>
          </a:xfrm>
        </p:spPr>
        <p:txBody>
          <a:bodyPr>
            <a:normAutofit/>
          </a:bodyPr>
          <a:lstStyle/>
          <a:p>
            <a:r>
              <a:rPr lang="en-US" dirty="0"/>
              <a:t>Implementing the App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BE3C51-DC00-5B26-729F-B7C45D4A4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184" y="3905202"/>
            <a:ext cx="4003253" cy="2555923"/>
          </a:xfrm>
          <a:prstGeom prst="roundRect">
            <a:avLst>
              <a:gd name="adj" fmla="val 1440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1451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75978-95E5-FE2D-CCB5-1ACB0C4B5D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4" y="1196126"/>
            <a:ext cx="6049612" cy="64869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dirty="0"/>
              <a:t>🤖 Use </a:t>
            </a:r>
            <a:r>
              <a:rPr lang="en-US" sz="3200" b="1" dirty="0">
                <a:solidFill>
                  <a:srgbClr val="FFD999"/>
                </a:solidFill>
              </a:rPr>
              <a:t>AI prompt</a:t>
            </a:r>
            <a:r>
              <a:rPr lang="en-US" sz="3200" dirty="0"/>
              <a:t>:</a:t>
            </a:r>
            <a:endParaRPr lang="en-US" sz="3200" b="1" dirty="0">
              <a:solidFill>
                <a:srgbClr val="FFD999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Create VS Code Project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48F223-4C2F-32F9-ABF5-4A6D157B7C8A}"/>
              </a:ext>
            </a:extLst>
          </p:cNvPr>
          <p:cNvSpPr txBox="1">
            <a:spLocks/>
          </p:cNvSpPr>
          <p:nvPr/>
        </p:nvSpPr>
        <p:spPr>
          <a:xfrm>
            <a:off x="611317" y="1964893"/>
            <a:ext cx="5535483" cy="1708398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lnSpc>
                <a:spcPct val="120000"/>
              </a:lnSpc>
            </a:pPr>
            <a:r>
              <a:rPr lang="en-US" b="0" dirty="0">
                <a:latin typeface="+mn-lt"/>
              </a:rPr>
              <a:t>Initialize a new </a:t>
            </a:r>
            <a:r>
              <a:rPr lang="en-US" dirty="0">
                <a:solidFill>
                  <a:schemeClr val="accent4"/>
                </a:solidFill>
                <a:latin typeface="+mn-lt"/>
              </a:rPr>
              <a:t>Node.js project</a:t>
            </a:r>
            <a:r>
              <a:rPr lang="en-US" b="0" dirty="0">
                <a:latin typeface="+mn-lt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b="0" dirty="0">
                <a:latin typeface="+mn-lt"/>
              </a:rPr>
              <a:t>Install packages: </a:t>
            </a:r>
            <a:r>
              <a:rPr lang="en-US" dirty="0">
                <a:solidFill>
                  <a:schemeClr val="accent4"/>
                </a:solidFill>
                <a:latin typeface="+mn-lt"/>
              </a:rPr>
              <a:t>Drizzle ORM </a:t>
            </a:r>
            <a:r>
              <a:rPr lang="en-US" b="0" dirty="0">
                <a:latin typeface="+mn-lt"/>
              </a:rPr>
              <a:t>+ </a:t>
            </a:r>
            <a:r>
              <a:rPr lang="en-US" dirty="0">
                <a:solidFill>
                  <a:schemeClr val="accent4"/>
                </a:solidFill>
                <a:latin typeface="+mn-lt"/>
              </a:rPr>
              <a:t>Neon DB driver</a:t>
            </a:r>
            <a:r>
              <a:rPr lang="en-US" b="0" dirty="0">
                <a:latin typeface="+mn-lt"/>
              </a:rPr>
              <a:t>.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07D4EF1-1EA1-B93B-766A-F582ACB712A3}"/>
              </a:ext>
            </a:extLst>
          </p:cNvPr>
          <p:cNvSpPr txBox="1">
            <a:spLocks/>
          </p:cNvSpPr>
          <p:nvPr/>
        </p:nvSpPr>
        <p:spPr>
          <a:xfrm>
            <a:off x="190404" y="3854025"/>
            <a:ext cx="6049612" cy="610220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36195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400" b="0" i="0" kern="1200" baseline="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15265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335070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3200" dirty="0"/>
              <a:t>🖥️ Or </a:t>
            </a:r>
            <a:r>
              <a:rPr lang="en-US" sz="3200" b="1" dirty="0">
                <a:solidFill>
                  <a:srgbClr val="FFD999"/>
                </a:solidFill>
              </a:rPr>
              <a:t>Terminal commands</a:t>
            </a:r>
            <a:r>
              <a:rPr lang="en-US" sz="3200" dirty="0"/>
              <a:t>: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E79416A-9590-6930-8674-0F90D2DD8AFA}"/>
              </a:ext>
            </a:extLst>
          </p:cNvPr>
          <p:cNvSpPr txBox="1">
            <a:spLocks/>
          </p:cNvSpPr>
          <p:nvPr/>
        </p:nvSpPr>
        <p:spPr>
          <a:xfrm>
            <a:off x="611317" y="4625679"/>
            <a:ext cx="5535483" cy="576293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r>
              <a:rPr lang="en-US" noProof="1"/>
              <a:t>npm init -y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22EB096-EC0D-51F2-3612-C26CD593ED3B}"/>
              </a:ext>
            </a:extLst>
          </p:cNvPr>
          <p:cNvSpPr txBox="1">
            <a:spLocks/>
          </p:cNvSpPr>
          <p:nvPr/>
        </p:nvSpPr>
        <p:spPr>
          <a:xfrm>
            <a:off x="611317" y="5446155"/>
            <a:ext cx="5535483" cy="100718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r>
              <a:rPr lang="en-US" noProof="1"/>
              <a:t>npm install drizzle-orm @neondatabase/serverless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AE2C7C9-F71C-F14A-9674-7B0C9D80F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841" y="1309579"/>
            <a:ext cx="3604281" cy="2586489"/>
          </a:xfrm>
          <a:prstGeom prst="roundRect">
            <a:avLst>
              <a:gd name="adj" fmla="val 1440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5CA522-9EEB-5192-77B7-5891FABFC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2841" y="4129326"/>
            <a:ext cx="3604279" cy="2467724"/>
          </a:xfrm>
          <a:prstGeom prst="roundRect">
            <a:avLst>
              <a:gd name="adj" fmla="val 1440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8553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build="allAtOnce" animBg="1"/>
      <p:bldP spid="9" grpId="0" build="allAtOnce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C6E7E-2DB6-4F41-B642-F836281D0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99A720-6701-C0B8-8F4E-42F097051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4A658-AFE7-E653-7171-2FCC5AD4F1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" y="1195388"/>
            <a:ext cx="7345660" cy="5562600"/>
          </a:xfrm>
        </p:spPr>
        <p:txBody>
          <a:bodyPr>
            <a:normAutofit/>
          </a:bodyPr>
          <a:lstStyle/>
          <a:p>
            <a:r>
              <a:rPr lang="en-US" dirty="0"/>
              <a:t>Install </a:t>
            </a:r>
            <a:r>
              <a:rPr lang="en-US" b="1" dirty="0">
                <a:solidFill>
                  <a:schemeClr val="accent4"/>
                </a:solidFill>
              </a:rPr>
              <a:t>Neon MCP </a:t>
            </a:r>
            <a:r>
              <a:rPr lang="en-US" dirty="0"/>
              <a:t>in VS Code:</a:t>
            </a:r>
          </a:p>
          <a:p>
            <a:pPr lvl="1"/>
            <a:r>
              <a:rPr lang="en-US" sz="3000" dirty="0"/>
              <a:t>VS Code </a:t>
            </a:r>
            <a:r>
              <a:rPr lang="en-US" sz="3000" dirty="0">
                <a:sym typeface="Wingdings" panose="05000000000000000000" pitchFamily="2" charset="2"/>
              </a:rPr>
              <a:t> Extensions  Search `</a:t>
            </a:r>
            <a:r>
              <a:rPr lang="en-US" sz="3000" b="1" noProof="1">
                <a:solidFill>
                  <a:schemeClr val="accent4"/>
                </a:solidFill>
                <a:sym typeface="Wingdings" panose="05000000000000000000" pitchFamily="2" charset="2"/>
              </a:rPr>
              <a:t>@mcp neon</a:t>
            </a:r>
            <a:r>
              <a:rPr lang="en-US" sz="3000" dirty="0">
                <a:sym typeface="Wingdings" panose="05000000000000000000" pitchFamily="2" charset="2"/>
              </a:rPr>
              <a:t>`  Install in Workspace  Connect Neon DB account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51D7AC1-C34C-1A6E-E8A2-F43A66F85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4" y="100750"/>
            <a:ext cx="10803414" cy="882654"/>
          </a:xfrm>
        </p:spPr>
        <p:txBody>
          <a:bodyPr/>
          <a:lstStyle/>
          <a:p>
            <a:r>
              <a:rPr lang="en-US" dirty="0"/>
              <a:t>Step 2: Install </a:t>
            </a:r>
            <a:r>
              <a:rPr lang="en-US"/>
              <a:t>Neon MCP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A8A0302-520A-24EE-C8C4-617246358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0737" y="1350414"/>
            <a:ext cx="3937033" cy="2516712"/>
          </a:xfrm>
          <a:prstGeom prst="roundRect">
            <a:avLst>
              <a:gd name="adj" fmla="val 1541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2AB1DC9-537A-F301-C312-896124531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3686709"/>
            <a:ext cx="4320480" cy="1347434"/>
          </a:xfrm>
          <a:prstGeom prst="roundRect">
            <a:avLst>
              <a:gd name="adj" fmla="val 5945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D6FEB19-DD64-F6F2-8D4D-532CF4D69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60" y="5265846"/>
            <a:ext cx="4729121" cy="1200939"/>
          </a:xfrm>
          <a:prstGeom prst="roundRect">
            <a:avLst>
              <a:gd name="adj" fmla="val 5945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3D9E49C-1472-EE1D-E9DB-42654F0BC8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0737" y="4165122"/>
            <a:ext cx="3937033" cy="1838581"/>
          </a:xfrm>
          <a:prstGeom prst="roundRect">
            <a:avLst>
              <a:gd name="adj" fmla="val 3300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28B49A3-AD4C-CBD6-F8B0-752C48DD43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3837" y="3448118"/>
            <a:ext cx="2316678" cy="3149233"/>
          </a:xfrm>
          <a:prstGeom prst="roundRect">
            <a:avLst>
              <a:gd name="adj" fmla="val 2127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676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2FB20-4BE1-EA08-2D1B-093DC70E7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61A7F8-7F0E-1876-E0A4-F4F0D79F99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8124B-D81D-3DA8-FF28-86E648606F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4" y="1196126"/>
            <a:ext cx="7849812" cy="648698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dirty="0"/>
              <a:t>🤖 Create Neon DB with an </a:t>
            </a:r>
            <a:r>
              <a:rPr lang="en-US" sz="3000" b="1" dirty="0">
                <a:solidFill>
                  <a:srgbClr val="FFD999"/>
                </a:solidFill>
              </a:rPr>
              <a:t>AI prompt</a:t>
            </a:r>
            <a:r>
              <a:rPr lang="en-US" sz="3000" dirty="0"/>
              <a:t>:</a:t>
            </a:r>
            <a:endParaRPr lang="en-US" sz="3000" b="1" dirty="0">
              <a:solidFill>
                <a:srgbClr val="FFD999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07FCA49-38C9-D3F7-0D8A-9A7444D9D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Create the Neon DB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D71D504-8608-F36F-98FA-C66C423C5379}"/>
              </a:ext>
            </a:extLst>
          </p:cNvPr>
          <p:cNvSpPr txBox="1">
            <a:spLocks/>
          </p:cNvSpPr>
          <p:nvPr/>
        </p:nvSpPr>
        <p:spPr>
          <a:xfrm>
            <a:off x="611317" y="1967488"/>
            <a:ext cx="5412675" cy="208292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lnSpc>
                <a:spcPct val="120000"/>
              </a:lnSpc>
            </a:pPr>
            <a:r>
              <a:rPr lang="en-US" sz="2600" b="0" dirty="0">
                <a:latin typeface="+mn-lt"/>
              </a:rPr>
              <a:t>Use Neon MCP to create a </a:t>
            </a:r>
            <a:r>
              <a:rPr lang="en-US" sz="2600" dirty="0">
                <a:solidFill>
                  <a:srgbClr val="FFD999"/>
                </a:solidFill>
                <a:latin typeface="+mn-lt"/>
              </a:rPr>
              <a:t>new Neon project </a:t>
            </a:r>
            <a:r>
              <a:rPr lang="en-US" sz="2600" b="0" dirty="0">
                <a:latin typeface="+mn-lt"/>
              </a:rPr>
              <a:t>called `</a:t>
            </a:r>
            <a:r>
              <a:rPr lang="en-US" sz="2600" noProof="1">
                <a:solidFill>
                  <a:schemeClr val="accent4"/>
                </a:solidFill>
                <a:latin typeface="+mn-lt"/>
              </a:rPr>
              <a:t>CountriesDB</a:t>
            </a:r>
            <a:r>
              <a:rPr lang="en-US" sz="2600" b="0" dirty="0">
                <a:latin typeface="+mn-lt"/>
              </a:rPr>
              <a:t>`.</a:t>
            </a:r>
          </a:p>
          <a:p>
            <a:pPr>
              <a:lnSpc>
                <a:spcPct val="120000"/>
              </a:lnSpc>
            </a:pPr>
            <a:r>
              <a:rPr lang="en-US" sz="2600" b="0" dirty="0">
                <a:latin typeface="+mn-lt"/>
              </a:rPr>
              <a:t>Get the </a:t>
            </a:r>
            <a:r>
              <a:rPr lang="en-US" sz="2600" dirty="0">
                <a:solidFill>
                  <a:srgbClr val="FFD999"/>
                </a:solidFill>
                <a:latin typeface="+mn-lt"/>
              </a:rPr>
              <a:t>DATABASE_URL</a:t>
            </a:r>
            <a:r>
              <a:rPr lang="en-US" sz="2600" dirty="0">
                <a:latin typeface="+mn-lt"/>
              </a:rPr>
              <a:t> </a:t>
            </a:r>
            <a:r>
              <a:rPr lang="en-US" sz="2600" b="0" dirty="0">
                <a:latin typeface="+mn-lt"/>
              </a:rPr>
              <a:t>and save it in a the </a:t>
            </a:r>
            <a:r>
              <a:rPr lang="en-US" sz="2600" dirty="0">
                <a:solidFill>
                  <a:srgbClr val="FFD999"/>
                </a:solidFill>
                <a:latin typeface="+mn-lt"/>
              </a:rPr>
              <a:t>`.env`</a:t>
            </a:r>
            <a:r>
              <a:rPr lang="en-US" sz="2600" dirty="0">
                <a:latin typeface="+mn-lt"/>
              </a:rPr>
              <a:t> </a:t>
            </a:r>
            <a:r>
              <a:rPr lang="en-US" sz="2600" b="0" dirty="0">
                <a:latin typeface="+mn-lt"/>
              </a:rPr>
              <a:t>file.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682954A-2C2D-72C9-DBBC-B9A38CFC8A39}"/>
              </a:ext>
            </a:extLst>
          </p:cNvPr>
          <p:cNvSpPr txBox="1">
            <a:spLocks/>
          </p:cNvSpPr>
          <p:nvPr/>
        </p:nvSpPr>
        <p:spPr>
          <a:xfrm>
            <a:off x="190404" y="4261866"/>
            <a:ext cx="6553668" cy="1262824"/>
          </a:xfrm>
          <a:prstGeom prst="rect">
            <a:avLst/>
          </a:prstGeom>
        </p:spPr>
        <p:txBody>
          <a:bodyPr vert="horz" lIns="108000" tIns="36000" rIns="108000" bIns="36000" rtlCol="0">
            <a:normAutofit fontScale="92500"/>
          </a:bodyPr>
          <a:lstStyle>
            <a:lvl1pPr marL="36195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400" b="0" i="0" kern="1200" baseline="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15265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335070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3200" dirty="0"/>
              <a:t>🖥️ Or via the </a:t>
            </a:r>
            <a:r>
              <a:rPr lang="en-US" sz="3200" b="1" dirty="0">
                <a:solidFill>
                  <a:srgbClr val="FFD999"/>
                </a:solidFill>
              </a:rPr>
              <a:t>Neon console</a:t>
            </a:r>
            <a:r>
              <a:rPr lang="en-US" sz="3200" dirty="0"/>
              <a:t>:</a:t>
            </a:r>
          </a:p>
          <a:p>
            <a:pPr lvl="1">
              <a:lnSpc>
                <a:spcPct val="100000"/>
              </a:lnSpc>
            </a:pPr>
            <a:r>
              <a:rPr lang="en-US" sz="2900" b="1" dirty="0">
                <a:solidFill>
                  <a:srgbClr val="FFD999"/>
                </a:solidFill>
              </a:rPr>
              <a:t>New Project </a:t>
            </a:r>
            <a:r>
              <a:rPr lang="en-US" sz="2900" dirty="0"/>
              <a:t>→ Name: </a:t>
            </a:r>
            <a:r>
              <a:rPr lang="en-US" sz="2900" b="1" noProof="1">
                <a:solidFill>
                  <a:schemeClr val="accent4"/>
                </a:solidFill>
              </a:rPr>
              <a:t>CountriesDB</a:t>
            </a:r>
            <a:endParaRPr lang="en-US" sz="2900" b="1" dirty="0">
              <a:solidFill>
                <a:srgbClr val="FFD999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7E5C0A-CDF0-ED79-8F84-B34FB6884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29" y="1367493"/>
            <a:ext cx="2978974" cy="2145991"/>
          </a:xfrm>
          <a:prstGeom prst="roundRect">
            <a:avLst>
              <a:gd name="adj" fmla="val 1541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1A1D53-FEAB-D6CD-A0F2-93B98E6B1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096" y="4073414"/>
            <a:ext cx="4928307" cy="2454041"/>
          </a:xfrm>
          <a:prstGeom prst="roundRect">
            <a:avLst>
              <a:gd name="adj" fmla="val 1541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FC194BF-1385-A5DD-5009-7069E6BB1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830" y="1967488"/>
            <a:ext cx="2357318" cy="1541323"/>
          </a:xfrm>
          <a:prstGeom prst="roundRect">
            <a:avLst>
              <a:gd name="adj" fmla="val 3505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86A3B5D4-48EC-E579-701B-47C6226286AC}"/>
              </a:ext>
            </a:extLst>
          </p:cNvPr>
          <p:cNvSpPr txBox="1">
            <a:spLocks/>
          </p:cNvSpPr>
          <p:nvPr/>
        </p:nvSpPr>
        <p:spPr>
          <a:xfrm>
            <a:off x="190404" y="5445224"/>
            <a:ext cx="6377310" cy="1262825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36195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400" b="0" i="0" kern="1200" baseline="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15265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335070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120000"/>
              </a:lnSpc>
              <a:buNone/>
            </a:pPr>
            <a:r>
              <a:rPr lang="bg-BG" sz="3200" dirty="0"/>
              <a:t>⚙️</a:t>
            </a:r>
            <a:r>
              <a:rPr lang="en-US" sz="3200" dirty="0"/>
              <a:t> </a:t>
            </a:r>
            <a:r>
              <a:rPr lang="en-US" sz="3000" dirty="0"/>
              <a:t>Save the </a:t>
            </a:r>
            <a:r>
              <a:rPr lang="en-US" sz="3000" b="1" dirty="0">
                <a:solidFill>
                  <a:srgbClr val="FFD999"/>
                </a:solidFill>
              </a:rPr>
              <a:t>DB connection string</a:t>
            </a:r>
            <a:r>
              <a:rPr lang="en-US" sz="3000" dirty="0"/>
              <a:t> to </a:t>
            </a:r>
            <a:r>
              <a:rPr lang="en-US" sz="3000" dirty="0">
                <a:solidFill>
                  <a:srgbClr val="FFD999"/>
                </a:solidFill>
              </a:rPr>
              <a:t>`</a:t>
            </a:r>
            <a:r>
              <a:rPr lang="en-US" sz="3000" b="1" dirty="0">
                <a:solidFill>
                  <a:srgbClr val="FFD999"/>
                </a:solidFill>
              </a:rPr>
              <a:t>.env</a:t>
            </a:r>
            <a:r>
              <a:rPr lang="en-US" sz="3000" dirty="0">
                <a:solidFill>
                  <a:srgbClr val="FFD999"/>
                </a:solidFill>
              </a:rPr>
              <a:t>`</a:t>
            </a:r>
            <a:r>
              <a:rPr lang="en-US" sz="3000" dirty="0"/>
              <a:t> config file</a:t>
            </a:r>
            <a:endParaRPr lang="en-US" sz="3000" b="1" dirty="0">
              <a:solidFill>
                <a:srgbClr val="FFD999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CA64CE9-AE9A-1A8F-ED80-A46C60D6EE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2184" y="3681241"/>
            <a:ext cx="3941035" cy="1253593"/>
          </a:xfrm>
          <a:prstGeom prst="roundRect">
            <a:avLst>
              <a:gd name="adj" fmla="val 3894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6626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F9F3A2-7EDA-CC50-E098-7E0FC961A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CBA4E-F552-F1FA-9E84-49D00F7CDE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To avoid </a:t>
            </a:r>
            <a:r>
              <a:rPr lang="en-US" sz="3200" b="1" dirty="0">
                <a:solidFill>
                  <a:schemeClr val="accent4"/>
                </a:solidFill>
              </a:rPr>
              <a:t>ambiguity</a:t>
            </a:r>
            <a:r>
              <a:rPr lang="en-US" sz="3200" dirty="0"/>
              <a:t>, in </a:t>
            </a:r>
            <a:r>
              <a:rPr lang="en-US" sz="3200" b="1" dirty="0">
                <a:solidFill>
                  <a:schemeClr val="accent4"/>
                </a:solidFill>
              </a:rPr>
              <a:t>AGENTS.md</a:t>
            </a:r>
            <a:r>
              <a:rPr lang="en-US" sz="3200" dirty="0">
                <a:solidFill>
                  <a:schemeClr val="accent4"/>
                </a:solidFill>
              </a:rPr>
              <a:t> </a:t>
            </a:r>
            <a:r>
              <a:rPr lang="en-US" sz="3200" dirty="0"/>
              <a:t>tell </a:t>
            </a:r>
            <a:r>
              <a:rPr lang="en-US" sz="3200" b="1" dirty="0">
                <a:solidFill>
                  <a:schemeClr val="accent4"/>
                </a:solidFill>
              </a:rPr>
              <a:t>Neon MCP </a:t>
            </a:r>
            <a:r>
              <a:rPr lang="en-US" sz="3200" dirty="0"/>
              <a:t>which database to use</a:t>
            </a:r>
            <a:endParaRPr lang="bg-BG" sz="3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E510CD-F0C5-443C-10DB-4512B4890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4. Configure AGENTS.md</a:t>
            </a:r>
            <a:endParaRPr lang="bg-BG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8CABE6D-EDC9-AC58-DB9E-8CF531B15F6E}"/>
              </a:ext>
            </a:extLst>
          </p:cNvPr>
          <p:cNvGrpSpPr/>
          <p:nvPr/>
        </p:nvGrpSpPr>
        <p:grpSpPr>
          <a:xfrm>
            <a:off x="643056" y="2420888"/>
            <a:ext cx="10945216" cy="2045139"/>
            <a:chOff x="187518" y="4251420"/>
            <a:chExt cx="4091836" cy="2045139"/>
          </a:xfrm>
        </p:grpSpPr>
        <p:sp>
          <p:nvSpPr>
            <p:cNvPr id="6" name="Text Placeholder 5">
              <a:extLst>
                <a:ext uri="{FF2B5EF4-FFF2-40B4-BE49-F238E27FC236}">
                  <a16:creationId xmlns:a16="http://schemas.microsoft.com/office/drawing/2014/main" id="{BAEC7644-0CAE-D5B2-98BC-56920BC71D96}"/>
                </a:ext>
              </a:extLst>
            </p:cNvPr>
            <p:cNvSpPr txBox="1">
              <a:spLocks/>
            </p:cNvSpPr>
            <p:nvPr/>
          </p:nvSpPr>
          <p:spPr>
            <a:xfrm>
              <a:off x="187518" y="4251420"/>
              <a:ext cx="4091836" cy="607071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vert="horz" wrap="square" lIns="144000" tIns="72000" rIns="144000" bIns="72000" rtlCol="0">
              <a:spAutoFit/>
            </a:bodyPr>
            <a:lstStyle>
              <a:defPPr>
                <a:defRPr lang="en-US"/>
              </a:defPPr>
              <a:lvl1pPr indent="0" defTabSz="1218438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bg1"/>
                </a:buClr>
                <a:buFont typeface="Arial" panose="020B0604020202020204" pitchFamily="34" charset="0"/>
                <a:buNone/>
                <a:defRPr sz="2800" b="1" i="0">
                  <a:solidFill>
                    <a:schemeClr val="bg2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Roboto" panose="02000000000000000000" pitchFamily="2" charset="0"/>
                </a:defRPr>
              </a:lvl1pPr>
              <a:lvl2pPr marL="809625" indent="-361950" defTabSz="1218438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Font typeface="Arial" panose="020B0604020202020204" pitchFamily="34" charset="0"/>
                <a:buChar char="•"/>
                <a:defRPr sz="3200" b="0" i="0">
                  <a:solidFill>
                    <a:schemeClr val="bg2"/>
                  </a:solidFill>
                  <a:ea typeface="Roboto" panose="02000000000000000000" pitchFamily="2" charset="0"/>
                  <a:cs typeface="Roboto" panose="02000000000000000000" pitchFamily="2" charset="0"/>
                </a:defRPr>
              </a:lvl2pPr>
              <a:lvl3pPr marL="1257300" indent="-361950" defTabSz="1218438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Font typeface="Arial" panose="020B0604020202020204" pitchFamily="34" charset="0"/>
                <a:buChar char="•"/>
                <a:defRPr sz="3000" b="0" i="0">
                  <a:solidFill>
                    <a:schemeClr val="bg2"/>
                  </a:solidFill>
                  <a:ea typeface="Roboto" panose="02000000000000000000" pitchFamily="2" charset="0"/>
                  <a:cs typeface="Roboto" panose="02000000000000000000" pitchFamily="2" charset="0"/>
                </a:defRPr>
              </a:lvl3pPr>
              <a:lvl4pPr marL="1704975" indent="-361950" defTabSz="1218438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Font typeface="Arial" panose="020B0604020202020204" pitchFamily="34" charset="0"/>
                <a:buChar char="•"/>
                <a:defRPr sz="2800" b="0" i="0">
                  <a:solidFill>
                    <a:schemeClr val="bg2"/>
                  </a:solidFill>
                </a:defRPr>
              </a:lvl4pPr>
              <a:lvl5pPr marL="2152650" indent="-361950" defTabSz="1218438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Font typeface="Arial" panose="020B0604020202020204" pitchFamily="34" charset="0"/>
                <a:buChar char="•"/>
                <a:defRPr sz="2600" b="0" i="0">
                  <a:solidFill>
                    <a:schemeClr val="bg2"/>
                  </a:solidFill>
                </a:defRPr>
              </a:lvl5pPr>
              <a:lvl6pPr marL="3350704" indent="-304610" defTabSz="1218438">
                <a:spcBef>
                  <a:spcPct val="20000"/>
                </a:spcBef>
                <a:buFont typeface="Arial" pitchFamily="34" charset="0"/>
                <a:buChar char="•"/>
                <a:defRPr sz="2665"/>
              </a:lvl6pPr>
              <a:lvl7pPr marL="3959924" indent="-304610" defTabSz="1218438">
                <a:spcBef>
                  <a:spcPct val="20000"/>
                </a:spcBef>
                <a:buFont typeface="Arial" pitchFamily="34" charset="0"/>
                <a:buChar char="•"/>
                <a:defRPr sz="2665"/>
              </a:lvl7pPr>
              <a:lvl8pPr marL="4569143" indent="-304610" defTabSz="1218438">
                <a:spcBef>
                  <a:spcPct val="20000"/>
                </a:spcBef>
                <a:buFont typeface="Arial" pitchFamily="34" charset="0"/>
                <a:buChar char="•"/>
                <a:defRPr sz="2665"/>
              </a:lvl8pPr>
              <a:lvl9pPr marL="5178362" indent="-304610" defTabSz="1218438">
                <a:spcBef>
                  <a:spcPct val="20000"/>
                </a:spcBef>
                <a:buFont typeface="Arial" pitchFamily="34" charset="0"/>
                <a:buChar char="•"/>
                <a:defRPr sz="2665"/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3000" noProof="1">
                  <a:solidFill>
                    <a:schemeClr val="accent4"/>
                  </a:solidFill>
                  <a:latin typeface="Consolas"/>
                </a:rPr>
                <a:t>AGENTS.md</a:t>
              </a:r>
            </a:p>
          </p:txBody>
        </p:sp>
        <p:sp>
          <p:nvSpPr>
            <p:cNvPr id="7" name="Text Placeholder 5">
              <a:extLst>
                <a:ext uri="{FF2B5EF4-FFF2-40B4-BE49-F238E27FC236}">
                  <a16:creationId xmlns:a16="http://schemas.microsoft.com/office/drawing/2014/main" id="{8EEE1288-53D5-A256-DC58-B0679C0F8369}"/>
                </a:ext>
              </a:extLst>
            </p:cNvPr>
            <p:cNvSpPr txBox="1">
              <a:spLocks/>
            </p:cNvSpPr>
            <p:nvPr/>
          </p:nvSpPr>
          <p:spPr>
            <a:xfrm>
              <a:off x="187518" y="4858491"/>
              <a:ext cx="4091836" cy="1438068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vert="horz" wrap="square" lIns="144000" tIns="72000" rIns="144000" bIns="72000" rtlCol="0">
              <a:spAutoFit/>
            </a:bodyPr>
            <a:lstStyle>
              <a:defPPr>
                <a:defRPr lang="en-US"/>
              </a:defPPr>
              <a:lvl1pPr indent="0" defTabSz="1218438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bg1"/>
                </a:buClr>
                <a:buFont typeface="Arial" panose="020B0604020202020204" pitchFamily="34" charset="0"/>
                <a:buNone/>
                <a:defRPr sz="2800" b="1" i="0">
                  <a:solidFill>
                    <a:schemeClr val="bg2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Roboto" panose="02000000000000000000" pitchFamily="2" charset="0"/>
                </a:defRPr>
              </a:lvl1pPr>
              <a:lvl2pPr marL="809625" indent="-361950" defTabSz="1218438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Font typeface="Arial" panose="020B0604020202020204" pitchFamily="34" charset="0"/>
                <a:buChar char="•"/>
                <a:defRPr sz="3200" b="0" i="0">
                  <a:solidFill>
                    <a:schemeClr val="bg2"/>
                  </a:solidFill>
                  <a:ea typeface="Roboto" panose="02000000000000000000" pitchFamily="2" charset="0"/>
                  <a:cs typeface="Roboto" panose="02000000000000000000" pitchFamily="2" charset="0"/>
                </a:defRPr>
              </a:lvl2pPr>
              <a:lvl3pPr marL="1257300" indent="-361950" defTabSz="1218438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Font typeface="Arial" panose="020B0604020202020204" pitchFamily="34" charset="0"/>
                <a:buChar char="•"/>
                <a:defRPr sz="3000" b="0" i="0">
                  <a:solidFill>
                    <a:schemeClr val="bg2"/>
                  </a:solidFill>
                  <a:ea typeface="Roboto" panose="02000000000000000000" pitchFamily="2" charset="0"/>
                  <a:cs typeface="Roboto" panose="02000000000000000000" pitchFamily="2" charset="0"/>
                </a:defRPr>
              </a:lvl3pPr>
              <a:lvl4pPr marL="1704975" indent="-361950" defTabSz="1218438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Font typeface="Arial" panose="020B0604020202020204" pitchFamily="34" charset="0"/>
                <a:buChar char="•"/>
                <a:defRPr sz="2800" b="0" i="0">
                  <a:solidFill>
                    <a:schemeClr val="bg2"/>
                  </a:solidFill>
                </a:defRPr>
              </a:lvl4pPr>
              <a:lvl5pPr marL="2152650" indent="-361950" defTabSz="1218438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Font typeface="Arial" panose="020B0604020202020204" pitchFamily="34" charset="0"/>
                <a:buChar char="•"/>
                <a:defRPr sz="2600" b="0" i="0">
                  <a:solidFill>
                    <a:schemeClr val="bg2"/>
                  </a:solidFill>
                </a:defRPr>
              </a:lvl5pPr>
              <a:lvl6pPr marL="3350704" indent="-304610" defTabSz="1218438">
                <a:spcBef>
                  <a:spcPct val="20000"/>
                </a:spcBef>
                <a:buFont typeface="Arial" pitchFamily="34" charset="0"/>
                <a:buChar char="•"/>
                <a:defRPr sz="2665"/>
              </a:lvl6pPr>
              <a:lvl7pPr marL="3959924" indent="-304610" defTabSz="1218438">
                <a:spcBef>
                  <a:spcPct val="20000"/>
                </a:spcBef>
                <a:buFont typeface="Arial" pitchFamily="34" charset="0"/>
                <a:buChar char="•"/>
                <a:defRPr sz="2665"/>
              </a:lvl7pPr>
              <a:lvl8pPr marL="4569143" indent="-304610" defTabSz="1218438">
                <a:spcBef>
                  <a:spcPct val="20000"/>
                </a:spcBef>
                <a:buFont typeface="Arial" pitchFamily="34" charset="0"/>
                <a:buChar char="•"/>
                <a:defRPr sz="2665"/>
              </a:lvl8pPr>
              <a:lvl9pPr marL="5178362" indent="-304610" defTabSz="1218438">
                <a:spcBef>
                  <a:spcPct val="20000"/>
                </a:spcBef>
                <a:buFont typeface="Arial" pitchFamily="34" charset="0"/>
                <a:buChar char="•"/>
                <a:defRPr sz="2665"/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noProof="1">
                  <a:latin typeface="Consolas"/>
                </a:rPr>
                <a:t># Neon MCP Database Access Rules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noProof="1">
                  <a:latin typeface="Consolas"/>
                </a:rPr>
                <a:t>  - Connect </a:t>
              </a:r>
              <a:r>
                <a:rPr lang="en-US" noProof="1">
                  <a:solidFill>
                    <a:schemeClr val="accent4"/>
                  </a:solidFill>
                  <a:latin typeface="Consolas"/>
                </a:rPr>
                <a:t>Neon MCP </a:t>
              </a:r>
              <a:r>
                <a:rPr lang="en-US" noProof="1">
                  <a:latin typeface="Consolas"/>
                </a:rPr>
                <a:t>only to a database project named `</a:t>
              </a:r>
              <a:r>
                <a:rPr lang="en-US" noProof="1">
                  <a:solidFill>
                    <a:schemeClr val="accent4"/>
                  </a:solidFill>
                  <a:latin typeface="Consolas"/>
                </a:rPr>
                <a:t>CountriesDB</a:t>
              </a:r>
              <a:r>
                <a:rPr lang="en-US" noProof="1">
                  <a:latin typeface="Consolas"/>
                </a:rPr>
                <a:t>` in my Neon account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E7C38AD1-382E-E513-82D4-D15F4F20C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55" y="4725144"/>
            <a:ext cx="10350763" cy="1732932"/>
          </a:xfrm>
          <a:prstGeom prst="roundRect">
            <a:avLst>
              <a:gd name="adj" fmla="val 1541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7196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EB7E97-7E69-5867-DCA1-6AA36896A8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🤖 </a:t>
            </a:r>
            <a:r>
              <a:rPr lang="en-US" sz="3200" b="1" dirty="0">
                <a:solidFill>
                  <a:srgbClr val="FFD999"/>
                </a:solidFill>
              </a:rPr>
              <a:t>AI prompt</a:t>
            </a:r>
            <a:r>
              <a:rPr lang="en-US" sz="3200" dirty="0"/>
              <a:t> for DB tables: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5: Define DB Schema in Drizzle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299461E-3473-216D-EB53-F97AAEF6763A}"/>
              </a:ext>
            </a:extLst>
          </p:cNvPr>
          <p:cNvSpPr txBox="1">
            <a:spLocks/>
          </p:cNvSpPr>
          <p:nvPr/>
        </p:nvSpPr>
        <p:spPr>
          <a:xfrm>
            <a:off x="407369" y="1963344"/>
            <a:ext cx="4896544" cy="4562000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>
                <a:solidFill>
                  <a:schemeClr val="accent4"/>
                </a:solidFill>
                <a:latin typeface="+mn-ea"/>
                <a:ea typeface="+mn-ea"/>
              </a:rPr>
              <a:t>Configure Drizzle </a:t>
            </a:r>
            <a:r>
              <a:rPr lang="en-US" sz="2700" b="0" dirty="0">
                <a:latin typeface="+mn-ea"/>
                <a:ea typeface="+mn-ea"/>
              </a:rPr>
              <a:t>with Neon DB.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800" b="0" dirty="0">
              <a:latin typeface="+mn-ea"/>
              <a:ea typeface="+mn-ea"/>
            </a:endParaRPr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700" b="0" dirty="0">
                <a:latin typeface="+mn-ea"/>
                <a:ea typeface="+mn-ea"/>
              </a:rPr>
              <a:t>Define a </a:t>
            </a:r>
            <a:r>
              <a:rPr lang="en-US" sz="2700" dirty="0">
                <a:solidFill>
                  <a:srgbClr val="FFD999"/>
                </a:solidFill>
                <a:latin typeface="+mn-ea"/>
                <a:ea typeface="+mn-ea"/>
              </a:rPr>
              <a:t>Drizzle schema</a:t>
            </a:r>
            <a:r>
              <a:rPr lang="en-US" sz="2700" dirty="0">
                <a:latin typeface="+mn-ea"/>
                <a:ea typeface="+mn-ea"/>
              </a:rPr>
              <a:t> </a:t>
            </a:r>
            <a:r>
              <a:rPr lang="en-US" sz="2700" b="0" dirty="0">
                <a:latin typeface="+mn-ea"/>
                <a:ea typeface="+mn-ea"/>
              </a:rPr>
              <a:t>with two tables: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700" b="0" dirty="0">
                <a:latin typeface="+mn-ea"/>
                <a:ea typeface="+mn-ea"/>
              </a:rPr>
              <a:t>  -</a:t>
            </a:r>
            <a:r>
              <a:rPr lang="en-US" sz="2700" b="0" dirty="0">
                <a:solidFill>
                  <a:srgbClr val="FFD999"/>
                </a:solidFill>
                <a:latin typeface="+mn-ea"/>
                <a:ea typeface="+mn-ea"/>
              </a:rPr>
              <a:t> </a:t>
            </a:r>
            <a:r>
              <a:rPr lang="en-US" sz="2700" dirty="0">
                <a:solidFill>
                  <a:srgbClr val="FFD999"/>
                </a:solidFill>
                <a:latin typeface="+mn-ea"/>
                <a:ea typeface="+mn-ea"/>
              </a:rPr>
              <a:t>countries</a:t>
            </a:r>
            <a:r>
              <a:rPr lang="en-US" sz="2700" b="0" dirty="0">
                <a:latin typeface="+mn-ea"/>
                <a:ea typeface="+mn-ea"/>
              </a:rPr>
              <a:t> (id, name)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700" b="0" dirty="0">
                <a:latin typeface="+mn-ea"/>
                <a:ea typeface="+mn-ea"/>
              </a:rPr>
              <a:t>  - </a:t>
            </a:r>
            <a:r>
              <a:rPr lang="en-US" sz="2700" dirty="0">
                <a:solidFill>
                  <a:srgbClr val="FFD999"/>
                </a:solidFill>
                <a:latin typeface="+mn-ea"/>
                <a:ea typeface="+mn-ea"/>
              </a:rPr>
              <a:t>towns</a:t>
            </a:r>
            <a:r>
              <a:rPr lang="en-US" sz="2700" b="0" dirty="0">
                <a:latin typeface="+mn-ea"/>
                <a:ea typeface="+mn-ea"/>
              </a:rPr>
              <a:t> (id, name, countryId → countries.id)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800" b="0" dirty="0">
              <a:latin typeface="+mn-ea"/>
              <a:ea typeface="+mn-ea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700" b="0" dirty="0">
                <a:latin typeface="+mn-ea"/>
                <a:ea typeface="+mn-ea"/>
              </a:rPr>
              <a:t>Generate the </a:t>
            </a:r>
            <a:r>
              <a:rPr lang="en-US" sz="2700" dirty="0">
                <a:solidFill>
                  <a:srgbClr val="FFD999"/>
                </a:solidFill>
                <a:latin typeface="+mn-ea"/>
                <a:ea typeface="+mn-ea"/>
              </a:rPr>
              <a:t>initial Drizzle migration</a:t>
            </a:r>
            <a:r>
              <a:rPr lang="en-US" sz="2700" dirty="0">
                <a:latin typeface="+mn-ea"/>
                <a:ea typeface="+mn-ea"/>
              </a:rPr>
              <a:t> </a:t>
            </a:r>
            <a:r>
              <a:rPr lang="en-US" sz="2700" b="0" dirty="0">
                <a:latin typeface="+mn-ea"/>
                <a:ea typeface="+mn-ea"/>
              </a:rPr>
              <a:t>and </a:t>
            </a:r>
            <a:r>
              <a:rPr lang="en-US" sz="2700" dirty="0">
                <a:solidFill>
                  <a:schemeClr val="accent4"/>
                </a:solidFill>
                <a:latin typeface="+mn-ea"/>
                <a:ea typeface="+mn-ea"/>
              </a:rPr>
              <a:t>apply it </a:t>
            </a:r>
            <a:r>
              <a:rPr lang="en-US" sz="2700" b="0" dirty="0">
                <a:latin typeface="+mn-ea"/>
                <a:ea typeface="+mn-ea"/>
              </a:rPr>
              <a:t>to DB.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US" sz="800" b="0" dirty="0">
              <a:latin typeface="+mn-ea"/>
              <a:ea typeface="+mn-ea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700" b="0" dirty="0">
                <a:latin typeface="+mn-ea"/>
                <a:ea typeface="+mn-ea"/>
              </a:rPr>
              <a:t>Verify tables via </a:t>
            </a:r>
            <a:r>
              <a:rPr lang="en-US" sz="2700" dirty="0">
                <a:solidFill>
                  <a:schemeClr val="accent4"/>
                </a:solidFill>
                <a:latin typeface="+mn-ea"/>
                <a:ea typeface="+mn-ea"/>
              </a:rPr>
              <a:t>Neon MCP</a:t>
            </a:r>
            <a:r>
              <a:rPr lang="en-US" sz="2700" b="0" dirty="0">
                <a:latin typeface="+mn-ea"/>
                <a:ea typeface="+mn-ea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ABF5AC-7C04-A8BC-9F58-2D53EF53A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823" y="1391510"/>
            <a:ext cx="6043123" cy="3888432"/>
          </a:xfrm>
          <a:prstGeom prst="roundRect">
            <a:avLst>
              <a:gd name="adj" fmla="val 1541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11D884-F6C8-5D06-4E2C-2B166B198C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688" y="3710763"/>
            <a:ext cx="2895328" cy="2814581"/>
          </a:xfrm>
          <a:prstGeom prst="roundRect">
            <a:avLst>
              <a:gd name="adj" fmla="val 1541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7647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4FAA44-C092-6B38-9BCD-65AA37FE25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3" y="1196125"/>
            <a:ext cx="6870797" cy="5561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🤖 </a:t>
            </a:r>
            <a:r>
              <a:rPr lang="en-US" sz="3000" b="1" dirty="0">
                <a:solidFill>
                  <a:srgbClr val="FFD999"/>
                </a:solidFill>
              </a:rPr>
              <a:t>AI prompt</a:t>
            </a:r>
            <a:r>
              <a:rPr lang="en-US" sz="3000" dirty="0"/>
              <a:t> to seed sample data:</a:t>
            </a:r>
          </a:p>
          <a:p>
            <a:endParaRPr lang="en-US" sz="3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6: Seed Sample Data in the DB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299461E-3473-216D-EB53-F97AAEF6763A}"/>
              </a:ext>
            </a:extLst>
          </p:cNvPr>
          <p:cNvSpPr txBox="1">
            <a:spLocks/>
          </p:cNvSpPr>
          <p:nvPr/>
        </p:nvSpPr>
        <p:spPr>
          <a:xfrm>
            <a:off x="499121" y="1844824"/>
            <a:ext cx="6244951" cy="2974707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2500" b="0" dirty="0">
                <a:latin typeface="+mn-lt"/>
              </a:rPr>
              <a:t>Create </a:t>
            </a:r>
            <a:r>
              <a:rPr lang="en-US" sz="2500" dirty="0">
                <a:solidFill>
                  <a:schemeClr val="accent4"/>
                </a:solidFill>
                <a:latin typeface="+mn-lt"/>
              </a:rPr>
              <a:t>npm script </a:t>
            </a:r>
            <a:r>
              <a:rPr lang="en-US" sz="2500" b="0" dirty="0">
                <a:latin typeface="+mn-lt"/>
              </a:rPr>
              <a:t>to seed the DB with sample data:</a:t>
            </a:r>
          </a:p>
          <a:p>
            <a:pPr>
              <a:lnSpc>
                <a:spcPct val="115000"/>
              </a:lnSpc>
            </a:pPr>
            <a:r>
              <a:rPr lang="en-US" sz="2500" b="1" dirty="0">
                <a:latin typeface="+mn-lt"/>
              </a:rPr>
              <a:t>  -</a:t>
            </a:r>
            <a:r>
              <a:rPr lang="en-US" sz="2500" b="1" dirty="0">
                <a:solidFill>
                  <a:srgbClr val="FFD999"/>
                </a:solidFill>
                <a:latin typeface="+mn-lt"/>
              </a:rPr>
              <a:t> Bulgaria</a:t>
            </a:r>
            <a:r>
              <a:rPr lang="en-US" sz="2500" b="0" dirty="0">
                <a:latin typeface="+mn-lt"/>
              </a:rPr>
              <a:t>: Sofia, Plovdiv, Varna, Burgas</a:t>
            </a:r>
          </a:p>
          <a:p>
            <a:pPr>
              <a:lnSpc>
                <a:spcPct val="115000"/>
              </a:lnSpc>
            </a:pPr>
            <a:r>
              <a:rPr lang="en-US" sz="2500" b="1" dirty="0">
                <a:latin typeface="+mn-lt"/>
              </a:rPr>
              <a:t>  -</a:t>
            </a:r>
            <a:r>
              <a:rPr lang="en-US" sz="2500" b="1" dirty="0">
                <a:solidFill>
                  <a:srgbClr val="FFD999"/>
                </a:solidFill>
                <a:latin typeface="+mn-lt"/>
              </a:rPr>
              <a:t> Germany</a:t>
            </a:r>
            <a:r>
              <a:rPr lang="en-US" sz="2500" b="0" dirty="0">
                <a:latin typeface="+mn-lt"/>
              </a:rPr>
              <a:t>: Berlin, Munich, Frankfurt</a:t>
            </a:r>
          </a:p>
          <a:p>
            <a:pPr>
              <a:lnSpc>
                <a:spcPct val="115000"/>
              </a:lnSpc>
            </a:pPr>
            <a:r>
              <a:rPr lang="en-US" sz="2500" b="1" dirty="0">
                <a:latin typeface="+mn-lt"/>
              </a:rPr>
              <a:t>  -</a:t>
            </a:r>
            <a:r>
              <a:rPr lang="en-US" sz="2500" b="1" dirty="0">
                <a:solidFill>
                  <a:srgbClr val="FFD999"/>
                </a:solidFill>
                <a:latin typeface="+mn-lt"/>
              </a:rPr>
              <a:t> Japan</a:t>
            </a:r>
            <a:r>
              <a:rPr lang="en-US" sz="2500" b="0" dirty="0">
                <a:latin typeface="+mn-lt"/>
              </a:rPr>
              <a:t>: Tokyo, Osaka</a:t>
            </a:r>
          </a:p>
          <a:p>
            <a:pPr>
              <a:lnSpc>
                <a:spcPct val="115000"/>
              </a:lnSpc>
            </a:pPr>
            <a:r>
              <a:rPr lang="en-US" sz="2500" dirty="0">
                <a:solidFill>
                  <a:schemeClr val="accent4"/>
                </a:solidFill>
                <a:latin typeface="+mn-lt"/>
              </a:rPr>
              <a:t>Run</a:t>
            </a:r>
            <a:r>
              <a:rPr lang="en-US" sz="2500" b="0" dirty="0">
                <a:latin typeface="+mn-lt"/>
              </a:rPr>
              <a:t> the script and </a:t>
            </a:r>
            <a:r>
              <a:rPr lang="en-US" sz="2500" dirty="0">
                <a:solidFill>
                  <a:schemeClr val="accent4"/>
                </a:solidFill>
                <a:latin typeface="+mn-lt"/>
              </a:rPr>
              <a:t>confirm</a:t>
            </a:r>
            <a:r>
              <a:rPr lang="en-US" sz="2500" b="0" dirty="0">
                <a:latin typeface="+mn-lt"/>
              </a:rPr>
              <a:t> via </a:t>
            </a:r>
            <a:r>
              <a:rPr lang="en-US" sz="2500" dirty="0">
                <a:solidFill>
                  <a:schemeClr val="accent4"/>
                </a:solidFill>
                <a:latin typeface="+mn-lt"/>
              </a:rPr>
              <a:t>Neon MCP</a:t>
            </a:r>
            <a:r>
              <a:rPr lang="en-US" sz="2500" b="0" dirty="0">
                <a:latin typeface="+mn-lt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9D85FC-1530-D0CE-E215-A23B7AB8A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023" y="3849276"/>
            <a:ext cx="4541875" cy="2712398"/>
          </a:xfrm>
          <a:prstGeom prst="roundRect">
            <a:avLst>
              <a:gd name="adj" fmla="val 1541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4C592E-C4D9-103F-D823-C34B6F46E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5392" y="1330135"/>
            <a:ext cx="4557232" cy="2303117"/>
          </a:xfrm>
          <a:prstGeom prst="roundRect">
            <a:avLst>
              <a:gd name="adj" fmla="val 1541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ED7663-8CAB-7766-E8FD-DC86C7B026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121" y="5051978"/>
            <a:ext cx="4921548" cy="1514840"/>
          </a:xfrm>
          <a:prstGeom prst="roundRect">
            <a:avLst>
              <a:gd name="adj" fmla="val 1541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1723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879C16E-1028-685E-909F-D642018C29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3" y="1268760"/>
            <a:ext cx="6159597" cy="1224136"/>
          </a:xfrm>
        </p:spPr>
        <p:txBody>
          <a:bodyPr>
            <a:normAutofit/>
          </a:bodyPr>
          <a:lstStyle/>
          <a:p>
            <a:r>
              <a:rPr lang="en-US" sz="3200" dirty="0"/>
              <a:t>🤖 </a:t>
            </a:r>
            <a:r>
              <a:rPr lang="en-US" sz="3200" b="1" dirty="0">
                <a:solidFill>
                  <a:srgbClr val="FFD999"/>
                </a:solidFill>
              </a:rPr>
              <a:t>AI prompt</a:t>
            </a:r>
            <a:r>
              <a:rPr lang="en-US" sz="3200" dirty="0"/>
              <a:t> to print countries + their towns:</a:t>
            </a:r>
            <a:endParaRPr lang="bg-BG" sz="3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7: Implement App Logic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299461E-3473-216D-EB53-F97AAEF6763A}"/>
              </a:ext>
            </a:extLst>
          </p:cNvPr>
          <p:cNvSpPr txBox="1">
            <a:spLocks/>
          </p:cNvSpPr>
          <p:nvPr/>
        </p:nvSpPr>
        <p:spPr>
          <a:xfrm>
            <a:off x="433148" y="2580529"/>
            <a:ext cx="5951112" cy="306928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r>
              <a:rPr lang="en-US" sz="3000" b="0" dirty="0">
                <a:latin typeface="+mn-ea"/>
                <a:ea typeface="+mn-ea"/>
              </a:rPr>
              <a:t>Implement a console app logic to print </a:t>
            </a:r>
            <a:r>
              <a:rPr lang="en-US" sz="3000" dirty="0">
                <a:solidFill>
                  <a:schemeClr val="accent4"/>
                </a:solidFill>
                <a:latin typeface="+mn-ea"/>
                <a:ea typeface="+mn-ea"/>
              </a:rPr>
              <a:t>all countries with their towns</a:t>
            </a:r>
            <a:r>
              <a:rPr lang="en-US" sz="3000" b="0" dirty="0">
                <a:latin typeface="+mn-ea"/>
                <a:ea typeface="+mn-ea"/>
              </a:rPr>
              <a:t>:</a:t>
            </a:r>
            <a:endParaRPr lang="bg-BG" sz="3000" b="0" dirty="0">
              <a:latin typeface="+mn-ea"/>
              <a:ea typeface="+mn-ea"/>
            </a:endParaRPr>
          </a:p>
          <a:p>
            <a:r>
              <a:rPr lang="bg-BG" sz="3000" b="0" i="1" dirty="0">
                <a:latin typeface="+mn-ea"/>
                <a:ea typeface="+mn-ea"/>
              </a:rPr>
              <a:t>  - </a:t>
            </a:r>
            <a:r>
              <a:rPr lang="en-US" sz="3000" b="0" i="1" dirty="0">
                <a:latin typeface="+mn-ea"/>
                <a:ea typeface="+mn-ea"/>
              </a:rPr>
              <a:t>Bulgaria: Sofia, Plovdiv, Varna, …</a:t>
            </a:r>
            <a:endParaRPr lang="bg-BG" sz="3000" b="0" i="1" dirty="0">
              <a:latin typeface="+mn-ea"/>
              <a:ea typeface="+mn-ea"/>
            </a:endParaRPr>
          </a:p>
          <a:p>
            <a:r>
              <a:rPr lang="bg-BG" sz="3000" b="0" i="1" dirty="0">
                <a:latin typeface="+mn-ea"/>
                <a:ea typeface="+mn-ea"/>
              </a:rPr>
              <a:t>  - </a:t>
            </a:r>
            <a:r>
              <a:rPr lang="en-US" sz="3000" b="0" i="1" dirty="0">
                <a:latin typeface="+mn-ea"/>
                <a:ea typeface="+mn-ea"/>
              </a:rPr>
              <a:t>Japan: Tokyo, Osaka, …</a:t>
            </a:r>
          </a:p>
          <a:p>
            <a:r>
              <a:rPr lang="en-US" sz="3000" b="0" dirty="0">
                <a:latin typeface="+mn-ea"/>
                <a:ea typeface="+mn-ea"/>
              </a:rPr>
              <a:t>Use </a:t>
            </a:r>
            <a:r>
              <a:rPr lang="en-US" sz="3000" dirty="0">
                <a:solidFill>
                  <a:schemeClr val="accent4"/>
                </a:solidFill>
                <a:latin typeface="+mn-ea"/>
                <a:ea typeface="+mn-ea"/>
              </a:rPr>
              <a:t>Drizzle Query APIs </a:t>
            </a:r>
            <a:r>
              <a:rPr lang="en-US" sz="3000" b="0" dirty="0">
                <a:latin typeface="+mn-ea"/>
                <a:ea typeface="+mn-ea"/>
              </a:rPr>
              <a:t>to avoid </a:t>
            </a:r>
            <a:r>
              <a:rPr lang="en-US" sz="3000" dirty="0">
                <a:solidFill>
                  <a:schemeClr val="accent4"/>
                </a:solidFill>
                <a:latin typeface="+mn-ea"/>
                <a:ea typeface="+mn-ea"/>
              </a:rPr>
              <a:t>N+1 query problem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A3F6670-7773-0ACE-16BE-1684201211C4}"/>
              </a:ext>
            </a:extLst>
          </p:cNvPr>
          <p:cNvSpPr txBox="1">
            <a:spLocks/>
          </p:cNvSpPr>
          <p:nvPr/>
        </p:nvSpPr>
        <p:spPr>
          <a:xfrm>
            <a:off x="6573335" y="1268760"/>
            <a:ext cx="5283305" cy="122413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36195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400" b="0" i="0" kern="1200" baseline="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15265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335070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🤖 </a:t>
            </a:r>
            <a:r>
              <a:rPr lang="en-US" sz="3200" b="1" dirty="0">
                <a:solidFill>
                  <a:srgbClr val="FFD999"/>
                </a:solidFill>
              </a:rPr>
              <a:t>AI prompt</a:t>
            </a:r>
            <a:r>
              <a:rPr lang="en-US" sz="3200" dirty="0"/>
              <a:t> to add / edit / delete towns:</a:t>
            </a:r>
            <a:endParaRPr lang="bg-BG" sz="3200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AD9154D-818B-629C-A3C4-FAECD683F00C}"/>
              </a:ext>
            </a:extLst>
          </p:cNvPr>
          <p:cNvSpPr txBox="1">
            <a:spLocks/>
          </p:cNvSpPr>
          <p:nvPr/>
        </p:nvSpPr>
        <p:spPr>
          <a:xfrm>
            <a:off x="6643523" y="2580529"/>
            <a:ext cx="5112568" cy="2217768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r>
              <a:rPr lang="en-US" sz="3000" b="0" dirty="0">
                <a:latin typeface="+mn-ea"/>
                <a:ea typeface="+mn-ea"/>
              </a:rPr>
              <a:t>Implement </a:t>
            </a:r>
            <a:r>
              <a:rPr lang="en-US" sz="3000" dirty="0">
                <a:solidFill>
                  <a:schemeClr val="accent4"/>
                </a:solidFill>
                <a:latin typeface="+mn-ea"/>
                <a:ea typeface="+mn-ea"/>
              </a:rPr>
              <a:t>add</a:t>
            </a:r>
            <a:r>
              <a:rPr lang="en-US" sz="3000" b="0" dirty="0">
                <a:latin typeface="+mn-ea"/>
                <a:ea typeface="+mn-ea"/>
              </a:rPr>
              <a:t> / </a:t>
            </a:r>
            <a:r>
              <a:rPr lang="en-US" sz="3000" dirty="0">
                <a:solidFill>
                  <a:schemeClr val="accent4"/>
                </a:solidFill>
                <a:latin typeface="+mn-ea"/>
                <a:ea typeface="+mn-ea"/>
              </a:rPr>
              <a:t>edit</a:t>
            </a:r>
            <a:r>
              <a:rPr lang="en-US" sz="3000" b="0" dirty="0">
                <a:latin typeface="+mn-ea"/>
                <a:ea typeface="+mn-ea"/>
              </a:rPr>
              <a:t> / </a:t>
            </a:r>
            <a:r>
              <a:rPr lang="en-US" sz="3000" dirty="0">
                <a:solidFill>
                  <a:schemeClr val="accent4"/>
                </a:solidFill>
                <a:latin typeface="+mn-ea"/>
                <a:ea typeface="+mn-ea"/>
              </a:rPr>
              <a:t>delete</a:t>
            </a:r>
            <a:r>
              <a:rPr lang="en-US" sz="3000" b="0" dirty="0">
                <a:latin typeface="+mn-ea"/>
                <a:ea typeface="+mn-ea"/>
              </a:rPr>
              <a:t> </a:t>
            </a:r>
            <a:r>
              <a:rPr lang="en-US" sz="3000" dirty="0">
                <a:solidFill>
                  <a:schemeClr val="accent4"/>
                </a:solidFill>
                <a:latin typeface="+mn-ea"/>
                <a:ea typeface="+mn-ea"/>
              </a:rPr>
              <a:t>town</a:t>
            </a:r>
            <a:r>
              <a:rPr lang="en-US" sz="3000" b="0" dirty="0">
                <a:latin typeface="+mn-ea"/>
                <a:ea typeface="+mn-ea"/>
              </a:rPr>
              <a:t> in the same console app</a:t>
            </a:r>
            <a:r>
              <a:rPr lang="bg-BG" sz="3000" b="0" dirty="0">
                <a:latin typeface="+mn-ea"/>
                <a:ea typeface="+mn-ea"/>
              </a:rPr>
              <a:t>.</a:t>
            </a:r>
            <a:endParaRPr lang="en-US" sz="3000" b="0" dirty="0">
              <a:latin typeface="+mn-ea"/>
              <a:ea typeface="+mn-ea"/>
            </a:endParaRPr>
          </a:p>
          <a:p>
            <a:endParaRPr lang="bg-BG" sz="800" b="0" dirty="0">
              <a:latin typeface="+mn-ea"/>
              <a:ea typeface="+mn-ea"/>
            </a:endParaRPr>
          </a:p>
          <a:p>
            <a:r>
              <a:rPr lang="en-US" sz="3000" b="0" dirty="0">
                <a:latin typeface="+mn-ea"/>
                <a:ea typeface="+mn-ea"/>
              </a:rPr>
              <a:t>Implement console-based UI with </a:t>
            </a:r>
            <a:r>
              <a:rPr lang="en-US" sz="3000" dirty="0">
                <a:solidFill>
                  <a:schemeClr val="accent4"/>
                </a:solidFill>
                <a:latin typeface="+mn-ea"/>
                <a:ea typeface="+mn-ea"/>
              </a:rPr>
              <a:t>interactive menu</a:t>
            </a:r>
            <a:r>
              <a:rPr lang="en-US" sz="3000" b="0" dirty="0">
                <a:latin typeface="+mn-ea"/>
                <a:ea typeface="+mn-ea"/>
              </a:rPr>
              <a:t>.</a:t>
            </a:r>
            <a:endParaRPr lang="en-US" sz="3000" dirty="0">
              <a:solidFill>
                <a:schemeClr val="accent4"/>
              </a:solidFill>
              <a:latin typeface="+mn-ea"/>
              <a:ea typeface="+mn-ea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CB5ED72-D9D0-1FD0-2413-C1C64696E9E4}"/>
              </a:ext>
            </a:extLst>
          </p:cNvPr>
          <p:cNvSpPr txBox="1">
            <a:spLocks/>
          </p:cNvSpPr>
          <p:nvPr/>
        </p:nvSpPr>
        <p:spPr>
          <a:xfrm>
            <a:off x="190403" y="5894932"/>
            <a:ext cx="9289973" cy="612068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36195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400" b="0" i="0" kern="1200" baseline="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15265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335070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Learn more about the "</a:t>
            </a:r>
            <a:r>
              <a:rPr lang="en-US" sz="3200" dirty="0">
                <a:hlinkClick r:id="rId2"/>
              </a:rPr>
              <a:t>N+1 query problem</a:t>
            </a:r>
            <a:r>
              <a:rPr lang="en-US" sz="3200" dirty="0"/>
              <a:t>"</a:t>
            </a:r>
            <a:endParaRPr lang="bg-BG" sz="3200" dirty="0"/>
          </a:p>
        </p:txBody>
      </p:sp>
    </p:spTree>
    <p:extLst>
      <p:ext uri="{BB962C8B-B14F-4D97-AF65-F5344CB8AC3E}">
        <p14:creationId xmlns:p14="http://schemas.microsoft.com/office/powerpoint/2010/main" val="684424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643CDE-8E68-9C4B-FB91-24D4665A30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1426" y="1484784"/>
            <a:ext cx="10369150" cy="1178548"/>
          </a:xfrm>
        </p:spPr>
        <p:txBody>
          <a:bodyPr/>
          <a:lstStyle/>
          <a:p>
            <a:r>
              <a:rPr lang="en-US" dirty="0"/>
              <a:t>API Route Handlers, Connecting Drizzle and Neon DB, Authentication with JWT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940597-DAE4-91AA-835D-40DD830B3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855" y="493299"/>
            <a:ext cx="11516786" cy="780383"/>
          </a:xfrm>
        </p:spPr>
        <p:txBody>
          <a:bodyPr/>
          <a:lstStyle/>
          <a:p>
            <a:r>
              <a:rPr lang="en-US" sz="4800" dirty="0"/>
              <a:t>Back-End API with Next.js + Neon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17ECD-EE28-34AE-1128-57A5041596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D4FD9EDE-058E-E9F9-BEEA-7DACCA23829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05" b="12605"/>
          <a:stretch>
            <a:fillRect/>
          </a:stretch>
        </p:blipFill>
        <p:spPr>
          <a:xfrm>
            <a:off x="2655821" y="2968377"/>
            <a:ext cx="6695214" cy="3337946"/>
          </a:xfrm>
          <a:prstGeom prst="rect">
            <a:avLst/>
          </a:prstGeom>
          <a:ln>
            <a:solidFill>
              <a:srgbClr val="63C5B0">
                <a:alpha val="60000"/>
              </a:srgbClr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652080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301ED-ABB6-D108-2CDE-6E1FDCE1B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4618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9D73C2-D5BB-D4BC-AAEA-036BBE5A64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2" y="1196125"/>
            <a:ext cx="7449829" cy="5561125"/>
          </a:xfrm>
        </p:spPr>
        <p:txBody>
          <a:bodyPr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800" b="1" dirty="0">
                <a:solidFill>
                  <a:schemeClr val="accent4"/>
                </a:solidFill>
              </a:rPr>
              <a:t>Next.js</a:t>
            </a:r>
            <a:r>
              <a:rPr lang="en-US" sz="2800" dirty="0"/>
              <a:t> == full-stack </a:t>
            </a:r>
            <a:r>
              <a:rPr lang="en-US" sz="2800" b="1" dirty="0">
                <a:solidFill>
                  <a:schemeClr val="accent4"/>
                </a:solidFill>
              </a:rPr>
              <a:t>app framework</a:t>
            </a:r>
            <a:r>
              <a:rPr lang="en-US" sz="2800" dirty="0"/>
              <a:t>, based on </a:t>
            </a:r>
            <a:r>
              <a:rPr lang="en-US" sz="2800" b="1" dirty="0">
                <a:solidFill>
                  <a:schemeClr val="accent4"/>
                </a:solidFill>
              </a:rPr>
              <a:t>Node.js</a:t>
            </a:r>
            <a:r>
              <a:rPr lang="en-US" sz="2800" dirty="0"/>
              <a:t>, </a:t>
            </a:r>
            <a:r>
              <a:rPr lang="en-US" sz="2800" b="1" dirty="0">
                <a:solidFill>
                  <a:schemeClr val="accent4"/>
                </a:solidFill>
              </a:rPr>
              <a:t>TypeScript</a:t>
            </a:r>
            <a:r>
              <a:rPr lang="en-US" sz="2800" dirty="0"/>
              <a:t> and </a:t>
            </a:r>
            <a:r>
              <a:rPr lang="en-US" sz="2800" b="1" dirty="0">
                <a:solidFill>
                  <a:schemeClr val="accent4"/>
                </a:solidFill>
              </a:rPr>
              <a:t>React</a:t>
            </a:r>
            <a:r>
              <a:rPr lang="en-US" sz="2800" dirty="0"/>
              <a:t>, by Vercel</a:t>
            </a:r>
          </a:p>
          <a:p>
            <a:pPr marL="228600" indent="-228600">
              <a:lnSpc>
                <a:spcPct val="100000"/>
              </a:lnSpc>
              <a:spcBef>
                <a:spcPts val="1200"/>
              </a:spcBef>
              <a:buFont typeface="Arial"/>
              <a:buChar char="•"/>
            </a:pPr>
            <a:r>
              <a:rPr lang="en-US" sz="2800" b="1" dirty="0">
                <a:solidFill>
                  <a:schemeClr val="accent4"/>
                </a:solidFill>
              </a:rPr>
              <a:t>Back</a:t>
            </a:r>
            <a:r>
              <a:rPr lang="bg-BG" sz="2800" b="1" dirty="0">
                <a:solidFill>
                  <a:schemeClr val="accent4"/>
                </a:solidFill>
              </a:rPr>
              <a:t>-</a:t>
            </a:r>
            <a:r>
              <a:rPr lang="en-US" sz="2800" b="1" dirty="0">
                <a:solidFill>
                  <a:schemeClr val="accent4"/>
                </a:solidFill>
              </a:rPr>
              <a:t>end </a:t>
            </a:r>
            <a:r>
              <a:rPr lang="en-US" sz="2800" dirty="0"/>
              <a:t>+ </a:t>
            </a:r>
            <a:r>
              <a:rPr lang="en-US" sz="2800" b="1" dirty="0">
                <a:solidFill>
                  <a:schemeClr val="accent4"/>
                </a:solidFill>
              </a:rPr>
              <a:t>front</a:t>
            </a:r>
            <a:r>
              <a:rPr lang="bg-BG" sz="2800" b="1" dirty="0">
                <a:solidFill>
                  <a:schemeClr val="accent4"/>
                </a:solidFill>
              </a:rPr>
              <a:t>-</a:t>
            </a:r>
            <a:r>
              <a:rPr lang="en-US" sz="2800" b="1" dirty="0">
                <a:solidFill>
                  <a:schemeClr val="accent4"/>
                </a:solidFill>
              </a:rPr>
              <a:t>end </a:t>
            </a:r>
            <a:r>
              <a:rPr lang="en-US" sz="2800" dirty="0"/>
              <a:t>in a </a:t>
            </a:r>
            <a:r>
              <a:rPr lang="en-US" sz="2800" b="1" dirty="0">
                <a:solidFill>
                  <a:schemeClr val="accent4"/>
                </a:solidFill>
              </a:rPr>
              <a:t>single project</a:t>
            </a:r>
          </a:p>
          <a:p>
            <a:pPr marL="685800" lvl="1" indent="-457200">
              <a:lnSpc>
                <a:spcPct val="100000"/>
              </a:lnSpc>
              <a:spcBef>
                <a:spcPts val="400"/>
              </a:spcBef>
            </a:pPr>
            <a:r>
              <a:rPr lang="en-US" sz="2600" b="1" dirty="0">
                <a:solidFill>
                  <a:schemeClr val="accent4"/>
                </a:solidFill>
              </a:rPr>
              <a:t>React UI </a:t>
            </a:r>
            <a:r>
              <a:rPr lang="en-US" sz="2600" dirty="0"/>
              <a:t>(front-end) in </a:t>
            </a:r>
            <a:r>
              <a:rPr lang="en-US" sz="2600" b="1" noProof="1">
                <a:solidFill>
                  <a:schemeClr val="accent4"/>
                </a:solidFill>
                <a:latin typeface="Consolas"/>
              </a:rPr>
              <a:t>/app</a:t>
            </a:r>
          </a:p>
          <a:p>
            <a:pPr marL="685800" lvl="1" indent="-457200">
              <a:lnSpc>
                <a:spcPct val="100000"/>
              </a:lnSpc>
              <a:spcBef>
                <a:spcPts val="400"/>
              </a:spcBef>
            </a:pPr>
            <a:r>
              <a:rPr lang="en-US" sz="2600" b="1" dirty="0">
                <a:solidFill>
                  <a:schemeClr val="accent4"/>
                </a:solidFill>
              </a:rPr>
              <a:t>API handlers </a:t>
            </a:r>
            <a:r>
              <a:rPr lang="en-US" sz="2600" dirty="0"/>
              <a:t>(back-end) in </a:t>
            </a:r>
            <a:r>
              <a:rPr lang="en-US" sz="2600" b="1" noProof="1">
                <a:solidFill>
                  <a:schemeClr val="accent4"/>
                </a:solidFill>
                <a:latin typeface="Consolas"/>
              </a:rPr>
              <a:t>/app/api</a:t>
            </a:r>
          </a:p>
          <a:p>
            <a:pPr marL="228600" indent="-228600">
              <a:lnSpc>
                <a:spcPct val="100000"/>
              </a:lnSpc>
              <a:spcBef>
                <a:spcPts val="1200"/>
              </a:spcBef>
              <a:buFont typeface="Arial"/>
              <a:buChar char="•"/>
            </a:pPr>
            <a:r>
              <a:rPr lang="en-US" sz="2800" dirty="0"/>
              <a:t>Benefits of Next.js</a:t>
            </a:r>
            <a:r>
              <a:rPr lang="en-US" sz="2800" b="1" dirty="0"/>
              <a:t>:</a:t>
            </a:r>
          </a:p>
          <a:p>
            <a:pPr marL="685800" lvl="1" indent="-457200">
              <a:lnSpc>
                <a:spcPct val="100000"/>
              </a:lnSpc>
              <a:spcBef>
                <a:spcPts val="400"/>
              </a:spcBef>
            </a:pPr>
            <a:r>
              <a:rPr lang="en-US" sz="2600" b="1" dirty="0">
                <a:solidFill>
                  <a:schemeClr val="accent4"/>
                </a:solidFill>
              </a:rPr>
              <a:t>One project</a:t>
            </a:r>
            <a:r>
              <a:rPr lang="en-US" sz="2600" dirty="0"/>
              <a:t>, one deployment</a:t>
            </a:r>
          </a:p>
          <a:p>
            <a:pPr marL="685800" lvl="1" indent="-457200">
              <a:lnSpc>
                <a:spcPct val="100000"/>
              </a:lnSpc>
              <a:spcBef>
                <a:spcPts val="400"/>
              </a:spcBef>
            </a:pPr>
            <a:r>
              <a:rPr lang="en-US" sz="2600" b="1" dirty="0">
                <a:solidFill>
                  <a:schemeClr val="accent4"/>
                </a:solidFill>
              </a:rPr>
              <a:t>Shared types</a:t>
            </a:r>
            <a:r>
              <a:rPr lang="en-US" sz="2600" dirty="0"/>
              <a:t> between client and server</a:t>
            </a:r>
          </a:p>
          <a:p>
            <a:pPr marL="685800" lvl="1" indent="-457200">
              <a:lnSpc>
                <a:spcPct val="100000"/>
              </a:lnSpc>
              <a:spcBef>
                <a:spcPts val="400"/>
              </a:spcBef>
            </a:pPr>
            <a:r>
              <a:rPr lang="en-US" sz="2600" b="1" dirty="0">
                <a:solidFill>
                  <a:schemeClr val="accent4"/>
                </a:solidFill>
              </a:rPr>
              <a:t>Serverless-ready</a:t>
            </a:r>
            <a:r>
              <a:rPr lang="en-US" sz="2600" dirty="0"/>
              <a:t> (Vercel, Netlify, Cloudflare)</a:t>
            </a:r>
          </a:p>
          <a:p>
            <a:pPr marL="685800" lvl="1" indent="-457200">
              <a:lnSpc>
                <a:spcPct val="100000"/>
              </a:lnSpc>
              <a:spcBef>
                <a:spcPts val="400"/>
              </a:spcBef>
            </a:pPr>
            <a:r>
              <a:rPr lang="en-US" sz="2600" b="1" dirty="0">
                <a:solidFill>
                  <a:schemeClr val="accent4"/>
                </a:solidFill>
              </a:rPr>
              <a:t>Hot reload</a:t>
            </a:r>
            <a:r>
              <a:rPr lang="en-US" sz="2600" dirty="0"/>
              <a:t> on front-end and back-end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465473-3E6F-A71C-8881-15CEDDD5E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43" y="100750"/>
            <a:ext cx="10800601" cy="882654"/>
          </a:xfrm>
        </p:spPr>
        <p:txBody>
          <a:bodyPr>
            <a:normAutofit/>
          </a:bodyPr>
          <a:lstStyle/>
          <a:p>
            <a:r>
              <a:rPr lang="en-US" dirty="0"/>
              <a:t>Why Next.js for the Backend?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0E4EBF0-BDA7-B47B-F023-0B4CD3D0A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017" y="1292220"/>
            <a:ext cx="4426632" cy="2280796"/>
          </a:xfrm>
          <a:prstGeom prst="roundRect">
            <a:avLst>
              <a:gd name="adj" fmla="val 33420"/>
            </a:avLst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4163846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C35FF-43B7-6B2E-9FCA-961E1D5CF7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1" y="1196125"/>
            <a:ext cx="5916890" cy="5561125"/>
          </a:xfrm>
        </p:spPr>
        <p:txBody>
          <a:bodyPr>
            <a:normAutofit/>
          </a:bodyPr>
          <a:lstStyle/>
          <a:p>
            <a:pPr marL="228600" indent="-228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3200" b="1" dirty="0">
                <a:solidFill>
                  <a:schemeClr val="accent4"/>
                </a:solidFill>
              </a:rPr>
              <a:t>Layered architecture</a:t>
            </a:r>
            <a:r>
              <a:rPr lang="en-US" sz="3200" dirty="0"/>
              <a:t> → separation of concerns</a:t>
            </a:r>
            <a:endParaRPr lang="en-US" sz="3200" b="1" dirty="0">
              <a:solidFill>
                <a:schemeClr val="accent4"/>
              </a:solidFill>
            </a:endParaRPr>
          </a:p>
          <a:p>
            <a:pPr marL="685800" lvl="1" indent="-457200">
              <a:lnSpc>
                <a:spcPct val="100000"/>
              </a:lnSpc>
              <a:spcBef>
                <a:spcPts val="400"/>
              </a:spcBef>
            </a:pPr>
            <a:r>
              <a:rPr lang="en-US" sz="3000" b="1" dirty="0">
                <a:solidFill>
                  <a:schemeClr val="accent4"/>
                </a:solidFill>
              </a:rPr>
              <a:t>Client</a:t>
            </a:r>
            <a:r>
              <a:rPr lang="en-US" sz="3000" dirty="0"/>
              <a:t> → UI (calls server-side route handlers)</a:t>
            </a:r>
          </a:p>
          <a:p>
            <a:pPr marL="685800" lvl="1" indent="-457200">
              <a:lnSpc>
                <a:spcPct val="100000"/>
              </a:lnSpc>
              <a:spcBef>
                <a:spcPts val="400"/>
              </a:spcBef>
            </a:pPr>
            <a:r>
              <a:rPr lang="en-US" sz="3000" b="1" dirty="0">
                <a:solidFill>
                  <a:schemeClr val="accent4"/>
                </a:solidFill>
              </a:rPr>
              <a:t>Route handlers</a:t>
            </a:r>
            <a:r>
              <a:rPr lang="en-US" sz="3000" dirty="0"/>
              <a:t> → HTTP parsing, status codes</a:t>
            </a:r>
          </a:p>
          <a:p>
            <a:pPr marL="685800" lvl="1" indent="-457200">
              <a:lnSpc>
                <a:spcPct val="100000"/>
              </a:lnSpc>
              <a:spcBef>
                <a:spcPts val="400"/>
              </a:spcBef>
            </a:pPr>
            <a:r>
              <a:rPr lang="en-US" sz="3000" b="1" dirty="0">
                <a:solidFill>
                  <a:schemeClr val="accent4"/>
                </a:solidFill>
              </a:rPr>
              <a:t>Services</a:t>
            </a:r>
            <a:r>
              <a:rPr lang="en-US" sz="3000" dirty="0"/>
              <a:t> → business logic</a:t>
            </a:r>
          </a:p>
          <a:p>
            <a:pPr marL="685800" lvl="1" indent="-457200">
              <a:lnSpc>
                <a:spcPct val="100000"/>
              </a:lnSpc>
              <a:spcBef>
                <a:spcPts val="400"/>
              </a:spcBef>
            </a:pPr>
            <a:r>
              <a:rPr lang="en-US" sz="3000" b="1" dirty="0">
                <a:solidFill>
                  <a:schemeClr val="accent4"/>
                </a:solidFill>
              </a:rPr>
              <a:t>DB layer</a:t>
            </a:r>
            <a:r>
              <a:rPr lang="en-US" sz="3000" dirty="0"/>
              <a:t> → Drizzle schema + data access API</a:t>
            </a:r>
          </a:p>
          <a:p>
            <a:pPr marL="685800" lvl="1" indent="-457200">
              <a:lnSpc>
                <a:spcPct val="100000"/>
              </a:lnSpc>
              <a:spcBef>
                <a:spcPts val="400"/>
              </a:spcBef>
            </a:pPr>
            <a:r>
              <a:rPr lang="en-US" sz="3000" b="1" dirty="0">
                <a:solidFill>
                  <a:schemeClr val="accent4"/>
                </a:solidFill>
              </a:rPr>
              <a:t>Database</a:t>
            </a:r>
            <a:r>
              <a:rPr lang="en-US" sz="3000" dirty="0"/>
              <a:t> → run SQL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Backend Architecture</a:t>
            </a:r>
          </a:p>
        </p:txBody>
      </p:sp>
      <p:sp>
        <p:nvSpPr>
          <p:cNvPr id="50" name="Box50"/>
          <p:cNvSpPr>
            <a:spLocks noGrp="1"/>
          </p:cNvSpPr>
          <p:nvPr/>
        </p:nvSpPr>
        <p:spPr>
          <a:xfrm>
            <a:off x="6921500" y="1394672"/>
            <a:ext cx="4368800" cy="670560"/>
          </a:xfrm>
          <a:prstGeom prst="roundRect">
            <a:avLst>
              <a:gd name="adj" fmla="val 15000"/>
            </a:avLst>
          </a:prstGeom>
          <a:solidFill>
            <a:srgbClr val="784EF9"/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vert="horz" anchor="ctr" anchorCtr="1">
            <a:normAutofit/>
          </a:bodyPr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🌐 Client (React)</a:t>
            </a:r>
          </a:p>
        </p:txBody>
      </p:sp>
      <p:sp>
        <p:nvSpPr>
          <p:cNvPr id="51" name="Box51"/>
          <p:cNvSpPr>
            <a:spLocks noGrp="1"/>
          </p:cNvSpPr>
          <p:nvPr/>
        </p:nvSpPr>
        <p:spPr>
          <a:xfrm>
            <a:off x="6921500" y="2508600"/>
            <a:ext cx="4368800" cy="670560"/>
          </a:xfrm>
          <a:prstGeom prst="roundRect">
            <a:avLst>
              <a:gd name="adj" fmla="val 15000"/>
            </a:avLst>
          </a:prstGeom>
          <a:solidFill>
            <a:srgbClr val="4F8DB2"/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vert="horz" anchor="ctr" anchorCtr="1">
            <a:normAutofit/>
          </a:bodyPr>
          <a:lstStyle/>
          <a:p>
            <a:pPr algn="ctr">
              <a:buNone/>
            </a:pPr>
            <a:r>
              <a:rPr lang="bg-BG" sz="2400"/>
              <a:t>🔌</a:t>
            </a: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Route Handlers</a:t>
            </a:r>
          </a:p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6921500" y="3622528"/>
            <a:ext cx="4368800" cy="670560"/>
          </a:xfrm>
          <a:prstGeom prst="roundRect">
            <a:avLst>
              <a:gd name="adj" fmla="val 15000"/>
            </a:avLst>
          </a:prstGeom>
          <a:solidFill>
            <a:srgbClr val="44A9F8"/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vert="horz" anchor="ctr" anchorCtr="1">
            <a:normAutofit/>
          </a:bodyPr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⚙️ Services</a:t>
            </a:r>
          </a:p>
        </p:txBody>
      </p:sp>
      <p:sp>
        <p:nvSpPr>
          <p:cNvPr id="53" name="Box53"/>
          <p:cNvSpPr>
            <a:spLocks noGrp="1"/>
          </p:cNvSpPr>
          <p:nvPr/>
        </p:nvSpPr>
        <p:spPr>
          <a:xfrm>
            <a:off x="6921500" y="4736456"/>
            <a:ext cx="4368800" cy="670560"/>
          </a:xfrm>
          <a:prstGeom prst="roundRect">
            <a:avLst>
              <a:gd name="adj" fmla="val 15000"/>
            </a:avLst>
          </a:prstGeom>
          <a:solidFill>
            <a:srgbClr val="784EF9"/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vert="horz" anchor="ctr" anchorCtr="1">
            <a:normAutofit/>
          </a:bodyPr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🔗 ORM (Drizzle)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6921500" y="5850382"/>
            <a:ext cx="4368800" cy="670560"/>
          </a:xfrm>
          <a:prstGeom prst="roundRect">
            <a:avLst>
              <a:gd name="adj" fmla="val 15000"/>
            </a:avLst>
          </a:prstGeom>
          <a:solidFill>
            <a:srgbClr val="234465"/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vert="horz" anchor="ctr" anchorCtr="1">
            <a:normAutofit/>
          </a:bodyPr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🐘 PostgreSQL (Neon)</a:t>
            </a:r>
          </a:p>
        </p:txBody>
      </p:sp>
      <p:sp>
        <p:nvSpPr>
          <p:cNvPr id="60" name="Arrow60"/>
          <p:cNvSpPr>
            <a:spLocks noGrp="1"/>
          </p:cNvSpPr>
          <p:nvPr/>
        </p:nvSpPr>
        <p:spPr>
          <a:xfrm>
            <a:off x="9004300" y="2159916"/>
            <a:ext cx="203200" cy="254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D9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Arrow61"/>
          <p:cNvSpPr>
            <a:spLocks noGrp="1"/>
          </p:cNvSpPr>
          <p:nvPr/>
        </p:nvSpPr>
        <p:spPr>
          <a:xfrm>
            <a:off x="9004300" y="3273844"/>
            <a:ext cx="203200" cy="254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D9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2" name="Arrow62"/>
          <p:cNvSpPr>
            <a:spLocks noGrp="1"/>
          </p:cNvSpPr>
          <p:nvPr/>
        </p:nvSpPr>
        <p:spPr>
          <a:xfrm>
            <a:off x="9004300" y="4387772"/>
            <a:ext cx="203200" cy="254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D9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3" name="Arrow63"/>
          <p:cNvSpPr>
            <a:spLocks noGrp="1"/>
          </p:cNvSpPr>
          <p:nvPr/>
        </p:nvSpPr>
        <p:spPr>
          <a:xfrm>
            <a:off x="9004300" y="5501700"/>
            <a:ext cx="203200" cy="254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D9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213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2" grpId="0" animBg="1"/>
      <p:bldP spid="53" grpId="0" animBg="1"/>
      <p:bldP spid="54" grpId="0" animBg="1"/>
      <p:bldP spid="60" grpId="0" animBg="1"/>
      <p:bldP spid="61" grpId="0" animBg="1"/>
      <p:bldP spid="62" grpId="0" animBg="1"/>
      <p:bldP spid="6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405A8E-0D61-072D-5F49-0CEF0A560E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85DB6-016F-FEB0-4911-DD64414D91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" y="1268760"/>
            <a:ext cx="4537348" cy="5386040"/>
          </a:xfrm>
        </p:spPr>
        <p:txBody>
          <a:bodyPr/>
          <a:lstStyle/>
          <a:p>
            <a:pPr marL="228600" indent="-228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2800" dirty="0"/>
              <a:t>Install </a:t>
            </a:r>
            <a:r>
              <a:rPr lang="en-US" sz="2800" b="1" dirty="0">
                <a:solidFill>
                  <a:schemeClr val="accent4"/>
                </a:solidFill>
              </a:rPr>
              <a:t>NPM packages</a:t>
            </a:r>
            <a:r>
              <a:rPr lang="en-US" sz="2800" dirty="0"/>
              <a:t>:</a:t>
            </a:r>
          </a:p>
          <a:p>
            <a:pPr marL="676275" lvl="1" indent="-228600">
              <a:lnSpc>
                <a:spcPct val="100000"/>
              </a:lnSpc>
              <a:buFont typeface="Arial"/>
              <a:buChar char="•"/>
            </a:pPr>
            <a:endParaRPr lang="en-US" sz="2600" dirty="0"/>
          </a:p>
          <a:p>
            <a:pPr marL="676275" lvl="1" indent="-228600">
              <a:lnSpc>
                <a:spcPct val="100000"/>
              </a:lnSpc>
              <a:buFont typeface="Arial"/>
              <a:buChar char="•"/>
            </a:pPr>
            <a:endParaRPr lang="en-US" sz="2600" dirty="0"/>
          </a:p>
          <a:p>
            <a:pPr marL="228600" indent="-228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2800" dirty="0"/>
              <a:t>Configure </a:t>
            </a:r>
            <a:r>
              <a:rPr lang="en-US" sz="2800" b="1" dirty="0">
                <a:solidFill>
                  <a:schemeClr val="accent4"/>
                </a:solidFill>
              </a:rPr>
              <a:t>DATABASE_URL</a:t>
            </a:r>
            <a:r>
              <a:rPr lang="en-US" sz="2800" dirty="0"/>
              <a:t> in </a:t>
            </a:r>
            <a:r>
              <a:rPr lang="en-US" sz="2800" b="1" noProof="1">
                <a:solidFill>
                  <a:schemeClr val="accent4"/>
                </a:solidFill>
                <a:latin typeface="Consolas"/>
              </a:rPr>
              <a:t>.env</a:t>
            </a:r>
          </a:p>
          <a:p>
            <a:pPr marL="228600" indent="-228600">
              <a:lnSpc>
                <a:spcPct val="100000"/>
              </a:lnSpc>
              <a:spcBef>
                <a:spcPts val="900"/>
              </a:spcBef>
              <a:buFont typeface="Arial"/>
              <a:buChar char="•"/>
            </a:pPr>
            <a:r>
              <a:rPr lang="en-US" sz="2800" dirty="0"/>
              <a:t>Create a </a:t>
            </a:r>
            <a:r>
              <a:rPr lang="en-US" sz="2800" b="1" dirty="0">
                <a:solidFill>
                  <a:schemeClr val="accent4"/>
                </a:solidFill>
              </a:rPr>
              <a:t>singleton</a:t>
            </a:r>
            <a:r>
              <a:rPr lang="en-US" sz="2800" dirty="0"/>
              <a:t> </a:t>
            </a:r>
            <a:r>
              <a:rPr lang="en-US" sz="2800" b="1" noProof="1">
                <a:solidFill>
                  <a:schemeClr val="accent4"/>
                </a:solidFill>
                <a:latin typeface="Consolas"/>
              </a:rPr>
              <a:t>`db`</a:t>
            </a:r>
            <a:r>
              <a:rPr lang="en-US" sz="2800" dirty="0"/>
              <a:t> instance in </a:t>
            </a:r>
            <a:r>
              <a:rPr lang="en-US" sz="2800" b="1" noProof="1">
                <a:solidFill>
                  <a:schemeClr val="accent4"/>
                </a:solidFill>
                <a:latin typeface="Consolas"/>
              </a:rPr>
              <a:t>lib/db.ts</a:t>
            </a:r>
          </a:p>
          <a:p>
            <a:pPr marL="228600" indent="-228600">
              <a:lnSpc>
                <a:spcPct val="100000"/>
              </a:lnSpc>
              <a:spcBef>
                <a:spcPts val="900"/>
              </a:spcBef>
              <a:buFont typeface="Arial"/>
              <a:buChar char="•"/>
            </a:pPr>
            <a:r>
              <a:rPr lang="en-US" sz="2800" dirty="0"/>
              <a:t>Import and use `</a:t>
            </a:r>
            <a:r>
              <a:rPr lang="en-US" sz="2800" b="1" noProof="1">
                <a:solidFill>
                  <a:schemeClr val="accent4"/>
                </a:solidFill>
                <a:latin typeface="Consolas"/>
              </a:rPr>
              <a:t>db</a:t>
            </a:r>
            <a:r>
              <a:rPr lang="en-US" sz="2800" dirty="0"/>
              <a:t>` into yours </a:t>
            </a:r>
            <a:r>
              <a:rPr lang="en-US" sz="2800" b="1" dirty="0">
                <a:solidFill>
                  <a:schemeClr val="accent4"/>
                </a:solidFill>
              </a:rPr>
              <a:t>API route handlers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AB9EC5-7B0E-F7C7-C5B7-612E32AEF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Setup Drizzle + Neon DB in Next.js</a:t>
            </a:r>
            <a:endParaRPr lang="bg-BG" dirty="0"/>
          </a:p>
        </p:txBody>
      </p:sp>
      <p:sp>
        <p:nvSpPr>
          <p:cNvPr id="20" name="CodeBox20"/>
          <p:cNvSpPr>
            <a:spLocks noGrp="1"/>
          </p:cNvSpPr>
          <p:nvPr/>
        </p:nvSpPr>
        <p:spPr>
          <a:xfrm>
            <a:off x="5057861" y="1433739"/>
            <a:ext cx="6740762" cy="27153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/>
          <a:p>
            <a:pPr defTabSz="1218438">
              <a:buClr>
                <a:schemeClr val="bg1"/>
              </a:buClr>
            </a:pPr>
            <a:r>
              <a:rPr lang="en-US" sz="2100" b="1" noProof="1">
                <a:solidFill>
                  <a:schemeClr val="bg2"/>
                </a:solidFill>
                <a:latin typeface="Consolas"/>
                <a:ea typeface="Roboto" panose="02000000000000000000" pitchFamily="2" charset="0"/>
                <a:cs typeface="Roboto" panose="02000000000000000000" pitchFamily="2" charset="0"/>
              </a:rPr>
              <a:t>import { neon } from</a:t>
            </a:r>
          </a:p>
          <a:p>
            <a:pPr defTabSz="1218438">
              <a:buClr>
                <a:schemeClr val="bg1"/>
              </a:buClr>
            </a:pPr>
            <a:r>
              <a:rPr lang="en-US" sz="2100" b="1" noProof="1">
                <a:solidFill>
                  <a:schemeClr val="bg2"/>
                </a:solidFill>
                <a:latin typeface="Consolas"/>
                <a:ea typeface="Roboto" panose="02000000000000000000" pitchFamily="2" charset="0"/>
                <a:cs typeface="Roboto" panose="02000000000000000000" pitchFamily="2" charset="0"/>
              </a:rPr>
              <a:t>  "@</a:t>
            </a:r>
            <a:r>
              <a:rPr lang="en-US" sz="2100" b="1" noProof="1">
                <a:solidFill>
                  <a:schemeClr val="accent4"/>
                </a:solidFill>
                <a:latin typeface="Consolas"/>
                <a:ea typeface="Roboto" panose="02000000000000000000" pitchFamily="2" charset="0"/>
                <a:cs typeface="Roboto" panose="02000000000000000000" pitchFamily="2" charset="0"/>
              </a:rPr>
              <a:t>neondatabase/serverless</a:t>
            </a:r>
            <a:r>
              <a:rPr lang="en-US" sz="2100" b="1" noProof="1">
                <a:solidFill>
                  <a:schemeClr val="bg2"/>
                </a:solidFill>
                <a:latin typeface="Consolas"/>
                <a:ea typeface="Roboto" panose="02000000000000000000" pitchFamily="2" charset="0"/>
                <a:cs typeface="Roboto" panose="02000000000000000000" pitchFamily="2" charset="0"/>
              </a:rPr>
              <a:t>";</a:t>
            </a:r>
          </a:p>
          <a:p>
            <a:pPr defTabSz="1218438">
              <a:buClr>
                <a:schemeClr val="bg1"/>
              </a:buClr>
            </a:pPr>
            <a:r>
              <a:rPr lang="en-US" sz="2100" b="1" noProof="1">
                <a:solidFill>
                  <a:schemeClr val="bg2"/>
                </a:solidFill>
                <a:latin typeface="Consolas"/>
                <a:ea typeface="Roboto" panose="02000000000000000000" pitchFamily="2" charset="0"/>
                <a:cs typeface="Roboto" panose="02000000000000000000" pitchFamily="2" charset="0"/>
              </a:rPr>
              <a:t>import { drizzle } from</a:t>
            </a:r>
          </a:p>
          <a:p>
            <a:pPr defTabSz="1218438">
              <a:buClr>
                <a:schemeClr val="bg1"/>
              </a:buClr>
            </a:pPr>
            <a:r>
              <a:rPr lang="en-US" sz="2100" b="1" noProof="1">
                <a:solidFill>
                  <a:schemeClr val="bg2"/>
                </a:solidFill>
                <a:latin typeface="Consolas"/>
                <a:ea typeface="Roboto" panose="02000000000000000000" pitchFamily="2" charset="0"/>
                <a:cs typeface="Roboto" panose="02000000000000000000" pitchFamily="2" charset="0"/>
              </a:rPr>
              <a:t>  "</a:t>
            </a:r>
            <a:r>
              <a:rPr lang="en-US" sz="2100" b="1" noProof="1">
                <a:solidFill>
                  <a:schemeClr val="accent4"/>
                </a:solidFill>
                <a:latin typeface="Consolas"/>
                <a:ea typeface="Roboto" panose="02000000000000000000" pitchFamily="2" charset="0"/>
                <a:cs typeface="Roboto" panose="02000000000000000000" pitchFamily="2" charset="0"/>
              </a:rPr>
              <a:t>drizzle-orm/neon-http</a:t>
            </a:r>
            <a:r>
              <a:rPr lang="en-US" sz="2100" b="1" noProof="1">
                <a:solidFill>
                  <a:schemeClr val="bg2"/>
                </a:solidFill>
                <a:latin typeface="Consolas"/>
                <a:ea typeface="Roboto" panose="02000000000000000000" pitchFamily="2" charset="0"/>
                <a:cs typeface="Roboto" panose="02000000000000000000" pitchFamily="2" charset="0"/>
              </a:rPr>
              <a:t>";</a:t>
            </a:r>
          </a:p>
          <a:p>
            <a:pPr defTabSz="1218438">
              <a:buClr>
                <a:schemeClr val="bg1"/>
              </a:buClr>
            </a:pPr>
            <a:r>
              <a:rPr lang="en-US" sz="2100" b="1" noProof="1">
                <a:solidFill>
                  <a:schemeClr val="bg2"/>
                </a:solidFill>
                <a:latin typeface="Consolas"/>
                <a:ea typeface="Roboto" panose="02000000000000000000" pitchFamily="2" charset="0"/>
                <a:cs typeface="Roboto" panose="02000000000000000000" pitchFamily="2" charset="0"/>
              </a:rPr>
              <a:t>import * as </a:t>
            </a:r>
            <a:r>
              <a:rPr lang="en-US" sz="2100" b="1" noProof="1">
                <a:solidFill>
                  <a:schemeClr val="accent4"/>
                </a:solidFill>
                <a:latin typeface="Consolas"/>
                <a:ea typeface="Roboto" panose="02000000000000000000" pitchFamily="2" charset="0"/>
                <a:cs typeface="Roboto" panose="02000000000000000000" pitchFamily="2" charset="0"/>
              </a:rPr>
              <a:t>schema</a:t>
            </a:r>
            <a:r>
              <a:rPr lang="en-US" sz="2100" b="1" noProof="1">
                <a:solidFill>
                  <a:schemeClr val="bg2"/>
                </a:solidFill>
                <a:latin typeface="Consolas"/>
                <a:ea typeface="Roboto" panose="02000000000000000000" pitchFamily="2" charset="0"/>
                <a:cs typeface="Roboto" panose="02000000000000000000" pitchFamily="2" charset="0"/>
              </a:rPr>
              <a:t> from "../db/schema";</a:t>
            </a:r>
          </a:p>
          <a:p>
            <a:pPr defTabSz="1218438">
              <a:buClr>
                <a:schemeClr val="bg1"/>
              </a:buClr>
            </a:pPr>
            <a:endParaRPr lang="en-US" sz="1000" b="1" dirty="0">
              <a:solidFill>
                <a:schemeClr val="bg2"/>
              </a:solidFill>
              <a:latin typeface="Consolas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defTabSz="1218438">
              <a:buClr>
                <a:schemeClr val="bg1"/>
              </a:buClr>
            </a:pPr>
            <a:r>
              <a:rPr lang="en-US" sz="2100" b="1" noProof="1">
                <a:solidFill>
                  <a:schemeClr val="bg2"/>
                </a:solidFill>
                <a:latin typeface="Consolas"/>
                <a:ea typeface="Roboto" panose="02000000000000000000" pitchFamily="2" charset="0"/>
                <a:cs typeface="Roboto" panose="02000000000000000000" pitchFamily="2" charset="0"/>
              </a:rPr>
              <a:t>const </a:t>
            </a:r>
            <a:r>
              <a:rPr lang="en-US" sz="2100" b="1" noProof="1">
                <a:solidFill>
                  <a:schemeClr val="accent4"/>
                </a:solidFill>
                <a:latin typeface="Consolas"/>
                <a:ea typeface="Roboto" panose="02000000000000000000" pitchFamily="2" charset="0"/>
                <a:cs typeface="Roboto" panose="02000000000000000000" pitchFamily="2" charset="0"/>
              </a:rPr>
              <a:t>sql</a:t>
            </a:r>
            <a:r>
              <a:rPr lang="en-US" sz="2100" b="1" noProof="1">
                <a:solidFill>
                  <a:schemeClr val="bg2"/>
                </a:solidFill>
                <a:latin typeface="Consolas"/>
                <a:ea typeface="Roboto" panose="02000000000000000000" pitchFamily="2" charset="0"/>
                <a:cs typeface="Roboto" panose="02000000000000000000" pitchFamily="2" charset="0"/>
              </a:rPr>
              <a:t> = neon(process.env.DATABASE_URL!);</a:t>
            </a:r>
          </a:p>
          <a:p>
            <a:pPr defTabSz="1218438">
              <a:buClr>
                <a:schemeClr val="bg1"/>
              </a:buClr>
            </a:pPr>
            <a:endParaRPr lang="en-US" sz="1000" b="1" dirty="0">
              <a:solidFill>
                <a:schemeClr val="bg2"/>
              </a:solidFill>
              <a:latin typeface="Consolas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defTabSz="1218438">
              <a:buClr>
                <a:schemeClr val="bg1"/>
              </a:buClr>
            </a:pPr>
            <a:r>
              <a:rPr lang="en-US" sz="2100" b="1" noProof="1">
                <a:solidFill>
                  <a:schemeClr val="bg2"/>
                </a:solidFill>
                <a:latin typeface="Consolas"/>
                <a:ea typeface="Roboto" panose="02000000000000000000" pitchFamily="2" charset="0"/>
                <a:cs typeface="Roboto" panose="02000000000000000000" pitchFamily="2" charset="0"/>
              </a:rPr>
              <a:t>export const </a:t>
            </a:r>
            <a:r>
              <a:rPr lang="en-US" sz="2100" b="1" noProof="1">
                <a:solidFill>
                  <a:schemeClr val="accent4"/>
                </a:solidFill>
                <a:latin typeface="Consolas"/>
                <a:ea typeface="Roboto" panose="02000000000000000000" pitchFamily="2" charset="0"/>
                <a:cs typeface="Roboto" panose="02000000000000000000" pitchFamily="2" charset="0"/>
              </a:rPr>
              <a:t>db</a:t>
            </a:r>
            <a:r>
              <a:rPr lang="en-US" sz="2100" b="1" noProof="1">
                <a:solidFill>
                  <a:schemeClr val="bg2"/>
                </a:solidFill>
                <a:latin typeface="Consolas"/>
                <a:ea typeface="Roboto" panose="02000000000000000000" pitchFamily="2" charset="0"/>
                <a:cs typeface="Roboto" panose="02000000000000000000" pitchFamily="2" charset="0"/>
              </a:rPr>
              <a:t> = drizzle(sql, { schema });</a:t>
            </a:r>
          </a:p>
        </p:txBody>
      </p:sp>
      <p:sp>
        <p:nvSpPr>
          <p:cNvPr id="5" name="CodeBox20">
            <a:extLst>
              <a:ext uri="{FF2B5EF4-FFF2-40B4-BE49-F238E27FC236}">
                <a16:creationId xmlns:a16="http://schemas.microsoft.com/office/drawing/2014/main" id="{4D6BF853-BB9F-1D45-5CFD-2875ACB2C328}"/>
              </a:ext>
            </a:extLst>
          </p:cNvPr>
          <p:cNvSpPr>
            <a:spLocks noGrp="1"/>
          </p:cNvSpPr>
          <p:nvPr/>
        </p:nvSpPr>
        <p:spPr>
          <a:xfrm>
            <a:off x="5057861" y="4581128"/>
            <a:ext cx="6740762" cy="1761233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/>
          <a:p>
            <a:pPr defTabSz="1218438">
              <a:buClr>
                <a:schemeClr val="bg1"/>
              </a:buClr>
            </a:pPr>
            <a:r>
              <a:rPr lang="en-US" sz="2100" b="1" noProof="1">
                <a:solidFill>
                  <a:schemeClr val="accent6"/>
                </a:solidFill>
                <a:latin typeface="Consolas"/>
                <a:ea typeface="Roboto" panose="02000000000000000000" pitchFamily="2" charset="0"/>
                <a:cs typeface="Roboto" panose="02000000000000000000" pitchFamily="2" charset="0"/>
              </a:rPr>
              <a:t>// In API route handlers:</a:t>
            </a:r>
          </a:p>
          <a:p>
            <a:pPr defTabSz="1218438">
              <a:buClr>
                <a:schemeClr val="bg1"/>
              </a:buClr>
            </a:pPr>
            <a:r>
              <a:rPr lang="en-US" sz="2100" b="1" noProof="1">
                <a:solidFill>
                  <a:schemeClr val="bg2"/>
                </a:solidFill>
                <a:latin typeface="Consolas"/>
                <a:ea typeface="Roboto" panose="02000000000000000000" pitchFamily="2" charset="0"/>
                <a:cs typeface="Roboto" panose="02000000000000000000" pitchFamily="2" charset="0"/>
              </a:rPr>
              <a:t>import { db } from "@/lib/db";</a:t>
            </a:r>
          </a:p>
          <a:p>
            <a:pPr defTabSz="1218438">
              <a:buClr>
                <a:schemeClr val="bg1"/>
              </a:buClr>
            </a:pPr>
            <a:r>
              <a:rPr lang="en-US" sz="2100" b="1" noProof="1">
                <a:solidFill>
                  <a:schemeClr val="bg2"/>
                </a:solidFill>
                <a:latin typeface="Consolas"/>
                <a:ea typeface="Roboto" panose="02000000000000000000" pitchFamily="2" charset="0"/>
                <a:cs typeface="Roboto" panose="02000000000000000000" pitchFamily="2" charset="0"/>
              </a:rPr>
              <a:t>import { posts } from "@/db/schema";</a:t>
            </a:r>
          </a:p>
          <a:p>
            <a:pPr defTabSz="1218438">
              <a:buClr>
                <a:schemeClr val="bg1"/>
              </a:buClr>
            </a:pPr>
            <a:endParaRPr lang="en-US" sz="2100" b="1" dirty="0">
              <a:solidFill>
                <a:schemeClr val="bg2"/>
              </a:solidFill>
              <a:latin typeface="Consolas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defTabSz="1218438">
              <a:buClr>
                <a:schemeClr val="bg1"/>
              </a:buClr>
            </a:pPr>
            <a:r>
              <a:rPr lang="en-US" sz="2100" b="1" noProof="1">
                <a:solidFill>
                  <a:schemeClr val="accent6"/>
                </a:solidFill>
                <a:latin typeface="Consolas"/>
                <a:ea typeface="Roboto" panose="02000000000000000000" pitchFamily="2" charset="0"/>
                <a:cs typeface="Roboto" panose="02000000000000000000" pitchFamily="2" charset="0"/>
              </a:rPr>
              <a:t>// Now use db.select(), db.insert(), …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A4F4771-4732-843E-F976-8F847F62D74B}"/>
              </a:ext>
            </a:extLst>
          </p:cNvPr>
          <p:cNvSpPr txBox="1">
            <a:spLocks/>
          </p:cNvSpPr>
          <p:nvPr/>
        </p:nvSpPr>
        <p:spPr>
          <a:xfrm>
            <a:off x="355691" y="1927465"/>
            <a:ext cx="4393423" cy="884070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r>
              <a:rPr lang="en-US" sz="2400" noProof="1"/>
              <a:t>npm install drizzle-orm @neondatabase/serverless</a:t>
            </a:r>
          </a:p>
        </p:txBody>
      </p:sp>
    </p:spTree>
    <p:extLst>
      <p:ext uri="{BB962C8B-B14F-4D97-AF65-F5344CB8AC3E}">
        <p14:creationId xmlns:p14="http://schemas.microsoft.com/office/powerpoint/2010/main" val="633871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C35FF-43B7-6B2E-9FCA-961E1D5CF7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1" y="1196125"/>
            <a:ext cx="3795443" cy="5561125"/>
          </a:xfrm>
        </p:spPr>
        <p:txBody>
          <a:bodyPr>
            <a:normAutofit/>
          </a:bodyPr>
          <a:lstStyle/>
          <a:p>
            <a:pPr marL="228600" indent="-228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2900" dirty="0"/>
              <a:t>API route handlers:</a:t>
            </a:r>
          </a:p>
          <a:p>
            <a:pPr marL="676275" lvl="1" indent="-228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2600" dirty="0"/>
              <a:t>File </a:t>
            </a:r>
            <a:r>
              <a:rPr lang="en-US" sz="2600" b="1" dirty="0">
                <a:solidFill>
                  <a:schemeClr val="accent4"/>
                </a:solidFill>
              </a:rPr>
              <a:t>location</a:t>
            </a:r>
            <a:r>
              <a:rPr lang="en-US" sz="2600" dirty="0"/>
              <a:t>: </a:t>
            </a:r>
            <a:r>
              <a:rPr lang="en-US" sz="2600" b="1" noProof="1">
                <a:solidFill>
                  <a:schemeClr val="accent4"/>
                </a:solidFill>
                <a:latin typeface="Consolas"/>
              </a:rPr>
              <a:t>/app/api/&lt;route&gt;/route.ts</a:t>
            </a:r>
          </a:p>
          <a:p>
            <a:pPr marL="676275" lvl="1" indent="-228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2600" dirty="0"/>
              <a:t>One </a:t>
            </a:r>
            <a:r>
              <a:rPr lang="en-US" sz="2600" b="1" dirty="0">
                <a:solidFill>
                  <a:schemeClr val="accent4"/>
                </a:solidFill>
              </a:rPr>
              <a:t>file</a:t>
            </a:r>
            <a:r>
              <a:rPr lang="en-US" sz="2600" dirty="0"/>
              <a:t> per </a:t>
            </a:r>
            <a:r>
              <a:rPr lang="en-US" sz="2600" b="1" dirty="0">
                <a:solidFill>
                  <a:schemeClr val="accent4"/>
                </a:solidFill>
              </a:rPr>
              <a:t>route</a:t>
            </a:r>
          </a:p>
          <a:p>
            <a:pPr marL="676275" lvl="1" indent="-228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2600" dirty="0"/>
              <a:t>One </a:t>
            </a:r>
            <a:r>
              <a:rPr lang="en-US" sz="2600" b="1" dirty="0">
                <a:solidFill>
                  <a:schemeClr val="accent4"/>
                </a:solidFill>
              </a:rPr>
              <a:t>exported function</a:t>
            </a:r>
            <a:r>
              <a:rPr lang="en-US" sz="2600" dirty="0"/>
              <a:t> per </a:t>
            </a:r>
            <a:r>
              <a:rPr lang="en-US" sz="2600" b="1" dirty="0">
                <a:solidFill>
                  <a:schemeClr val="accent4"/>
                </a:solidFill>
              </a:rPr>
              <a:t>HTTP method</a:t>
            </a:r>
          </a:p>
          <a:p>
            <a:pPr marL="676275" lvl="1" indent="-228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2600" dirty="0"/>
              <a:t>Use </a:t>
            </a:r>
            <a:r>
              <a:rPr lang="en-US" sz="2600" b="1" noProof="1">
                <a:solidFill>
                  <a:schemeClr val="accent4"/>
                </a:solidFill>
                <a:latin typeface="Consolas"/>
              </a:rPr>
              <a:t>NextRequest</a:t>
            </a:r>
            <a:r>
              <a:rPr lang="en-US" sz="2600" dirty="0"/>
              <a:t> / </a:t>
            </a:r>
            <a:r>
              <a:rPr lang="en-US" sz="2600" b="1" noProof="1">
                <a:solidFill>
                  <a:schemeClr val="accent4"/>
                </a:solidFill>
                <a:latin typeface="Consolas"/>
              </a:rPr>
              <a:t>NextResponse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APIs with Next.js and Drizzle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299461E-3473-216D-EB53-F97AAEF6763A}"/>
              </a:ext>
            </a:extLst>
          </p:cNvPr>
          <p:cNvSpPr txBox="1">
            <a:spLocks/>
          </p:cNvSpPr>
          <p:nvPr/>
        </p:nvSpPr>
        <p:spPr>
          <a:xfrm>
            <a:off x="4140379" y="1301624"/>
            <a:ext cx="7689856" cy="5223720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noProof="1">
                <a:solidFill>
                  <a:schemeClr val="accent4"/>
                </a:solidFill>
                <a:latin typeface="Consolas"/>
              </a:rPr>
              <a:t>import</a:t>
            </a:r>
            <a:r>
              <a:rPr lang="en-US" sz="2200" noProof="1">
                <a:latin typeface="Consolas"/>
              </a:rPr>
              <a:t> { NextRequest, NextResponse }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noProof="1">
                <a:solidFill>
                  <a:schemeClr val="accent4"/>
                </a:solidFill>
                <a:latin typeface="Consolas"/>
              </a:rPr>
              <a:t>  from</a:t>
            </a:r>
            <a:r>
              <a:rPr lang="en-US" sz="2200" noProof="1">
                <a:latin typeface="Consolas"/>
              </a:rPr>
              <a:t> </a:t>
            </a:r>
            <a:r>
              <a:rPr lang="en-US" sz="2200" noProof="1">
                <a:solidFill>
                  <a:srgbClr val="98D8CB"/>
                </a:solidFill>
                <a:latin typeface="Consolas"/>
              </a:rPr>
              <a:t>"next/server"</a:t>
            </a:r>
            <a:r>
              <a:rPr lang="en-US" sz="2200" noProof="1">
                <a:latin typeface="Consolas"/>
              </a:rPr>
              <a:t>;</a:t>
            </a:r>
            <a:endParaRPr lang="bg-BG" sz="2200" noProof="1"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endParaRPr lang="en-US" sz="2200" dirty="0"/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noProof="1">
                <a:solidFill>
                  <a:schemeClr val="accent4"/>
                </a:solidFill>
                <a:latin typeface="Consolas"/>
              </a:rPr>
              <a:t>export async function</a:t>
            </a:r>
            <a:r>
              <a:rPr lang="en-US" sz="2200" noProof="1">
                <a:latin typeface="Consolas"/>
              </a:rPr>
              <a:t> GET(req: NextRequest) {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noProof="1">
                <a:latin typeface="Consolas"/>
              </a:rPr>
              <a:t>  </a:t>
            </a:r>
            <a:r>
              <a:rPr lang="en-US" sz="2200" b="1" noProof="1">
                <a:solidFill>
                  <a:schemeClr val="accent4"/>
                </a:solidFill>
                <a:latin typeface="Consolas"/>
              </a:rPr>
              <a:t>const</a:t>
            </a:r>
            <a:r>
              <a:rPr lang="en-US" sz="2200" noProof="1">
                <a:latin typeface="Consolas"/>
              </a:rPr>
              <a:t> all = </a:t>
            </a:r>
            <a:r>
              <a:rPr lang="en-US" sz="2200" b="1" noProof="1">
                <a:solidFill>
                  <a:schemeClr val="accent4"/>
                </a:solidFill>
                <a:latin typeface="Consolas"/>
              </a:rPr>
              <a:t>await</a:t>
            </a:r>
            <a:r>
              <a:rPr lang="en-US" sz="2200" noProof="1">
                <a:latin typeface="Consolas"/>
              </a:rPr>
              <a:t> db.select().from(posts);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noProof="1">
                <a:latin typeface="Consolas"/>
              </a:rPr>
              <a:t>  </a:t>
            </a:r>
            <a:r>
              <a:rPr lang="en-US" sz="2200" b="1" noProof="1">
                <a:solidFill>
                  <a:schemeClr val="accent4"/>
                </a:solidFill>
                <a:latin typeface="Consolas"/>
              </a:rPr>
              <a:t>return</a:t>
            </a:r>
            <a:r>
              <a:rPr lang="en-US" sz="2200" noProof="1">
                <a:latin typeface="Consolas"/>
              </a:rPr>
              <a:t> NextResponse.json(all);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noProof="1">
                <a:latin typeface="Consolas"/>
              </a:rPr>
              <a:t>}</a:t>
            </a:r>
            <a:endParaRPr lang="bg-BG" sz="2200" noProof="1"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endParaRPr lang="en-US" sz="2200" dirty="0"/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noProof="1">
                <a:solidFill>
                  <a:schemeClr val="accent4"/>
                </a:solidFill>
                <a:latin typeface="Consolas"/>
              </a:rPr>
              <a:t>export async function</a:t>
            </a:r>
            <a:r>
              <a:rPr lang="en-US" sz="2200" noProof="1">
                <a:latin typeface="Consolas"/>
              </a:rPr>
              <a:t> POST(req: NextRequest) {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noProof="1">
                <a:latin typeface="Consolas"/>
              </a:rPr>
              <a:t>  </a:t>
            </a:r>
            <a:r>
              <a:rPr lang="en-US" sz="2200" b="1" noProof="1">
                <a:solidFill>
                  <a:schemeClr val="accent4"/>
                </a:solidFill>
                <a:latin typeface="Consolas"/>
              </a:rPr>
              <a:t>const</a:t>
            </a:r>
            <a:r>
              <a:rPr lang="en-US" sz="2200" noProof="1">
                <a:latin typeface="Consolas"/>
              </a:rPr>
              <a:t> body = </a:t>
            </a:r>
            <a:r>
              <a:rPr lang="en-US" sz="2200" b="1" noProof="1">
                <a:solidFill>
                  <a:schemeClr val="accent4"/>
                </a:solidFill>
                <a:latin typeface="Consolas"/>
              </a:rPr>
              <a:t>await</a:t>
            </a:r>
            <a:r>
              <a:rPr lang="en-US" sz="2200" noProof="1">
                <a:latin typeface="Consolas"/>
              </a:rPr>
              <a:t> req.json();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noProof="1">
                <a:latin typeface="Consolas"/>
              </a:rPr>
              <a:t>  </a:t>
            </a:r>
            <a:r>
              <a:rPr lang="en-US" sz="2200" b="1" noProof="1">
                <a:solidFill>
                  <a:schemeClr val="accent4"/>
                </a:solidFill>
                <a:latin typeface="Consolas"/>
              </a:rPr>
              <a:t>const</a:t>
            </a:r>
            <a:r>
              <a:rPr lang="en-US" sz="2200" noProof="1">
                <a:latin typeface="Consolas"/>
              </a:rPr>
              <a:t> [created] = </a:t>
            </a:r>
            <a:r>
              <a:rPr lang="en-US" sz="2200" b="1" noProof="1">
                <a:solidFill>
                  <a:schemeClr val="accent4"/>
                </a:solidFill>
                <a:latin typeface="Consolas"/>
              </a:rPr>
              <a:t>await</a:t>
            </a:r>
            <a:r>
              <a:rPr lang="en-US" sz="2200" noProof="1">
                <a:latin typeface="Consolas"/>
              </a:rPr>
              <a:t> db.insert(posts)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noProof="1">
                <a:latin typeface="Consolas"/>
              </a:rPr>
              <a:t>    .values(body).returning();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noProof="1">
                <a:latin typeface="Consolas"/>
              </a:rPr>
              <a:t>  </a:t>
            </a:r>
            <a:r>
              <a:rPr lang="en-US" sz="2200" b="1" noProof="1">
                <a:solidFill>
                  <a:schemeClr val="accent4"/>
                </a:solidFill>
                <a:latin typeface="Consolas"/>
              </a:rPr>
              <a:t>return</a:t>
            </a:r>
            <a:r>
              <a:rPr lang="en-US" sz="2200" noProof="1">
                <a:latin typeface="Consolas"/>
              </a:rPr>
              <a:t> NextResponse.json(created, { status: 201 });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noProof="1">
                <a:latin typeface="Consolas"/>
              </a:rPr>
              <a:t>}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5E5FFF-CF65-49C9-5D4C-1F41F5C4C517}"/>
              </a:ext>
            </a:extLst>
          </p:cNvPr>
          <p:cNvSpPr txBox="1">
            <a:spLocks/>
          </p:cNvSpPr>
          <p:nvPr/>
        </p:nvSpPr>
        <p:spPr>
          <a:xfrm>
            <a:off x="7752184" y="6041384"/>
            <a:ext cx="4078051" cy="483960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noProof="1">
                <a:solidFill>
                  <a:schemeClr val="accent4"/>
                </a:solidFill>
                <a:latin typeface="Consolas"/>
              </a:rPr>
              <a:t>/app/api/posts/route.ts</a:t>
            </a:r>
          </a:p>
        </p:txBody>
      </p:sp>
    </p:spTree>
    <p:extLst>
      <p:ext uri="{BB962C8B-B14F-4D97-AF65-F5344CB8AC3E}">
        <p14:creationId xmlns:p14="http://schemas.microsoft.com/office/powerpoint/2010/main" val="4202782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C35FF-43B7-6B2E-9FCA-961E1D5CF7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1" y="1196125"/>
            <a:ext cx="3959843" cy="5561125"/>
          </a:xfrm>
        </p:spPr>
        <p:txBody>
          <a:bodyPr>
            <a:normAutofit lnSpcReduction="10000"/>
          </a:bodyPr>
          <a:lstStyle/>
          <a:p>
            <a:pPr marL="228600" indent="-228600">
              <a:lnSpc>
                <a:spcPct val="100000"/>
              </a:lnSpc>
              <a:spcBef>
                <a:spcPts val="900"/>
              </a:spcBef>
              <a:buFont typeface="Arial"/>
              <a:buChar char="•"/>
            </a:pPr>
            <a:r>
              <a:rPr lang="en-US" sz="2800" dirty="0"/>
              <a:t>Folder name in </a:t>
            </a:r>
            <a:r>
              <a:rPr lang="en-US" sz="2800" b="1" dirty="0">
                <a:solidFill>
                  <a:schemeClr val="accent4"/>
                </a:solidFill>
              </a:rPr>
              <a:t>[brackets]</a:t>
            </a:r>
            <a:r>
              <a:rPr lang="en-US" sz="2800" dirty="0"/>
              <a:t> == </a:t>
            </a:r>
            <a:r>
              <a:rPr lang="en-US" sz="2800" b="1" dirty="0">
                <a:solidFill>
                  <a:schemeClr val="accent4"/>
                </a:solidFill>
              </a:rPr>
              <a:t>URL parameter</a:t>
            </a:r>
          </a:p>
          <a:p>
            <a:pPr marL="676275" lvl="1" indent="-228600">
              <a:lnSpc>
                <a:spcPct val="100000"/>
              </a:lnSpc>
              <a:spcBef>
                <a:spcPts val="900"/>
              </a:spcBef>
              <a:buFont typeface="Arial"/>
              <a:buChar char="•"/>
            </a:pPr>
            <a:r>
              <a:rPr lang="en-US" sz="2600" dirty="0"/>
              <a:t>Example path: </a:t>
            </a:r>
            <a:r>
              <a:rPr lang="en-US" sz="2600" b="1" noProof="1">
                <a:solidFill>
                  <a:schemeClr val="accent4"/>
                </a:solidFill>
                <a:latin typeface="Consolas"/>
              </a:rPr>
              <a:t>/app/api/posts/</a:t>
            </a:r>
            <a:br>
              <a:rPr lang="en-US" sz="2600" b="1" noProof="1">
                <a:solidFill>
                  <a:schemeClr val="accent4"/>
                </a:solidFill>
                <a:latin typeface="Consolas"/>
              </a:rPr>
            </a:br>
            <a:r>
              <a:rPr lang="en-US" sz="2600" b="1" noProof="1">
                <a:solidFill>
                  <a:schemeClr val="accent4"/>
                </a:solidFill>
                <a:latin typeface="Consolas"/>
              </a:rPr>
              <a:t>[id]/route.ts</a:t>
            </a:r>
          </a:p>
          <a:p>
            <a:pPr marL="228600" indent="-228600">
              <a:lnSpc>
                <a:spcPct val="100000"/>
              </a:lnSpc>
              <a:spcBef>
                <a:spcPts val="900"/>
              </a:spcBef>
              <a:buFont typeface="Arial"/>
              <a:buChar char="•"/>
            </a:pPr>
            <a:r>
              <a:rPr lang="en-US" sz="2800" dirty="0"/>
              <a:t>Read </a:t>
            </a:r>
            <a:r>
              <a:rPr lang="en-US" sz="2800" b="1" dirty="0">
                <a:solidFill>
                  <a:schemeClr val="accent4"/>
                </a:solidFill>
              </a:rPr>
              <a:t>params</a:t>
            </a:r>
            <a:r>
              <a:rPr lang="en-US" sz="2800" dirty="0"/>
              <a:t> (async)</a:t>
            </a:r>
          </a:p>
          <a:p>
            <a:pPr marL="228600" indent="-228600">
              <a:lnSpc>
                <a:spcPct val="100000"/>
              </a:lnSpc>
              <a:spcBef>
                <a:spcPts val="900"/>
              </a:spcBef>
              <a:buFont typeface="Arial"/>
              <a:buChar char="•"/>
            </a:pPr>
            <a:r>
              <a:rPr lang="en-US" sz="2800" noProof="1"/>
              <a:t>Query database</a:t>
            </a:r>
          </a:p>
          <a:p>
            <a:pPr marL="228600" indent="-228600">
              <a:lnSpc>
                <a:spcPct val="100000"/>
              </a:lnSpc>
              <a:spcBef>
                <a:spcPts val="900"/>
              </a:spcBef>
              <a:buFont typeface="Arial"/>
              <a:buChar char="•"/>
            </a:pPr>
            <a:r>
              <a:rPr lang="en-US" sz="2800" dirty="0"/>
              <a:t>Return </a:t>
            </a:r>
            <a:r>
              <a:rPr lang="en-US" sz="2800" b="1" dirty="0">
                <a:solidFill>
                  <a:schemeClr val="accent4"/>
                </a:solidFill>
              </a:rPr>
              <a:t>404</a:t>
            </a:r>
            <a:r>
              <a:rPr lang="en-US" sz="2800" dirty="0"/>
              <a:t> for not-found resources</a:t>
            </a:r>
          </a:p>
          <a:p>
            <a:pPr marL="228600" indent="-228600">
              <a:lnSpc>
                <a:spcPct val="100000"/>
              </a:lnSpc>
              <a:spcBef>
                <a:spcPts val="900"/>
              </a:spcBef>
              <a:buFont typeface="Arial"/>
              <a:buChar char="•"/>
            </a:pPr>
            <a:r>
              <a:rPr lang="en-US" sz="2800" dirty="0"/>
              <a:t>Return result as JSON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API Routes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299461E-3473-216D-EB53-F97AAEF6763A}"/>
              </a:ext>
            </a:extLst>
          </p:cNvPr>
          <p:cNvSpPr txBox="1">
            <a:spLocks/>
          </p:cNvSpPr>
          <p:nvPr/>
        </p:nvSpPr>
        <p:spPr>
          <a:xfrm>
            <a:off x="4204949" y="1956941"/>
            <a:ext cx="7604307" cy="3797688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noProof="1">
                <a:solidFill>
                  <a:schemeClr val="accent4"/>
                </a:solidFill>
                <a:latin typeface="Consolas"/>
              </a:rPr>
              <a:t>export async function</a:t>
            </a:r>
            <a:r>
              <a:rPr lang="en-US" sz="2100" noProof="1">
                <a:latin typeface="Consolas"/>
              </a:rPr>
              <a:t> GET(</a:t>
            </a:r>
            <a:r>
              <a:rPr lang="en-US" sz="2100" noProof="1">
                <a:solidFill>
                  <a:schemeClr val="accent4"/>
                </a:solidFill>
                <a:latin typeface="Consolas"/>
              </a:rPr>
              <a:t>req</a:t>
            </a:r>
            <a:r>
              <a:rPr lang="en-US" sz="2100" noProof="1">
                <a:latin typeface="Consolas"/>
              </a:rPr>
              <a:t>: NextRequest,</a:t>
            </a:r>
            <a:br>
              <a:rPr lang="en-US" sz="2100" noProof="1">
                <a:latin typeface="Consolas"/>
              </a:rPr>
            </a:br>
            <a:r>
              <a:rPr lang="en-US" sz="2100" noProof="1">
                <a:latin typeface="Consolas"/>
              </a:rPr>
              <a:t>  { </a:t>
            </a:r>
            <a:r>
              <a:rPr lang="en-US" sz="2100" noProof="1">
                <a:solidFill>
                  <a:schemeClr val="accent4"/>
                </a:solidFill>
                <a:latin typeface="Consolas"/>
              </a:rPr>
              <a:t>params</a:t>
            </a:r>
            <a:r>
              <a:rPr lang="en-US" sz="2100" noProof="1">
                <a:latin typeface="Consolas"/>
              </a:rPr>
              <a:t> }: { params: </a:t>
            </a:r>
            <a:r>
              <a:rPr lang="en-US" sz="2100" noProof="1">
                <a:solidFill>
                  <a:schemeClr val="accent4"/>
                </a:solidFill>
                <a:latin typeface="Consolas"/>
              </a:rPr>
              <a:t>Promise</a:t>
            </a:r>
            <a:r>
              <a:rPr lang="en-US" sz="2100" noProof="1">
                <a:latin typeface="Consolas"/>
              </a:rPr>
              <a:t>&lt;{ id: string }&gt; })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100" noProof="1">
                <a:latin typeface="Consolas"/>
              </a:rPr>
              <a:t>  </a:t>
            </a:r>
            <a:r>
              <a:rPr lang="en-US" sz="2100" b="1" noProof="1">
                <a:solidFill>
                  <a:schemeClr val="accent4"/>
                </a:solidFill>
                <a:latin typeface="Consolas"/>
              </a:rPr>
              <a:t>const</a:t>
            </a:r>
            <a:r>
              <a:rPr lang="en-US" sz="2100" noProof="1">
                <a:latin typeface="Consolas"/>
              </a:rPr>
              <a:t> { id } = </a:t>
            </a:r>
            <a:r>
              <a:rPr lang="en-US" sz="2100" noProof="1">
                <a:solidFill>
                  <a:schemeClr val="accent4"/>
                </a:solidFill>
                <a:latin typeface="Consolas"/>
              </a:rPr>
              <a:t>await </a:t>
            </a:r>
            <a:r>
              <a:rPr lang="en-US" sz="2100" noProof="1">
                <a:latin typeface="Consolas"/>
              </a:rPr>
              <a:t>params;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800" dirty="0"/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noProof="1">
                <a:latin typeface="Consolas"/>
              </a:rPr>
              <a:t>  </a:t>
            </a:r>
            <a:r>
              <a:rPr lang="en-US" sz="2100" b="1" noProof="1">
                <a:solidFill>
                  <a:schemeClr val="accent4"/>
                </a:solidFill>
                <a:latin typeface="Consolas"/>
              </a:rPr>
              <a:t>const</a:t>
            </a:r>
            <a:r>
              <a:rPr lang="en-US" sz="2100" noProof="1">
                <a:latin typeface="Consolas"/>
              </a:rPr>
              <a:t> [post] = </a:t>
            </a:r>
            <a:r>
              <a:rPr lang="en-US" sz="2100" b="1" noProof="1">
                <a:solidFill>
                  <a:schemeClr val="accent4"/>
                </a:solidFill>
                <a:latin typeface="Consolas"/>
              </a:rPr>
              <a:t>await</a:t>
            </a:r>
            <a:r>
              <a:rPr lang="en-US" sz="2100" noProof="1">
                <a:latin typeface="Consolas"/>
              </a:rPr>
              <a:t> db.select().from(posts)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noProof="1">
                <a:latin typeface="Consolas"/>
              </a:rPr>
              <a:t>    .where(eq(posts.id, </a:t>
            </a:r>
            <a:r>
              <a:rPr lang="en-US" sz="2100" b="1" noProof="1">
                <a:solidFill>
                  <a:schemeClr val="accent4"/>
                </a:solidFill>
                <a:latin typeface="Consolas"/>
              </a:rPr>
              <a:t>Number</a:t>
            </a:r>
            <a:r>
              <a:rPr lang="en-US" sz="2100" noProof="1">
                <a:latin typeface="Consolas"/>
              </a:rPr>
              <a:t>(id)));</a:t>
            </a:r>
          </a:p>
          <a:p>
            <a:pPr>
              <a:buNone/>
            </a:pPr>
            <a:endParaRPr lang="en-US" sz="800" dirty="0"/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noProof="1">
                <a:solidFill>
                  <a:schemeClr val="accent4"/>
                </a:solidFill>
                <a:latin typeface="Consolas"/>
              </a:rPr>
              <a:t>  if</a:t>
            </a:r>
            <a:r>
              <a:rPr lang="en-US" sz="2100" noProof="1">
                <a:latin typeface="Consolas"/>
              </a:rPr>
              <a:t> (!post) </a:t>
            </a:r>
            <a:r>
              <a:rPr lang="en-US" sz="2100" b="1" noProof="1">
                <a:solidFill>
                  <a:schemeClr val="accent4"/>
                </a:solidFill>
                <a:latin typeface="Consolas"/>
              </a:rPr>
              <a:t>return</a:t>
            </a:r>
            <a:r>
              <a:rPr lang="en-US" sz="2100" noProof="1">
                <a:latin typeface="Consolas"/>
              </a:rPr>
              <a:t> NextResponse.json(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noProof="1">
                <a:latin typeface="Consolas"/>
              </a:rPr>
              <a:t>    { error: </a:t>
            </a:r>
            <a:r>
              <a:rPr lang="en-US" sz="2100" noProof="1">
                <a:solidFill>
                  <a:srgbClr val="98D8CB"/>
                </a:solidFill>
                <a:latin typeface="Consolas"/>
              </a:rPr>
              <a:t>"Not found"</a:t>
            </a:r>
            <a:r>
              <a:rPr lang="en-US" sz="2100" noProof="1">
                <a:latin typeface="Consolas"/>
              </a:rPr>
              <a:t> }, { status: 404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800" dirty="0"/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noProof="1">
                <a:latin typeface="Consolas"/>
              </a:rPr>
              <a:t>  </a:t>
            </a:r>
            <a:r>
              <a:rPr lang="en-US" sz="2100" b="1" noProof="1">
                <a:solidFill>
                  <a:schemeClr val="accent4"/>
                </a:solidFill>
                <a:latin typeface="Consolas"/>
              </a:rPr>
              <a:t>return</a:t>
            </a:r>
            <a:r>
              <a:rPr lang="en-US" sz="2100" noProof="1">
                <a:latin typeface="Consolas"/>
              </a:rPr>
              <a:t> NextResponse.json(post);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noProof="1">
                <a:latin typeface="Consolas"/>
              </a:rPr>
              <a:t>}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07CC5C-DF56-8AF4-98A4-736BCA6163F5}"/>
              </a:ext>
            </a:extLst>
          </p:cNvPr>
          <p:cNvSpPr txBox="1">
            <a:spLocks/>
          </p:cNvSpPr>
          <p:nvPr/>
        </p:nvSpPr>
        <p:spPr>
          <a:xfrm>
            <a:off x="4204949" y="1400277"/>
            <a:ext cx="7604307" cy="55666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noProof="1">
                <a:solidFill>
                  <a:schemeClr val="accent4"/>
                </a:solidFill>
                <a:latin typeface="Consolas"/>
              </a:rPr>
              <a:t>/app/api/posts/[id]/route.ts</a:t>
            </a:r>
          </a:p>
        </p:txBody>
      </p:sp>
    </p:spTree>
    <p:extLst>
      <p:ext uri="{BB962C8B-B14F-4D97-AF65-F5344CB8AC3E}">
        <p14:creationId xmlns:p14="http://schemas.microsoft.com/office/powerpoint/2010/main" val="262284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allAtOnce" animBg="1"/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301ED-ABB6-D108-2CDE-6E1FDCE1B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4618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9D73C2-D5BB-D4BC-AAEA-036BBE5A64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3" y="1196125"/>
            <a:ext cx="11688505" cy="5561125"/>
          </a:xfrm>
        </p:spPr>
        <p:txBody>
          <a:bodyPr>
            <a:noAutofit/>
          </a:bodyPr>
          <a:lstStyle/>
          <a:p>
            <a:pPr marL="228600" indent="-228600">
              <a:lnSpc>
                <a:spcPct val="100000"/>
              </a:lnSpc>
              <a:buFont typeface="Arial"/>
              <a:buChar char="•"/>
            </a:pPr>
            <a:r>
              <a:rPr lang="en-US" sz="3000" b="1" dirty="0">
                <a:solidFill>
                  <a:schemeClr val="accent4"/>
                </a:solidFill>
              </a:rPr>
              <a:t>JWT</a:t>
            </a:r>
            <a:r>
              <a:rPr lang="en-US" sz="3000" dirty="0"/>
              <a:t> == </a:t>
            </a:r>
            <a:r>
              <a:rPr lang="en-US" sz="3000" b="1" dirty="0">
                <a:solidFill>
                  <a:schemeClr val="accent4"/>
                </a:solidFill>
              </a:rPr>
              <a:t>JSON Web Token</a:t>
            </a:r>
          </a:p>
          <a:p>
            <a:pPr marL="571500" lvl="1" indent="-342900">
              <a:lnSpc>
                <a:spcPct val="100000"/>
              </a:lnSpc>
            </a:pPr>
            <a:r>
              <a:rPr lang="en-US" sz="2400" dirty="0"/>
              <a:t>Signed token: </a:t>
            </a:r>
            <a:r>
              <a:rPr lang="en-US" sz="2400" b="1" noProof="1">
                <a:solidFill>
                  <a:schemeClr val="accent4"/>
                </a:solidFill>
              </a:rPr>
              <a:t>header.payload.signature</a:t>
            </a:r>
          </a:p>
          <a:p>
            <a:pPr marL="571500" lvl="1" indent="-342900">
              <a:lnSpc>
                <a:spcPct val="100000"/>
              </a:lnSpc>
            </a:pPr>
            <a:r>
              <a:rPr lang="en-US" sz="2400" b="1" dirty="0">
                <a:solidFill>
                  <a:schemeClr val="accent4"/>
                </a:solidFill>
              </a:rPr>
              <a:t>Stateless</a:t>
            </a:r>
            <a:r>
              <a:rPr lang="en-US" sz="2400" dirty="0"/>
              <a:t>: no server session store</a:t>
            </a:r>
          </a:p>
          <a:p>
            <a:pPr marL="571500" lvl="1" indent="-342900">
              <a:lnSpc>
                <a:spcPct val="100000"/>
              </a:lnSpc>
            </a:pPr>
            <a:r>
              <a:rPr lang="en-US" sz="2400" dirty="0"/>
              <a:t>Sent via HTTP request header:</a:t>
            </a:r>
            <a:br>
              <a:rPr lang="en-US" sz="2400" dirty="0"/>
            </a:br>
            <a:r>
              <a:rPr lang="en-US" sz="2400" b="1" noProof="1">
                <a:solidFill>
                  <a:schemeClr val="accent4"/>
                </a:solidFill>
              </a:rPr>
              <a:t>Authorization: Bearer &lt;token&gt;</a:t>
            </a:r>
            <a:endParaRPr lang="en-US" sz="2400" b="1" dirty="0">
              <a:solidFill>
                <a:schemeClr val="accent4"/>
              </a:solidFill>
            </a:endParaRPr>
          </a:p>
          <a:p>
            <a:pPr marL="228600" indent="-228600">
              <a:lnSpc>
                <a:spcPct val="100000"/>
              </a:lnSpc>
              <a:spcBef>
                <a:spcPts val="1200"/>
              </a:spcBef>
              <a:buFont typeface="Arial"/>
              <a:buChar char="•"/>
            </a:pPr>
            <a:r>
              <a:rPr lang="en-US" sz="3000" b="1" dirty="0">
                <a:solidFill>
                  <a:schemeClr val="accent4"/>
                </a:solidFill>
              </a:rPr>
              <a:t>Auth flow</a:t>
            </a:r>
            <a:r>
              <a:rPr lang="en-US" sz="3000" dirty="0"/>
              <a:t>:</a:t>
            </a:r>
          </a:p>
          <a:p>
            <a:pPr marL="571500" lvl="1" indent="-342900">
              <a:lnSpc>
                <a:spcPct val="100000"/>
              </a:lnSpc>
            </a:pPr>
            <a:r>
              <a:rPr lang="en-US" sz="2400" dirty="0"/>
              <a:t>User: </a:t>
            </a:r>
            <a:r>
              <a:rPr lang="en-US" sz="2400" b="1" dirty="0">
                <a:solidFill>
                  <a:schemeClr val="accent4"/>
                </a:solidFill>
              </a:rPr>
              <a:t>POST /auth/login { email + password }</a:t>
            </a:r>
          </a:p>
          <a:p>
            <a:pPr marL="571500" lvl="1" indent="-342900">
              <a:lnSpc>
                <a:spcPct val="100000"/>
              </a:lnSpc>
            </a:pPr>
            <a:r>
              <a:rPr lang="en-US" sz="2400" dirty="0"/>
              <a:t>Server verifies → issues </a:t>
            </a:r>
            <a:r>
              <a:rPr lang="en-US" sz="2400" b="1" dirty="0">
                <a:solidFill>
                  <a:schemeClr val="accent4"/>
                </a:solidFill>
              </a:rPr>
              <a:t>JWT </a:t>
            </a:r>
            <a:r>
              <a:rPr lang="en-US" sz="2400" dirty="0"/>
              <a:t>holding `</a:t>
            </a:r>
            <a:r>
              <a:rPr lang="en-US" sz="2400" b="1" noProof="1">
                <a:solidFill>
                  <a:schemeClr val="accent4"/>
                </a:solidFill>
              </a:rPr>
              <a:t>userId</a:t>
            </a:r>
            <a:r>
              <a:rPr lang="en-US" sz="2400" dirty="0"/>
              <a:t>`</a:t>
            </a:r>
            <a:endParaRPr lang="en-US" sz="2400" b="1" noProof="1">
              <a:solidFill>
                <a:schemeClr val="accent4"/>
              </a:solidFill>
            </a:endParaRPr>
          </a:p>
          <a:p>
            <a:pPr marL="571500" lvl="1" indent="-342900">
              <a:lnSpc>
                <a:spcPct val="100000"/>
              </a:lnSpc>
            </a:pPr>
            <a:r>
              <a:rPr lang="en-US" sz="2400" dirty="0"/>
              <a:t>Client stores JWT (</a:t>
            </a:r>
            <a:r>
              <a:rPr lang="en-US" sz="2400" b="1" dirty="0">
                <a:solidFill>
                  <a:schemeClr val="accent4"/>
                </a:solidFill>
              </a:rPr>
              <a:t>localStorage</a:t>
            </a:r>
            <a:r>
              <a:rPr lang="en-US" sz="2400" dirty="0"/>
              <a:t> or </a:t>
            </a:r>
            <a:r>
              <a:rPr lang="en-US" sz="2400" b="1" dirty="0">
                <a:solidFill>
                  <a:schemeClr val="accent4"/>
                </a:solidFill>
              </a:rPr>
              <a:t>httpOnly cookie</a:t>
            </a:r>
            <a:r>
              <a:rPr lang="en-US" sz="2400" dirty="0"/>
              <a:t>)</a:t>
            </a:r>
          </a:p>
          <a:p>
            <a:pPr marL="571500" lvl="1" indent="-342900">
              <a:lnSpc>
                <a:spcPct val="100000"/>
              </a:lnSpc>
            </a:pPr>
            <a:r>
              <a:rPr lang="en-US" sz="2400" dirty="0"/>
              <a:t>Each </a:t>
            </a:r>
            <a:r>
              <a:rPr lang="en-US" sz="2400" b="1" dirty="0">
                <a:solidFill>
                  <a:schemeClr val="accent4"/>
                </a:solidFill>
              </a:rPr>
              <a:t>authenticated request</a:t>
            </a:r>
            <a:r>
              <a:rPr lang="en-US" sz="2400" b="1" dirty="0"/>
              <a:t> </a:t>
            </a:r>
            <a:r>
              <a:rPr lang="en-US" sz="2400" dirty="0"/>
              <a:t>sends back the </a:t>
            </a:r>
            <a:r>
              <a:rPr lang="en-US" sz="2400" b="1" dirty="0">
                <a:solidFill>
                  <a:schemeClr val="accent4"/>
                </a:solidFill>
              </a:rPr>
              <a:t>JWT token</a:t>
            </a:r>
            <a:r>
              <a:rPr lang="en-US" sz="2400" dirty="0"/>
              <a:t> to the server</a:t>
            </a:r>
            <a:endParaRPr lang="en-US" sz="2400" b="1" dirty="0">
              <a:solidFill>
                <a:schemeClr val="accent4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465473-3E6F-A71C-8881-15CEDDD5E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43" y="100750"/>
            <a:ext cx="10800601" cy="882654"/>
          </a:xfrm>
        </p:spPr>
        <p:txBody>
          <a:bodyPr>
            <a:normAutofit/>
          </a:bodyPr>
          <a:lstStyle/>
          <a:p>
            <a:r>
              <a:rPr lang="en-US" dirty="0"/>
              <a:t>Authentication with JWT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DB52B08-552C-6F1C-01F6-84AD039D8531}"/>
              </a:ext>
            </a:extLst>
          </p:cNvPr>
          <p:cNvGrpSpPr/>
          <p:nvPr/>
        </p:nvGrpSpPr>
        <p:grpSpPr>
          <a:xfrm>
            <a:off x="7152312" y="1340768"/>
            <a:ext cx="4632320" cy="2532754"/>
            <a:chOff x="7368336" y="1340768"/>
            <a:chExt cx="4632320" cy="25327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1CA88AF-31D8-FB18-AC9F-D75CB18F2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24520" y="1340768"/>
              <a:ext cx="1088885" cy="894914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E9488CC-8BB7-455F-2F3B-F5351827CAD3}"/>
                </a:ext>
              </a:extLst>
            </p:cNvPr>
            <p:cNvGrpSpPr/>
            <p:nvPr/>
          </p:nvGrpSpPr>
          <p:grpSpPr>
            <a:xfrm>
              <a:off x="7368336" y="2335690"/>
              <a:ext cx="1338732" cy="1537832"/>
              <a:chOff x="333772" y="4969168"/>
              <a:chExt cx="1410442" cy="1537832"/>
            </a:xfrm>
          </p:grpSpPr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5D3B5463-CC08-9238-CF0D-B4E52A127A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068" y="5499819"/>
                <a:ext cx="1410146" cy="1007181"/>
              </a:xfrm>
              <a:prstGeom prst="rect">
                <a:avLst/>
              </a:prstGeom>
              <a:solidFill>
                <a:schemeClr val="accent6">
                  <a:lumMod val="75000"/>
                  <a:alpha val="1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72000" tIns="72000" rIns="72000" bIns="72000" rtlCol="0">
                <a:spAutoFit/>
              </a:bodyPr>
              <a:lstStyle>
                <a:defPPr>
                  <a:defRPr lang="en-US"/>
                </a:defPPr>
                <a:lvl1pPr indent="0" defTabSz="1218438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bg1"/>
                  </a:buClr>
                  <a:buFont typeface="Arial" panose="020B0604020202020204" pitchFamily="34" charset="0"/>
                  <a:buNone/>
                  <a:defRPr sz="2700" b="1" i="0">
                    <a:solidFill>
                      <a:schemeClr val="bg2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Roboto" panose="02000000000000000000" pitchFamily="2" charset="0"/>
                  </a:defRPr>
                </a:lvl1pPr>
                <a:lvl2pPr marL="809625" indent="-361950" defTabSz="1218438">
                  <a:lnSpc>
                    <a:spcPct val="105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3200" b="0" i="0">
                    <a:solidFill>
                      <a:schemeClr val="bg2"/>
                    </a:solidFill>
                    <a:ea typeface="Roboto" panose="02000000000000000000" pitchFamily="2" charset="0"/>
                    <a:cs typeface="Roboto" panose="02000000000000000000" pitchFamily="2" charset="0"/>
                  </a:defRPr>
                </a:lvl2pPr>
                <a:lvl3pPr marL="1257300" indent="-361950" defTabSz="1218438">
                  <a:lnSpc>
                    <a:spcPct val="105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3000" b="0" i="0">
                    <a:solidFill>
                      <a:schemeClr val="bg2"/>
                    </a:solidFill>
                    <a:ea typeface="Roboto" panose="02000000000000000000" pitchFamily="2" charset="0"/>
                    <a:cs typeface="Roboto" panose="02000000000000000000" pitchFamily="2" charset="0"/>
                  </a:defRPr>
                </a:lvl3pPr>
                <a:lvl4pPr marL="1704975" indent="-361950" defTabSz="1218438">
                  <a:lnSpc>
                    <a:spcPct val="105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2800" b="0" i="0">
                    <a:solidFill>
                      <a:schemeClr val="bg2"/>
                    </a:solidFill>
                  </a:defRPr>
                </a:lvl4pPr>
                <a:lvl5pPr marL="2152650" indent="-361950" defTabSz="1218438">
                  <a:lnSpc>
                    <a:spcPct val="105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2600" b="0" i="0">
                    <a:solidFill>
                      <a:schemeClr val="bg2"/>
                    </a:solidFill>
                  </a:defRPr>
                </a:lvl5pPr>
                <a:lvl6pPr marL="3350704" indent="-304610" defTabSz="1218438">
                  <a:spcBef>
                    <a:spcPct val="20000"/>
                  </a:spcBef>
                  <a:buFont typeface="Arial" pitchFamily="34" charset="0"/>
                  <a:buChar char="•"/>
                  <a:defRPr sz="2665"/>
                </a:lvl6pPr>
                <a:lvl7pPr marL="3959924" indent="-304610" defTabSz="1218438">
                  <a:spcBef>
                    <a:spcPct val="20000"/>
                  </a:spcBef>
                  <a:buFont typeface="Arial" pitchFamily="34" charset="0"/>
                  <a:buChar char="•"/>
                  <a:defRPr sz="2665"/>
                </a:lvl7pPr>
                <a:lvl8pPr marL="4569143" indent="-304610" defTabSz="1218438">
                  <a:spcBef>
                    <a:spcPct val="20000"/>
                  </a:spcBef>
                  <a:buFont typeface="Arial" pitchFamily="34" charset="0"/>
                  <a:buChar char="•"/>
                  <a:defRPr sz="2665"/>
                </a:lvl8pPr>
                <a:lvl9pPr marL="5178362" indent="-304610" defTabSz="1218438">
                  <a:spcBef>
                    <a:spcPct val="20000"/>
                  </a:spcBef>
                  <a:buFont typeface="Arial" pitchFamily="34" charset="0"/>
                  <a:buChar char="•"/>
                  <a:defRPr sz="2665"/>
                </a:lvl9pPr>
              </a:lstStyle>
              <a:p>
                <a:pPr lvl="0">
                  <a:buClr>
                    <a:srgbClr val="63C5B0"/>
                  </a:buClr>
                </a:pPr>
                <a:r>
                  <a:rPr lang="en-US" sz="1400" b="0" noProof="1">
                    <a:solidFill>
                      <a:srgbClr val="FFFFFF"/>
                    </a:solidFill>
                    <a:latin typeface="+mn-ea"/>
                    <a:ea typeface="+mn-ea"/>
                  </a:rPr>
                  <a:t>{</a:t>
                </a:r>
              </a:p>
              <a:p>
                <a:pPr lvl="0">
                  <a:buClr>
                    <a:srgbClr val="63C5B0"/>
                  </a:buClr>
                </a:pPr>
                <a:r>
                  <a:rPr lang="en-US" sz="1400" b="0" noProof="1">
                    <a:solidFill>
                      <a:srgbClr val="FFFFFF"/>
                    </a:solidFill>
                    <a:latin typeface="+mn-ea"/>
                    <a:ea typeface="+mn-ea"/>
                  </a:rPr>
                  <a:t>  "alg": "ES256",</a:t>
                </a:r>
              </a:p>
              <a:p>
                <a:pPr lvl="0">
                  <a:buClr>
                    <a:srgbClr val="63C5B0"/>
                  </a:buClr>
                </a:pPr>
                <a:r>
                  <a:rPr lang="en-US" sz="1400" b="0" noProof="1">
                    <a:solidFill>
                      <a:srgbClr val="FFFFFF"/>
                    </a:solidFill>
                    <a:latin typeface="+mn-ea"/>
                    <a:ea typeface="+mn-ea"/>
                  </a:rPr>
                  <a:t>  "typ": "JWT"</a:t>
                </a:r>
              </a:p>
              <a:p>
                <a:pPr lvl="0">
                  <a:buClr>
                    <a:srgbClr val="63C5B0"/>
                  </a:buClr>
                </a:pPr>
                <a:r>
                  <a:rPr lang="en-US" sz="1400" b="0" noProof="1">
                    <a:solidFill>
                      <a:srgbClr val="FFFFFF"/>
                    </a:solidFill>
                    <a:latin typeface="+mn-ea"/>
                    <a:ea typeface="+mn-ea"/>
                  </a:rPr>
                  <a:t>}</a:t>
                </a:r>
                <a:endParaRPr lang="en-US" sz="1400" b="0" noProof="1">
                  <a:solidFill>
                    <a:srgbClr val="FFFFFF"/>
                  </a:solidFill>
                  <a:latin typeface="Roboto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04CBA7-3ADC-A59C-2D62-1DCB300712D4}"/>
                  </a:ext>
                </a:extLst>
              </p:cNvPr>
              <p:cNvSpPr txBox="1"/>
              <p:nvPr/>
            </p:nvSpPr>
            <p:spPr>
              <a:xfrm>
                <a:off x="333772" y="4969168"/>
                <a:ext cx="1410146" cy="53614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144000" tIns="108000" rIns="144000" bIns="108000" rtlCol="0">
                <a:spAutoFit/>
              </a:bodyPr>
              <a:lstStyle/>
              <a:p>
                <a:pPr algn="ctr" eaLnBrk="0" hangingPunct="0">
                  <a:lnSpc>
                    <a:spcPct val="110000"/>
                  </a:lnSpc>
                  <a:buClr>
                    <a:schemeClr val="accent5">
                      <a:lumMod val="40000"/>
                      <a:lumOff val="60000"/>
                    </a:schemeClr>
                  </a:buClr>
                  <a:buSzPct val="70000"/>
                </a:pPr>
                <a:r>
                  <a:rPr lang="en-US" sz="2000" dirty="0">
                    <a:solidFill>
                      <a:schemeClr val="bg2"/>
                    </a:solidFill>
                  </a:rPr>
                  <a:t>header</a:t>
                </a:r>
                <a:endParaRPr lang="bg-BG" sz="2000" dirty="0">
                  <a:solidFill>
                    <a:schemeClr val="bg2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0A9A1C4-6638-D4A0-BF1C-F934784B2B2C}"/>
                </a:ext>
              </a:extLst>
            </p:cNvPr>
            <p:cNvGrpSpPr/>
            <p:nvPr/>
          </p:nvGrpSpPr>
          <p:grpSpPr>
            <a:xfrm>
              <a:off x="8932192" y="2335690"/>
              <a:ext cx="1587252" cy="1537832"/>
              <a:chOff x="1953951" y="4969168"/>
              <a:chExt cx="1662472" cy="1537832"/>
            </a:xfrm>
          </p:grpSpPr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691C1D69-EB0A-8E41-9D66-C4E831D074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54247" y="5499819"/>
                <a:ext cx="1662176" cy="1007181"/>
              </a:xfrm>
              <a:prstGeom prst="rect">
                <a:avLst/>
              </a:prstGeom>
              <a:solidFill>
                <a:schemeClr val="accent6">
                  <a:lumMod val="75000"/>
                  <a:alpha val="1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72000" tIns="72000" rIns="72000" bIns="72000" rtlCol="0">
                <a:spAutoFit/>
              </a:bodyPr>
              <a:lstStyle>
                <a:defPPr>
                  <a:defRPr lang="en-US"/>
                </a:defPPr>
                <a:lvl1pPr indent="0" defTabSz="1218438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bg1"/>
                  </a:buClr>
                  <a:buFont typeface="Arial" panose="020B0604020202020204" pitchFamily="34" charset="0"/>
                  <a:buNone/>
                  <a:defRPr sz="2700" b="1" i="0">
                    <a:solidFill>
                      <a:schemeClr val="bg2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Roboto" panose="02000000000000000000" pitchFamily="2" charset="0"/>
                  </a:defRPr>
                </a:lvl1pPr>
                <a:lvl2pPr marL="809625" indent="-361950" defTabSz="1218438">
                  <a:lnSpc>
                    <a:spcPct val="105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3200" b="0" i="0">
                    <a:solidFill>
                      <a:schemeClr val="bg2"/>
                    </a:solidFill>
                    <a:ea typeface="Roboto" panose="02000000000000000000" pitchFamily="2" charset="0"/>
                    <a:cs typeface="Roboto" panose="02000000000000000000" pitchFamily="2" charset="0"/>
                  </a:defRPr>
                </a:lvl2pPr>
                <a:lvl3pPr marL="1257300" indent="-361950" defTabSz="1218438">
                  <a:lnSpc>
                    <a:spcPct val="105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3000" b="0" i="0">
                    <a:solidFill>
                      <a:schemeClr val="bg2"/>
                    </a:solidFill>
                    <a:ea typeface="Roboto" panose="02000000000000000000" pitchFamily="2" charset="0"/>
                    <a:cs typeface="Roboto" panose="02000000000000000000" pitchFamily="2" charset="0"/>
                  </a:defRPr>
                </a:lvl3pPr>
                <a:lvl4pPr marL="1704975" indent="-361950" defTabSz="1218438">
                  <a:lnSpc>
                    <a:spcPct val="105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2800" b="0" i="0">
                    <a:solidFill>
                      <a:schemeClr val="bg2"/>
                    </a:solidFill>
                  </a:defRPr>
                </a:lvl4pPr>
                <a:lvl5pPr marL="2152650" indent="-361950" defTabSz="1218438">
                  <a:lnSpc>
                    <a:spcPct val="105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2600" b="0" i="0">
                    <a:solidFill>
                      <a:schemeClr val="bg2"/>
                    </a:solidFill>
                  </a:defRPr>
                </a:lvl5pPr>
                <a:lvl6pPr marL="3350704" indent="-304610" defTabSz="1218438">
                  <a:spcBef>
                    <a:spcPct val="20000"/>
                  </a:spcBef>
                  <a:buFont typeface="Arial" pitchFamily="34" charset="0"/>
                  <a:buChar char="•"/>
                  <a:defRPr sz="2665"/>
                </a:lvl6pPr>
                <a:lvl7pPr marL="3959924" indent="-304610" defTabSz="1218438">
                  <a:spcBef>
                    <a:spcPct val="20000"/>
                  </a:spcBef>
                  <a:buFont typeface="Arial" pitchFamily="34" charset="0"/>
                  <a:buChar char="•"/>
                  <a:defRPr sz="2665"/>
                </a:lvl7pPr>
                <a:lvl8pPr marL="4569143" indent="-304610" defTabSz="1218438">
                  <a:spcBef>
                    <a:spcPct val="20000"/>
                  </a:spcBef>
                  <a:buFont typeface="Arial" pitchFamily="34" charset="0"/>
                  <a:buChar char="•"/>
                  <a:defRPr sz="2665"/>
                </a:lvl8pPr>
                <a:lvl9pPr marL="5178362" indent="-304610" defTabSz="1218438">
                  <a:spcBef>
                    <a:spcPct val="20000"/>
                  </a:spcBef>
                  <a:buFont typeface="Arial" pitchFamily="34" charset="0"/>
                  <a:buChar char="•"/>
                  <a:defRPr sz="2665"/>
                </a:lvl9pPr>
              </a:lstStyle>
              <a:p>
                <a:pPr lvl="0">
                  <a:buClr>
                    <a:srgbClr val="63C5B0"/>
                  </a:buClr>
                </a:pPr>
                <a:r>
                  <a:rPr lang="en-US" sz="1400" b="0" noProof="1">
                    <a:solidFill>
                      <a:srgbClr val="FFFFFF"/>
                    </a:solidFill>
                    <a:latin typeface="+mn-ea"/>
                    <a:ea typeface="+mn-ea"/>
                  </a:rPr>
                  <a:t>{</a:t>
                </a:r>
              </a:p>
              <a:p>
                <a:pPr lvl="0">
                  <a:buClr>
                    <a:srgbClr val="63C5B0"/>
                  </a:buClr>
                </a:pPr>
                <a:r>
                  <a:rPr lang="en-US" sz="1400" b="0" noProof="1">
                    <a:solidFill>
                      <a:srgbClr val="FFFFFF"/>
                    </a:solidFill>
                    <a:latin typeface="+mn-ea"/>
                    <a:ea typeface="+mn-ea"/>
                  </a:rPr>
                  <a:t>  "sub": "jonny86",</a:t>
                </a:r>
              </a:p>
              <a:p>
                <a:pPr lvl="0">
                  <a:buClr>
                    <a:srgbClr val="63C5B0"/>
                  </a:buClr>
                </a:pPr>
                <a:r>
                  <a:rPr lang="en-US" sz="1400" b="0" noProof="1">
                    <a:solidFill>
                      <a:srgbClr val="FFFFFF"/>
                    </a:solidFill>
                    <a:latin typeface="+mn-ea"/>
                    <a:ea typeface="+mn-ea"/>
                  </a:rPr>
                  <a:t>  "iat": 1516239022</a:t>
                </a:r>
              </a:p>
              <a:p>
                <a:pPr lvl="0">
                  <a:buClr>
                    <a:srgbClr val="63C5B0"/>
                  </a:buClr>
                </a:pPr>
                <a:r>
                  <a:rPr lang="en-US" sz="1400" b="0" noProof="1">
                    <a:solidFill>
                      <a:srgbClr val="FFFFFF"/>
                    </a:solidFill>
                    <a:latin typeface="+mn-ea"/>
                    <a:ea typeface="+mn-ea"/>
                  </a:rPr>
                  <a:t>}</a:t>
                </a:r>
                <a:endParaRPr lang="en-US" sz="1400" b="0" noProof="1">
                  <a:solidFill>
                    <a:srgbClr val="FFFFFF"/>
                  </a:solidFill>
                  <a:latin typeface="Roboto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A5D538-9CDC-9ABA-7E5C-664929993552}"/>
                  </a:ext>
                </a:extLst>
              </p:cNvPr>
              <p:cNvSpPr txBox="1"/>
              <p:nvPr/>
            </p:nvSpPr>
            <p:spPr>
              <a:xfrm>
                <a:off x="1953951" y="4969168"/>
                <a:ext cx="1662176" cy="53614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144000" tIns="108000" rIns="144000" bIns="108000" rtlCol="0">
                <a:spAutoFit/>
              </a:bodyPr>
              <a:lstStyle/>
              <a:p>
                <a:pPr algn="ctr" eaLnBrk="0" hangingPunct="0">
                  <a:lnSpc>
                    <a:spcPct val="110000"/>
                  </a:lnSpc>
                  <a:buClr>
                    <a:schemeClr val="accent5">
                      <a:lumMod val="40000"/>
                      <a:lumOff val="60000"/>
                    </a:schemeClr>
                  </a:buClr>
                  <a:buSzPct val="70000"/>
                </a:pPr>
                <a:r>
                  <a:rPr lang="en-US" sz="2000" dirty="0">
                    <a:solidFill>
                      <a:schemeClr val="bg2"/>
                    </a:solidFill>
                  </a:rPr>
                  <a:t>payload</a:t>
                </a:r>
                <a:endParaRPr lang="bg-BG" sz="2000" dirty="0">
                  <a:solidFill>
                    <a:schemeClr val="bg2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D4EA744-B3B9-5196-3714-77C4F39815DB}"/>
                </a:ext>
              </a:extLst>
            </p:cNvPr>
            <p:cNvGrpSpPr/>
            <p:nvPr/>
          </p:nvGrpSpPr>
          <p:grpSpPr>
            <a:xfrm>
              <a:off x="10608696" y="2335690"/>
              <a:ext cx="1391960" cy="1537832"/>
              <a:chOff x="3688094" y="4969168"/>
              <a:chExt cx="1391960" cy="1537832"/>
            </a:xfrm>
          </p:grpSpPr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29E554CB-4D17-AD65-A863-BBD6E92A5B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25864" y="5499819"/>
                <a:ext cx="1116420" cy="1007181"/>
              </a:xfrm>
              <a:prstGeom prst="rect">
                <a:avLst/>
              </a:prstGeom>
              <a:solidFill>
                <a:schemeClr val="accent6">
                  <a:lumMod val="75000"/>
                  <a:alpha val="1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72000" tIns="72000" rIns="72000" bIns="72000" rtlCol="0">
                <a:spAutoFit/>
              </a:bodyPr>
              <a:lstStyle>
                <a:defPPr>
                  <a:defRPr lang="en-US"/>
                </a:defPPr>
                <a:lvl1pPr indent="0" defTabSz="1218438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bg1"/>
                  </a:buClr>
                  <a:buFont typeface="Arial" panose="020B0604020202020204" pitchFamily="34" charset="0"/>
                  <a:buNone/>
                  <a:defRPr sz="2700" b="1" i="0">
                    <a:solidFill>
                      <a:schemeClr val="bg2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Roboto" panose="02000000000000000000" pitchFamily="2" charset="0"/>
                  </a:defRPr>
                </a:lvl1pPr>
                <a:lvl2pPr marL="809625" indent="-361950" defTabSz="1218438">
                  <a:lnSpc>
                    <a:spcPct val="105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3200" b="0" i="0">
                    <a:solidFill>
                      <a:schemeClr val="bg2"/>
                    </a:solidFill>
                    <a:ea typeface="Roboto" panose="02000000000000000000" pitchFamily="2" charset="0"/>
                    <a:cs typeface="Roboto" panose="02000000000000000000" pitchFamily="2" charset="0"/>
                  </a:defRPr>
                </a:lvl2pPr>
                <a:lvl3pPr marL="1257300" indent="-361950" defTabSz="1218438">
                  <a:lnSpc>
                    <a:spcPct val="105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3000" b="0" i="0">
                    <a:solidFill>
                      <a:schemeClr val="bg2"/>
                    </a:solidFill>
                    <a:ea typeface="Roboto" panose="02000000000000000000" pitchFamily="2" charset="0"/>
                    <a:cs typeface="Roboto" panose="02000000000000000000" pitchFamily="2" charset="0"/>
                  </a:defRPr>
                </a:lvl3pPr>
                <a:lvl4pPr marL="1704975" indent="-361950" defTabSz="1218438">
                  <a:lnSpc>
                    <a:spcPct val="105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2800" b="0" i="0">
                    <a:solidFill>
                      <a:schemeClr val="bg2"/>
                    </a:solidFill>
                  </a:defRPr>
                </a:lvl4pPr>
                <a:lvl5pPr marL="2152650" indent="-361950" defTabSz="1218438">
                  <a:lnSpc>
                    <a:spcPct val="105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2600" b="0" i="0">
                    <a:solidFill>
                      <a:schemeClr val="bg2"/>
                    </a:solidFill>
                  </a:defRPr>
                </a:lvl5pPr>
                <a:lvl6pPr marL="3350704" indent="-304610" defTabSz="1218438">
                  <a:spcBef>
                    <a:spcPct val="20000"/>
                  </a:spcBef>
                  <a:buFont typeface="Arial" pitchFamily="34" charset="0"/>
                  <a:buChar char="•"/>
                  <a:defRPr sz="2665"/>
                </a:lvl6pPr>
                <a:lvl7pPr marL="3959924" indent="-304610" defTabSz="1218438">
                  <a:spcBef>
                    <a:spcPct val="20000"/>
                  </a:spcBef>
                  <a:buFont typeface="Arial" pitchFamily="34" charset="0"/>
                  <a:buChar char="•"/>
                  <a:defRPr sz="2665"/>
                </a:lvl7pPr>
                <a:lvl8pPr marL="4569143" indent="-304610" defTabSz="1218438">
                  <a:spcBef>
                    <a:spcPct val="20000"/>
                  </a:spcBef>
                  <a:buFont typeface="Arial" pitchFamily="34" charset="0"/>
                  <a:buChar char="•"/>
                  <a:defRPr sz="2665"/>
                </a:lvl8pPr>
                <a:lvl9pPr marL="5178362" indent="-304610" defTabSz="1218438">
                  <a:spcBef>
                    <a:spcPct val="20000"/>
                  </a:spcBef>
                  <a:buFont typeface="Arial" pitchFamily="34" charset="0"/>
                  <a:buChar char="•"/>
                  <a:defRPr sz="2665"/>
                </a:lvl9pPr>
              </a:lstStyle>
              <a:p>
                <a:pPr lvl="0">
                  <a:buClr>
                    <a:srgbClr val="63C5B0"/>
                  </a:buClr>
                </a:pPr>
                <a:r>
                  <a:rPr lang="en-US" sz="1400" b="0" noProof="1">
                    <a:solidFill>
                      <a:srgbClr val="FFFFFF"/>
                    </a:solidFill>
                    <a:latin typeface="+mn-ea"/>
                    <a:ea typeface="+mn-ea"/>
                  </a:rPr>
                  <a:t>KMUFsIDTnFmyG3nMiGM6H9FNFUROf3wh7S…</a:t>
                </a:r>
                <a:endParaRPr lang="en-US" sz="1400" b="0" noProof="1">
                  <a:solidFill>
                    <a:srgbClr val="FFFFFF"/>
                  </a:solidFill>
                  <a:latin typeface="Roboto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DCC2AC-81ED-543E-30CB-F7529FB7B566}"/>
                  </a:ext>
                </a:extLst>
              </p:cNvPr>
              <p:cNvSpPr txBox="1"/>
              <p:nvPr/>
            </p:nvSpPr>
            <p:spPr>
              <a:xfrm>
                <a:off x="3688094" y="4969168"/>
                <a:ext cx="1391960" cy="53614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144000" tIns="108000" rIns="144000" bIns="108000" rtlCol="0">
                <a:spAutoFit/>
              </a:bodyPr>
              <a:lstStyle/>
              <a:p>
                <a:pPr algn="ctr" eaLnBrk="0" hangingPunct="0">
                  <a:lnSpc>
                    <a:spcPct val="110000"/>
                  </a:lnSpc>
                  <a:buClr>
                    <a:schemeClr val="accent5">
                      <a:lumMod val="40000"/>
                      <a:lumOff val="60000"/>
                    </a:schemeClr>
                  </a:buClr>
                  <a:buSzPct val="70000"/>
                </a:pPr>
                <a:r>
                  <a:rPr lang="en-US" sz="2000" dirty="0">
                    <a:solidFill>
                      <a:schemeClr val="bg2"/>
                    </a:solidFill>
                  </a:rPr>
                  <a:t>signature</a:t>
                </a:r>
                <a:endParaRPr lang="bg-BG" sz="2000" dirty="0">
                  <a:solidFill>
                    <a:schemeClr val="bg2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35339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C35FF-43B7-6B2E-9FCA-961E1D5CF7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1" y="1196125"/>
            <a:ext cx="4607915" cy="5561125"/>
          </a:xfrm>
        </p:spPr>
        <p:txBody>
          <a:bodyPr>
            <a:normAutofit/>
          </a:bodyPr>
          <a:lstStyle/>
          <a:p>
            <a:pPr marL="228600" indent="-228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3000" dirty="0"/>
              <a:t>Small helper to </a:t>
            </a:r>
            <a:r>
              <a:rPr lang="en-US" sz="3000" b="1" dirty="0">
                <a:solidFill>
                  <a:schemeClr val="accent4"/>
                </a:solidFill>
              </a:rPr>
              <a:t>verify the token</a:t>
            </a:r>
            <a:r>
              <a:rPr lang="en-US" sz="3000" dirty="0"/>
              <a:t>:</a:t>
            </a:r>
            <a:endParaRPr lang="en-US" sz="3000" b="1" dirty="0">
              <a:solidFill>
                <a:schemeClr val="accent4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br>
              <a:rPr lang="en-US" sz="3000" b="1" dirty="0">
                <a:solidFill>
                  <a:schemeClr val="accent4"/>
                </a:solidFill>
              </a:rPr>
            </a:br>
            <a:endParaRPr lang="en-US" sz="3000" b="1" dirty="0">
              <a:solidFill>
                <a:schemeClr val="accent4"/>
              </a:solidFill>
            </a:endParaRPr>
          </a:p>
          <a:p>
            <a:pPr marL="228600" indent="-228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3000" dirty="0"/>
              <a:t>Returns </a:t>
            </a:r>
            <a:r>
              <a:rPr lang="en-US" sz="3000" b="1" dirty="0">
                <a:solidFill>
                  <a:schemeClr val="accent4"/>
                </a:solidFill>
              </a:rPr>
              <a:t>null</a:t>
            </a:r>
            <a:r>
              <a:rPr lang="en-US" sz="3000" dirty="0"/>
              <a:t> or the token payload </a:t>
            </a:r>
            <a:r>
              <a:rPr lang="en-US" sz="3000" noProof="1">
                <a:latin typeface="Consolas"/>
              </a:rPr>
              <a:t>{</a:t>
            </a:r>
            <a:r>
              <a:rPr lang="en-US" sz="3000" b="1" noProof="1">
                <a:solidFill>
                  <a:srgbClr val="FFD999"/>
                </a:solidFill>
                <a:latin typeface="Consolas"/>
              </a:rPr>
              <a:t>userId</a:t>
            </a:r>
            <a:r>
              <a:rPr lang="en-US" sz="3000" noProof="1">
                <a:latin typeface="Consolas"/>
              </a:rPr>
              <a:t>}</a:t>
            </a:r>
          </a:p>
          <a:p>
            <a:pPr marL="228600" indent="-228600">
              <a:lnSpc>
                <a:spcPct val="100000"/>
              </a:lnSpc>
              <a:spcBef>
                <a:spcPts val="1800"/>
              </a:spcBef>
              <a:buFont typeface="Arial"/>
              <a:buChar char="•"/>
            </a:pPr>
            <a:r>
              <a:rPr lang="en-US" sz="3000" dirty="0"/>
              <a:t>Runs </a:t>
            </a:r>
            <a:r>
              <a:rPr lang="en-US" sz="3000" b="1" dirty="0">
                <a:solidFill>
                  <a:schemeClr val="accent4"/>
                </a:solidFill>
              </a:rPr>
              <a:t>before</a:t>
            </a:r>
            <a:r>
              <a:rPr lang="en-US" sz="3000" dirty="0"/>
              <a:t> the handler</a:t>
            </a:r>
          </a:p>
          <a:p>
            <a:pPr marL="228600" indent="-228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3000" dirty="0"/>
              <a:t>In the route, check </a:t>
            </a:r>
            <a:r>
              <a:rPr lang="en-US" sz="3000" b="1" dirty="0">
                <a:solidFill>
                  <a:schemeClr val="accent4"/>
                </a:solidFill>
              </a:rPr>
              <a:t>auth</a:t>
            </a:r>
            <a:r>
              <a:rPr lang="en-US" sz="3000" dirty="0"/>
              <a:t> and </a:t>
            </a:r>
            <a:r>
              <a:rPr lang="en-US" sz="3000" b="1" dirty="0">
                <a:solidFill>
                  <a:schemeClr val="accent4"/>
                </a:solidFill>
              </a:rPr>
              <a:t>return 401</a:t>
            </a:r>
            <a:r>
              <a:rPr lang="en-US" sz="3000" dirty="0"/>
              <a:t> if invalid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JWT Auth Logic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299461E-3473-216D-EB53-F97AAEF6763A}"/>
              </a:ext>
            </a:extLst>
          </p:cNvPr>
          <p:cNvSpPr txBox="1">
            <a:spLocks/>
          </p:cNvSpPr>
          <p:nvPr/>
        </p:nvSpPr>
        <p:spPr>
          <a:xfrm>
            <a:off x="5015880" y="1268760"/>
            <a:ext cx="6750990" cy="3089802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noProof="1">
                <a:solidFill>
                  <a:srgbClr val="98D8CB"/>
                </a:solidFill>
                <a:latin typeface="Consolas"/>
              </a:rPr>
              <a:t>// lib/auth.ts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accent4"/>
                </a:solidFill>
                <a:latin typeface="Consolas"/>
              </a:rPr>
              <a:t>import</a:t>
            </a:r>
            <a:r>
              <a:rPr lang="en-US" sz="2000" noProof="1">
                <a:latin typeface="Consolas"/>
              </a:rPr>
              <a:t> jwt </a:t>
            </a:r>
            <a:r>
              <a:rPr lang="en-US" sz="2000" b="1" noProof="1">
                <a:solidFill>
                  <a:schemeClr val="accent4"/>
                </a:solidFill>
                <a:latin typeface="Consolas"/>
              </a:rPr>
              <a:t>from</a:t>
            </a:r>
            <a:r>
              <a:rPr lang="en-US" sz="2000" noProof="1">
                <a:latin typeface="Consolas"/>
              </a:rPr>
              <a:t> </a:t>
            </a:r>
            <a:r>
              <a:rPr lang="en-US" sz="2000" noProof="1">
                <a:solidFill>
                  <a:srgbClr val="98D8CB"/>
                </a:solidFill>
                <a:latin typeface="Consolas"/>
              </a:rPr>
              <a:t>"jsonwebtoken"</a:t>
            </a:r>
            <a:r>
              <a:rPr lang="en-US" sz="2000" noProof="1">
                <a:latin typeface="Consolas"/>
              </a:rPr>
              <a:t>;</a:t>
            </a:r>
          </a:p>
          <a:p>
            <a:pPr>
              <a:buNone/>
            </a:pPr>
            <a:endParaRPr lang="en-US" sz="800" dirty="0"/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accent4"/>
                </a:solidFill>
                <a:latin typeface="Consolas"/>
              </a:rPr>
              <a:t>export function</a:t>
            </a:r>
            <a:r>
              <a:rPr lang="en-US" sz="2000" noProof="1">
                <a:latin typeface="Consolas"/>
              </a:rPr>
              <a:t> verifyToken(token: </a:t>
            </a:r>
            <a:r>
              <a:rPr lang="en-US" sz="2000" b="1" noProof="1">
                <a:solidFill>
                  <a:schemeClr val="accent4"/>
                </a:solidFill>
                <a:latin typeface="Consolas"/>
              </a:rPr>
              <a:t>string</a:t>
            </a:r>
            <a:r>
              <a:rPr lang="en-US" sz="2000" noProof="1">
                <a:latin typeface="Consolas"/>
              </a:rPr>
              <a:t>) {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1">
                <a:latin typeface="Consolas"/>
              </a:rPr>
              <a:t>  </a:t>
            </a:r>
            <a:r>
              <a:rPr lang="en-US" sz="2000" b="1" noProof="1">
                <a:solidFill>
                  <a:schemeClr val="accent4"/>
                </a:solidFill>
                <a:latin typeface="Consolas"/>
              </a:rPr>
              <a:t>try</a:t>
            </a:r>
            <a:r>
              <a:rPr lang="en-US" sz="2000" noProof="1">
                <a:latin typeface="Consolas"/>
              </a:rPr>
              <a:t> {</a:t>
            </a:r>
          </a:p>
          <a:p>
            <a:pPr marL="808038" indent="-808038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1">
                <a:latin typeface="Consolas"/>
              </a:rPr>
              <a:t>    </a:t>
            </a:r>
            <a:r>
              <a:rPr lang="en-US" sz="2000" b="1" noProof="1">
                <a:solidFill>
                  <a:schemeClr val="accent4"/>
                </a:solidFill>
                <a:latin typeface="Consolas"/>
              </a:rPr>
              <a:t>return</a:t>
            </a:r>
            <a:r>
              <a:rPr lang="en-US" sz="2000" noProof="1">
                <a:latin typeface="Consolas"/>
              </a:rPr>
              <a:t> jwt.verify(</a:t>
            </a:r>
            <a:br>
              <a:rPr lang="en-US" sz="2000" noProof="1">
                <a:latin typeface="Consolas"/>
              </a:rPr>
            </a:br>
            <a:r>
              <a:rPr lang="en-US" sz="2000" noProof="1">
                <a:latin typeface="Consolas"/>
              </a:rPr>
              <a:t>token, process.env.JWT_SECRET!)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1">
                <a:latin typeface="Consolas"/>
              </a:rPr>
              <a:t>      </a:t>
            </a:r>
            <a:r>
              <a:rPr lang="en-US" sz="2000" b="1" noProof="1">
                <a:solidFill>
                  <a:schemeClr val="accent4"/>
                </a:solidFill>
                <a:latin typeface="Consolas"/>
              </a:rPr>
              <a:t>as</a:t>
            </a:r>
            <a:r>
              <a:rPr lang="en-US" sz="2000" noProof="1">
                <a:latin typeface="Consolas"/>
              </a:rPr>
              <a:t> { userId: </a:t>
            </a:r>
            <a:r>
              <a:rPr lang="en-US" sz="2000" b="1" noProof="1">
                <a:solidFill>
                  <a:schemeClr val="accent4"/>
                </a:solidFill>
                <a:latin typeface="Consolas"/>
              </a:rPr>
              <a:t>number</a:t>
            </a:r>
            <a:r>
              <a:rPr lang="en-US" sz="2000" noProof="1">
                <a:latin typeface="Consolas"/>
              </a:rPr>
              <a:t> };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1">
                <a:latin typeface="Consolas"/>
              </a:rPr>
              <a:t>  } </a:t>
            </a:r>
            <a:r>
              <a:rPr lang="en-US" sz="2000" b="1" noProof="1">
                <a:solidFill>
                  <a:schemeClr val="accent4"/>
                </a:solidFill>
                <a:latin typeface="Consolas"/>
              </a:rPr>
              <a:t>catch</a:t>
            </a:r>
            <a:r>
              <a:rPr lang="en-US" sz="2000" noProof="1">
                <a:latin typeface="Consolas"/>
              </a:rPr>
              <a:t> { </a:t>
            </a:r>
            <a:r>
              <a:rPr lang="en-US" sz="2000" b="1" noProof="1">
                <a:solidFill>
                  <a:schemeClr val="accent4"/>
                </a:solidFill>
                <a:latin typeface="Consolas"/>
              </a:rPr>
              <a:t>return null</a:t>
            </a:r>
            <a:r>
              <a:rPr lang="en-US" sz="2000" noProof="1">
                <a:latin typeface="Consolas"/>
              </a:rPr>
              <a:t>; }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1">
                <a:latin typeface="Consolas"/>
              </a:rPr>
              <a:t>}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90A89E-5C69-50D7-BA79-586CE1590DA1}"/>
              </a:ext>
            </a:extLst>
          </p:cNvPr>
          <p:cNvSpPr txBox="1">
            <a:spLocks/>
          </p:cNvSpPr>
          <p:nvPr/>
        </p:nvSpPr>
        <p:spPr>
          <a:xfrm>
            <a:off x="5015880" y="4580400"/>
            <a:ext cx="6760712" cy="199206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noProof="1">
                <a:solidFill>
                  <a:srgbClr val="98D8CB"/>
                </a:solidFill>
                <a:latin typeface="Consolas"/>
              </a:rPr>
              <a:t>// In an API route handler: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accent4"/>
                </a:solidFill>
                <a:latin typeface="Consolas"/>
              </a:rPr>
              <a:t>const</a:t>
            </a:r>
            <a:r>
              <a:rPr lang="en-US" sz="2000" noProof="1">
                <a:latin typeface="Consolas"/>
              </a:rPr>
              <a:t> auth = req.headers.get(</a:t>
            </a:r>
            <a:r>
              <a:rPr lang="en-US" sz="2000" noProof="1">
                <a:solidFill>
                  <a:srgbClr val="98D8CB"/>
                </a:solidFill>
                <a:latin typeface="Consolas"/>
              </a:rPr>
              <a:t>"authorization"</a:t>
            </a:r>
            <a:r>
              <a:rPr lang="en-US" sz="2000" noProof="1">
                <a:latin typeface="Consolas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accent4"/>
                </a:solidFill>
                <a:latin typeface="Consolas"/>
              </a:rPr>
              <a:t>const</a:t>
            </a:r>
            <a:r>
              <a:rPr lang="en-US" sz="2000" noProof="1">
                <a:latin typeface="Consolas"/>
              </a:rPr>
              <a:t> user = auth &amp;&amp;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1">
                <a:latin typeface="Consolas"/>
              </a:rPr>
              <a:t>  verifyToken(auth.replace(</a:t>
            </a:r>
            <a:r>
              <a:rPr lang="en-US" sz="2000" noProof="1">
                <a:solidFill>
                  <a:srgbClr val="98D8CB"/>
                </a:solidFill>
                <a:latin typeface="Consolas"/>
              </a:rPr>
              <a:t>"Bearer "</a:t>
            </a:r>
            <a:r>
              <a:rPr lang="en-US" sz="2000" noProof="1">
                <a:latin typeface="Consolas"/>
              </a:rPr>
              <a:t>, </a:t>
            </a:r>
            <a:r>
              <a:rPr lang="en-US" sz="2000" noProof="1">
                <a:solidFill>
                  <a:srgbClr val="98D8CB"/>
                </a:solidFill>
                <a:latin typeface="Consolas"/>
              </a:rPr>
              <a:t>""</a:t>
            </a:r>
            <a:r>
              <a:rPr lang="en-US" sz="2000" noProof="1">
                <a:latin typeface="Consolas"/>
              </a:rPr>
              <a:t>));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accent4"/>
                </a:solidFill>
                <a:latin typeface="Consolas"/>
              </a:rPr>
              <a:t>if</a:t>
            </a:r>
            <a:r>
              <a:rPr lang="en-US" sz="2000" noProof="1">
                <a:latin typeface="Consolas"/>
              </a:rPr>
              <a:t> (!user) </a:t>
            </a:r>
            <a:r>
              <a:rPr lang="en-US" sz="2000" b="1" noProof="1">
                <a:solidFill>
                  <a:schemeClr val="accent4"/>
                </a:solidFill>
                <a:latin typeface="Consolas"/>
              </a:rPr>
              <a:t>return</a:t>
            </a:r>
            <a:r>
              <a:rPr lang="en-US" sz="2000" noProof="1">
                <a:latin typeface="Consolas"/>
              </a:rPr>
              <a:t> NextResponse.json(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1">
                <a:latin typeface="Consolas"/>
              </a:rPr>
              <a:t>  { error: </a:t>
            </a:r>
            <a:r>
              <a:rPr lang="en-US" sz="2000" noProof="1">
                <a:solidFill>
                  <a:srgbClr val="98D8CB"/>
                </a:solidFill>
                <a:latin typeface="Consolas"/>
              </a:rPr>
              <a:t>"Unauthorized"</a:t>
            </a:r>
            <a:r>
              <a:rPr lang="en-US" sz="2000" noProof="1">
                <a:latin typeface="Consolas"/>
              </a:rPr>
              <a:t> }, { status: 401 });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9AB477C5-FFD7-CCB6-3965-A668A2493831}"/>
              </a:ext>
            </a:extLst>
          </p:cNvPr>
          <p:cNvSpPr txBox="1">
            <a:spLocks/>
          </p:cNvSpPr>
          <p:nvPr/>
        </p:nvSpPr>
        <p:spPr>
          <a:xfrm>
            <a:off x="551384" y="2328906"/>
            <a:ext cx="4104456" cy="884070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noProof="1"/>
              <a:t>verifyToken(token) </a:t>
            </a:r>
            <a:r>
              <a:rPr lang="en-US" sz="2400" noProof="1">
                <a:sym typeface="Wingdings" panose="05000000000000000000" pitchFamily="2" charset="2"/>
              </a:rPr>
              <a:t></a:t>
            </a:r>
            <a:r>
              <a:rPr lang="en-US" sz="2400" noProof="1"/>
              <a:t> userId</a:t>
            </a:r>
            <a:endParaRPr lang="en-US" sz="1800" noProof="1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211702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  <p:bldP spid="6" grpId="0" build="allAtOnce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C35FF-43B7-6B2E-9FCA-961E1D5CF7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1" y="1196125"/>
            <a:ext cx="5472011" cy="5561125"/>
          </a:xfrm>
        </p:spPr>
        <p:txBody>
          <a:bodyPr>
            <a:normAutofit/>
          </a:bodyPr>
          <a:lstStyle/>
          <a:p>
            <a:pPr marL="228600" indent="-228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3200" b="1" dirty="0">
                <a:solidFill>
                  <a:schemeClr val="accent4"/>
                </a:solidFill>
              </a:rPr>
              <a:t>Never</a:t>
            </a:r>
            <a:r>
              <a:rPr lang="en-US" sz="3200" dirty="0"/>
              <a:t> store plain-text passwords!</a:t>
            </a:r>
          </a:p>
          <a:p>
            <a:pPr marL="676275" lvl="1" indent="-228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3000" dirty="0"/>
              <a:t>Always </a:t>
            </a:r>
            <a:r>
              <a:rPr lang="en-US" sz="3000" b="1" dirty="0">
                <a:solidFill>
                  <a:schemeClr val="accent4"/>
                </a:solidFill>
              </a:rPr>
              <a:t>one-way encrypt </a:t>
            </a:r>
            <a:r>
              <a:rPr lang="en-US" sz="3000" dirty="0"/>
              <a:t>passwords before saving</a:t>
            </a:r>
          </a:p>
          <a:p>
            <a:pPr marL="228600" indent="-228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3200" dirty="0"/>
              <a:t>Use </a:t>
            </a:r>
            <a:r>
              <a:rPr lang="en-US" sz="3200" b="1" dirty="0">
                <a:solidFill>
                  <a:schemeClr val="accent4"/>
                </a:solidFill>
              </a:rPr>
              <a:t>bcrypt</a:t>
            </a:r>
            <a:r>
              <a:rPr lang="en-US" sz="3200" dirty="0"/>
              <a:t> (or </a:t>
            </a:r>
            <a:r>
              <a:rPr lang="en-US" sz="3200" b="1" dirty="0">
                <a:solidFill>
                  <a:schemeClr val="accent4"/>
                </a:solidFill>
              </a:rPr>
              <a:t>argon2</a:t>
            </a:r>
            <a:r>
              <a:rPr lang="en-US" sz="3200" dirty="0"/>
              <a:t>)</a:t>
            </a:r>
          </a:p>
          <a:p>
            <a:pPr marL="228600" indent="-228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3200" dirty="0"/>
              <a:t>Hash with cost factor of </a:t>
            </a:r>
            <a:r>
              <a:rPr lang="en-US" sz="3200" b="1" dirty="0">
                <a:solidFill>
                  <a:schemeClr val="accent4"/>
                </a:solidFill>
              </a:rPr>
              <a:t>10–12</a:t>
            </a:r>
            <a:r>
              <a:rPr lang="en-US" sz="3200" dirty="0"/>
              <a:t> rounds (CPU-bound)</a:t>
            </a:r>
          </a:p>
          <a:p>
            <a:pPr marL="228600" indent="-228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3200" dirty="0"/>
              <a:t>Verify with </a:t>
            </a:r>
            <a:r>
              <a:rPr lang="en-US" sz="3200" b="1" noProof="1">
                <a:solidFill>
                  <a:schemeClr val="accent4"/>
                </a:solidFill>
                <a:latin typeface="Consolas"/>
              </a:rPr>
              <a:t>bcrypt.compare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Password Hashing with bcrypt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299461E-3473-216D-EB53-F97AAEF6763A}"/>
              </a:ext>
            </a:extLst>
          </p:cNvPr>
          <p:cNvSpPr txBox="1">
            <a:spLocks/>
          </p:cNvSpPr>
          <p:nvPr/>
        </p:nvSpPr>
        <p:spPr>
          <a:xfrm>
            <a:off x="5951984" y="2229022"/>
            <a:ext cx="5804107" cy="199206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 noProof="1">
                <a:solidFill>
                  <a:srgbClr val="98D8CB"/>
                </a:solidFill>
                <a:latin typeface="Consolas"/>
              </a:rPr>
              <a:t>// </a:t>
            </a:r>
            <a:r>
              <a:rPr lang="en-US" sz="2400" i="1" noProof="1">
                <a:solidFill>
                  <a:srgbClr val="98D8CB"/>
                </a:solidFill>
                <a:latin typeface="+mn-ea"/>
                <a:ea typeface="+mn-ea"/>
              </a:rPr>
              <a:t>Register — hash and store to DB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chemeClr val="accent4"/>
                </a:solidFill>
                <a:latin typeface="Consolas"/>
              </a:rPr>
              <a:t>const</a:t>
            </a:r>
            <a:r>
              <a:rPr lang="en-US" sz="2400" noProof="1">
                <a:latin typeface="Consolas"/>
              </a:rPr>
              <a:t> hash = </a:t>
            </a:r>
            <a:r>
              <a:rPr lang="en-US" sz="2400" b="1" noProof="1">
                <a:solidFill>
                  <a:schemeClr val="accent4"/>
                </a:solidFill>
                <a:latin typeface="Consolas"/>
              </a:rPr>
              <a:t>await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noProof="1">
                <a:latin typeface="Consolas"/>
              </a:rPr>
              <a:t>  bcrypt.hash(password, 10);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chemeClr val="accent4"/>
                </a:solidFill>
                <a:latin typeface="Consolas"/>
              </a:rPr>
              <a:t>await</a:t>
            </a:r>
            <a:r>
              <a:rPr lang="en-US" sz="2400" noProof="1">
                <a:latin typeface="Consolas"/>
              </a:rPr>
              <a:t> db.insert(users).values(</a:t>
            </a:r>
            <a:br>
              <a:rPr lang="en-US" sz="2400" noProof="1">
                <a:latin typeface="Consolas"/>
              </a:rPr>
            </a:br>
            <a:r>
              <a:rPr lang="en-US" sz="2400" noProof="1">
                <a:latin typeface="Consolas"/>
              </a:rPr>
              <a:t>  { email, password: hash });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8CADEA-DA02-B763-D72D-2F45F17C617E}"/>
              </a:ext>
            </a:extLst>
          </p:cNvPr>
          <p:cNvSpPr txBox="1">
            <a:spLocks/>
          </p:cNvSpPr>
          <p:nvPr/>
        </p:nvSpPr>
        <p:spPr>
          <a:xfrm>
            <a:off x="5951985" y="1412776"/>
            <a:ext cx="5804107" cy="514738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chemeClr val="accent4"/>
                </a:solidFill>
                <a:latin typeface="Consolas"/>
              </a:rPr>
              <a:t>import</a:t>
            </a:r>
            <a:r>
              <a:rPr lang="en-US" sz="2400" noProof="1">
                <a:latin typeface="Consolas"/>
              </a:rPr>
              <a:t> bcrypt </a:t>
            </a:r>
            <a:r>
              <a:rPr lang="en-US" sz="2400" b="1" noProof="1">
                <a:solidFill>
                  <a:schemeClr val="accent4"/>
                </a:solidFill>
                <a:latin typeface="Consolas"/>
              </a:rPr>
              <a:t>from</a:t>
            </a:r>
            <a:r>
              <a:rPr lang="en-US" sz="2400" noProof="1">
                <a:latin typeface="Consolas"/>
              </a:rPr>
              <a:t> </a:t>
            </a:r>
            <a:r>
              <a:rPr lang="en-US" sz="2400" noProof="1">
                <a:solidFill>
                  <a:schemeClr val="accent4"/>
                </a:solidFill>
                <a:latin typeface="Consolas"/>
              </a:rPr>
              <a:t>"bcryptjs"</a:t>
            </a:r>
            <a:r>
              <a:rPr lang="en-US" sz="2400" noProof="1">
                <a:latin typeface="Consolas"/>
              </a:rPr>
              <a:t>;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E8EE880-771C-F096-F653-2343FCC36260}"/>
              </a:ext>
            </a:extLst>
          </p:cNvPr>
          <p:cNvSpPr txBox="1">
            <a:spLocks/>
          </p:cNvSpPr>
          <p:nvPr/>
        </p:nvSpPr>
        <p:spPr>
          <a:xfrm>
            <a:off x="5951984" y="4551765"/>
            <a:ext cx="5804107" cy="162273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 noProof="1">
                <a:solidFill>
                  <a:srgbClr val="98D8CB"/>
                </a:solidFill>
                <a:latin typeface="Consolas"/>
              </a:rPr>
              <a:t>// </a:t>
            </a:r>
            <a:r>
              <a:rPr lang="en-US" sz="2400" i="1" noProof="1">
                <a:solidFill>
                  <a:srgbClr val="98D8CB"/>
                </a:solidFill>
                <a:latin typeface="+mn-ea"/>
                <a:ea typeface="+mn-ea"/>
              </a:rPr>
              <a:t>Login — verify hash from DB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chemeClr val="accent4"/>
                </a:solidFill>
                <a:latin typeface="Consolas"/>
              </a:rPr>
              <a:t>const</a:t>
            </a:r>
            <a:r>
              <a:rPr lang="en-US" sz="2400" noProof="1">
                <a:latin typeface="Consolas"/>
              </a:rPr>
              <a:t> ok = </a:t>
            </a:r>
            <a:r>
              <a:rPr lang="en-US" sz="2400" b="1" noProof="1">
                <a:solidFill>
                  <a:schemeClr val="accent4"/>
                </a:solidFill>
                <a:latin typeface="Consolas"/>
              </a:rPr>
              <a:t>await</a:t>
            </a:r>
            <a:r>
              <a:rPr lang="en-US" sz="2400" noProof="1">
                <a:latin typeface="Consolas"/>
              </a:rPr>
              <a:t> bcrypt.compare(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noProof="1">
                <a:latin typeface="Consolas"/>
              </a:rPr>
              <a:t>  password, user.password);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chemeClr val="accent4"/>
                </a:solidFill>
                <a:latin typeface="Consolas"/>
              </a:rPr>
              <a:t>if</a:t>
            </a:r>
            <a:r>
              <a:rPr lang="en-US" sz="2400" noProof="1">
                <a:latin typeface="Consolas"/>
              </a:rPr>
              <a:t> (!ok) </a:t>
            </a:r>
            <a:r>
              <a:rPr lang="en-US" sz="2400" b="1" noProof="1">
                <a:solidFill>
                  <a:schemeClr val="accent4"/>
                </a:solidFill>
                <a:latin typeface="Consolas"/>
              </a:rPr>
              <a:t>return</a:t>
            </a:r>
            <a:r>
              <a:rPr lang="en-US" sz="2400" noProof="1">
                <a:latin typeface="Consolas"/>
              </a:rPr>
              <a:t> unauthorized();</a:t>
            </a:r>
          </a:p>
        </p:txBody>
      </p:sp>
    </p:spTree>
    <p:extLst>
      <p:ext uri="{BB962C8B-B14F-4D97-AF65-F5344CB8AC3E}">
        <p14:creationId xmlns:p14="http://schemas.microsoft.com/office/powerpoint/2010/main" val="2242698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  <p:bldP spid="6" grpId="0" build="allAtOnce" animBg="1"/>
      <p:bldP spid="7" grpId="0" build="allAtOnce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643CDE-8E68-9C4B-FB91-24D4665A30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27450" y="1504476"/>
            <a:ext cx="9937102" cy="1178548"/>
          </a:xfrm>
        </p:spPr>
        <p:txBody>
          <a:bodyPr/>
          <a:lstStyle/>
          <a:p>
            <a:r>
              <a:rPr lang="en-US" dirty="0"/>
              <a:t>RESTful API with Next.js + Drizzle + Neon DB + Users and JWT Authentication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940597-DAE4-91AA-835D-40DD830B3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207" y="476672"/>
            <a:ext cx="11024081" cy="780383"/>
          </a:xfrm>
        </p:spPr>
        <p:txBody>
          <a:bodyPr/>
          <a:lstStyle/>
          <a:p>
            <a:r>
              <a:rPr lang="en-US" dirty="0"/>
              <a:t>Exercise: Blog System API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17ECD-EE28-34AE-1128-57A5041596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72354E-EF16-C006-096E-6D68D344F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32" y="2996952"/>
            <a:ext cx="2346857" cy="3432670"/>
          </a:xfrm>
          <a:prstGeom prst="roundRect">
            <a:avLst>
              <a:gd name="adj" fmla="val 756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D4C07E-6AFE-2ACF-9812-B04337F56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8085" y="2996952"/>
            <a:ext cx="3634952" cy="3432670"/>
          </a:xfrm>
          <a:prstGeom prst="roundRect">
            <a:avLst>
              <a:gd name="adj" fmla="val 756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F7F72C-3DD3-A43D-FCDC-461F6CC81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0833" y="3007616"/>
            <a:ext cx="3109516" cy="3422005"/>
          </a:xfrm>
          <a:prstGeom prst="roundRect">
            <a:avLst>
              <a:gd name="adj" fmla="val 756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31727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301ED-ABB6-D108-2CDE-6E1FDCE1B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4F3E76-155A-A204-5202-943DD91045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300" dirty="0"/>
              <a:t>Let's build a </a:t>
            </a:r>
            <a:r>
              <a:rPr lang="en-US" sz="3300" b="1" dirty="0">
                <a:solidFill>
                  <a:schemeClr val="accent4"/>
                </a:solidFill>
              </a:rPr>
              <a:t>Blog System API</a:t>
            </a:r>
            <a:r>
              <a:rPr lang="en-US" sz="3300" dirty="0">
                <a:solidFill>
                  <a:schemeClr val="accent4"/>
                </a:solidFill>
              </a:rPr>
              <a:t> </a:t>
            </a:r>
            <a:r>
              <a:rPr lang="en-US" sz="3300" dirty="0"/>
              <a:t>with </a:t>
            </a:r>
            <a:r>
              <a:rPr lang="en-US" sz="3300" b="1" dirty="0">
                <a:solidFill>
                  <a:schemeClr val="accent4"/>
                </a:solidFill>
              </a:rPr>
              <a:t>Next.js</a:t>
            </a:r>
            <a:r>
              <a:rPr lang="en-US" sz="3300" dirty="0">
                <a:solidFill>
                  <a:schemeClr val="accent4"/>
                </a:solidFill>
              </a:rPr>
              <a:t> </a:t>
            </a:r>
            <a:r>
              <a:rPr lang="en-US" sz="3300" dirty="0"/>
              <a:t>+ </a:t>
            </a:r>
            <a:r>
              <a:rPr lang="en-US" sz="3300" b="1" dirty="0">
                <a:solidFill>
                  <a:schemeClr val="accent4"/>
                </a:solidFill>
              </a:rPr>
              <a:t>Drizzle</a:t>
            </a:r>
            <a:r>
              <a:rPr lang="en-US" sz="3300" dirty="0"/>
              <a:t> + </a:t>
            </a:r>
            <a:r>
              <a:rPr lang="en-US" sz="3300" b="1" dirty="0">
                <a:solidFill>
                  <a:schemeClr val="accent4"/>
                </a:solidFill>
              </a:rPr>
              <a:t>Neon</a:t>
            </a:r>
            <a:endParaRPr lang="bg-BG" sz="3300" b="1" dirty="0">
              <a:solidFill>
                <a:schemeClr val="accent4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465473-3E6F-A71C-8881-15CEDDD5E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4" y="100750"/>
            <a:ext cx="10803414" cy="882654"/>
          </a:xfrm>
        </p:spPr>
        <p:txBody>
          <a:bodyPr>
            <a:normAutofit/>
          </a:bodyPr>
          <a:lstStyle/>
          <a:p>
            <a:r>
              <a:rPr lang="en-US" dirty="0"/>
              <a:t>Blog System: Features</a:t>
            </a:r>
          </a:p>
        </p:txBody>
      </p:sp>
      <p:sp>
        <p:nvSpPr>
          <p:cNvPr id="3" name="Anonymous Card">
            <a:extLst>
              <a:ext uri="{FF2B5EF4-FFF2-40B4-BE49-F238E27FC236}">
                <a16:creationId xmlns:a16="http://schemas.microsoft.com/office/drawing/2014/main" id="{0AF1D7CB-A94C-46E9-BD8E-4561F0A06CDE}"/>
              </a:ext>
            </a:extLst>
          </p:cNvPr>
          <p:cNvSpPr/>
          <p:nvPr/>
        </p:nvSpPr>
        <p:spPr bwMode="auto">
          <a:xfrm>
            <a:off x="542900" y="1916833"/>
            <a:ext cx="5084913" cy="2160240"/>
          </a:xfrm>
          <a:prstGeom prst="roundRect">
            <a:avLst>
              <a:gd name="adj" fmla="val 6980"/>
            </a:avLst>
          </a:prstGeom>
          <a:solidFill>
            <a:srgbClr val="212E31">
              <a:alpha val="80000"/>
            </a:srgb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dirty="0"/>
              <a:t>👤 </a:t>
            </a:r>
            <a:r>
              <a:rPr lang="en-US" sz="3200" b="1" dirty="0">
                <a:solidFill>
                  <a:srgbClr val="FFD999"/>
                </a:solidFill>
              </a:rPr>
              <a:t>Anonymous visitors</a:t>
            </a:r>
          </a:p>
          <a:p>
            <a:pPr marL="446088" indent="-265113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Browse all </a:t>
            </a:r>
            <a:r>
              <a:rPr lang="en-US" sz="2400" b="1" dirty="0">
                <a:solidFill>
                  <a:srgbClr val="FFD999"/>
                </a:solidFill>
              </a:rPr>
              <a:t>published posts</a:t>
            </a:r>
          </a:p>
          <a:p>
            <a:pPr marL="446088" indent="-265113">
              <a:lnSpc>
                <a:spcPct val="115000"/>
              </a:lnSpc>
              <a:spcBef>
                <a:spcPts val="400"/>
              </a:spcBef>
              <a:buFont typeface="Arial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Read </a:t>
            </a:r>
            <a:r>
              <a:rPr lang="en-US" sz="2400" b="1" dirty="0">
                <a:solidFill>
                  <a:srgbClr val="FFD999"/>
                </a:solidFill>
              </a:rPr>
              <a:t>full post details</a:t>
            </a:r>
          </a:p>
          <a:p>
            <a:pPr marL="446088" indent="-265113">
              <a:lnSpc>
                <a:spcPct val="115000"/>
              </a:lnSpc>
              <a:spcBef>
                <a:spcPts val="400"/>
              </a:spcBef>
              <a:buFont typeface="Arial"/>
              <a:buChar char="•"/>
            </a:pPr>
            <a:r>
              <a:rPr lang="en-US" sz="2400" b="1" dirty="0">
                <a:solidFill>
                  <a:schemeClr val="accent4"/>
                </a:solidFill>
              </a:rPr>
              <a:t>Register</a:t>
            </a:r>
            <a:r>
              <a:rPr lang="en-US" sz="2400" dirty="0">
                <a:solidFill>
                  <a:schemeClr val="bg2"/>
                </a:solidFill>
              </a:rPr>
              <a:t> an account</a:t>
            </a:r>
            <a:endParaRPr lang="en-US" sz="2400" b="1" dirty="0">
              <a:solidFill>
                <a:srgbClr val="FFD999"/>
              </a:solidFill>
            </a:endParaRPr>
          </a:p>
        </p:txBody>
      </p:sp>
      <p:sp>
        <p:nvSpPr>
          <p:cNvPr id="2" name="Anonymous Card">
            <a:extLst>
              <a:ext uri="{FF2B5EF4-FFF2-40B4-BE49-F238E27FC236}">
                <a16:creationId xmlns:a16="http://schemas.microsoft.com/office/drawing/2014/main" id="{851E3425-BAE8-35B9-5E61-987A4C1843EC}"/>
              </a:ext>
            </a:extLst>
          </p:cNvPr>
          <p:cNvSpPr/>
          <p:nvPr/>
        </p:nvSpPr>
        <p:spPr bwMode="auto">
          <a:xfrm>
            <a:off x="6035848" y="1916832"/>
            <a:ext cx="5388744" cy="2160240"/>
          </a:xfrm>
          <a:prstGeom prst="roundRect">
            <a:avLst>
              <a:gd name="adj" fmla="val 5131"/>
            </a:avLst>
          </a:prstGeom>
          <a:solidFill>
            <a:srgbClr val="212E31">
              <a:alpha val="80000"/>
            </a:srgb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r>
              <a:rPr lang="en-US" sz="4000" dirty="0"/>
              <a:t>✍️ </a:t>
            </a:r>
            <a:r>
              <a:rPr lang="en-US" sz="3200" b="1" dirty="0">
                <a:solidFill>
                  <a:srgbClr val="FFD999"/>
                </a:solidFill>
              </a:rPr>
              <a:t>Registered users</a:t>
            </a:r>
            <a:endParaRPr lang="en-US" sz="4000" b="1" dirty="0">
              <a:solidFill>
                <a:srgbClr val="FFD999"/>
              </a:solidFill>
            </a:endParaRPr>
          </a:p>
          <a:p>
            <a:pPr marL="446088" indent="-265113">
              <a:spcBef>
                <a:spcPts val="600"/>
              </a:spcBef>
              <a:buFont typeface="Arial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Login / logout</a:t>
            </a:r>
          </a:p>
          <a:p>
            <a:pPr marL="446088" indent="-265113">
              <a:spcBef>
                <a:spcPts val="400"/>
              </a:spcBef>
              <a:buFont typeface="Arial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Create their </a:t>
            </a:r>
            <a:r>
              <a:rPr lang="en-US" sz="2400" b="1" dirty="0">
                <a:solidFill>
                  <a:srgbClr val="FFD999"/>
                </a:solidFill>
              </a:rPr>
              <a:t>own blog posts</a:t>
            </a:r>
          </a:p>
          <a:p>
            <a:pPr marL="446088" indent="-265113">
              <a:spcBef>
                <a:spcPts val="400"/>
              </a:spcBef>
              <a:buFont typeface="Arial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Edit / delete </a:t>
            </a:r>
            <a:r>
              <a:rPr lang="en-US" sz="2400" b="1" dirty="0">
                <a:solidFill>
                  <a:srgbClr val="FFD999"/>
                </a:solidFill>
              </a:rPr>
              <a:t>only their own</a:t>
            </a:r>
            <a:r>
              <a:rPr lang="en-US" sz="2400" dirty="0">
                <a:solidFill>
                  <a:srgbClr val="FFD999"/>
                </a:solidFill>
              </a:rPr>
              <a:t> </a:t>
            </a:r>
            <a:r>
              <a:rPr lang="en-US" sz="2400" dirty="0">
                <a:solidFill>
                  <a:schemeClr val="bg2"/>
                </a:solidFill>
              </a:rPr>
              <a:t>posts</a:t>
            </a:r>
          </a:p>
        </p:txBody>
      </p:sp>
      <p:sp>
        <p:nvSpPr>
          <p:cNvPr id="7" name="Anonymous Card">
            <a:extLst>
              <a:ext uri="{FF2B5EF4-FFF2-40B4-BE49-F238E27FC236}">
                <a16:creationId xmlns:a16="http://schemas.microsoft.com/office/drawing/2014/main" id="{2B519ADD-F8C1-9D49-F592-5AEA1E55B9F2}"/>
              </a:ext>
            </a:extLst>
          </p:cNvPr>
          <p:cNvSpPr/>
          <p:nvPr/>
        </p:nvSpPr>
        <p:spPr bwMode="auto">
          <a:xfrm>
            <a:off x="542900" y="4365104"/>
            <a:ext cx="8001372" cy="2160240"/>
          </a:xfrm>
          <a:prstGeom prst="roundRect">
            <a:avLst>
              <a:gd name="adj" fmla="val 6772"/>
            </a:avLst>
          </a:prstGeom>
          <a:solidFill>
            <a:srgbClr val="212E31">
              <a:alpha val="80000"/>
            </a:srgb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r>
              <a:rPr lang="en-US" sz="3200" dirty="0"/>
              <a:t>🔐 </a:t>
            </a:r>
            <a:r>
              <a:rPr lang="en-US" sz="3200" b="1" dirty="0">
                <a:solidFill>
                  <a:srgbClr val="FFD999"/>
                </a:solidFill>
              </a:rPr>
              <a:t>Security</a:t>
            </a:r>
            <a:endParaRPr lang="en-US" sz="2800" b="1" dirty="0">
              <a:solidFill>
                <a:srgbClr val="FFD999"/>
              </a:solidFill>
            </a:endParaRPr>
          </a:p>
          <a:p>
            <a:pPr marL="446088" indent="-265113">
              <a:spcBef>
                <a:spcPts val="600"/>
              </a:spcBef>
              <a:buFont typeface="Arial"/>
              <a:buChar char="•"/>
            </a:pPr>
            <a:r>
              <a:rPr lang="en-US" sz="2700" dirty="0">
                <a:solidFill>
                  <a:schemeClr val="bg2"/>
                </a:solidFill>
              </a:rPr>
              <a:t>Protected by </a:t>
            </a:r>
            <a:r>
              <a:rPr lang="en-US" sz="2700" b="1" dirty="0">
                <a:solidFill>
                  <a:srgbClr val="FFD999"/>
                </a:solidFill>
              </a:rPr>
              <a:t>JWT authentication</a:t>
            </a:r>
          </a:p>
          <a:p>
            <a:pPr marL="446088" indent="-265113">
              <a:spcBef>
                <a:spcPts val="400"/>
              </a:spcBef>
              <a:buFont typeface="Arial"/>
              <a:buChar char="•"/>
            </a:pPr>
            <a:r>
              <a:rPr lang="en-US" sz="2700" dirty="0">
                <a:solidFill>
                  <a:schemeClr val="bg2"/>
                </a:solidFill>
              </a:rPr>
              <a:t>Tokens issued on </a:t>
            </a:r>
            <a:r>
              <a:rPr lang="en-US" sz="2700" b="1" dirty="0">
                <a:solidFill>
                  <a:srgbClr val="FFD999"/>
                </a:solidFill>
              </a:rPr>
              <a:t>login</a:t>
            </a:r>
            <a:r>
              <a:rPr lang="en-US" sz="2700" dirty="0">
                <a:solidFill>
                  <a:schemeClr val="bg2"/>
                </a:solidFill>
              </a:rPr>
              <a:t>, verified </a:t>
            </a:r>
            <a:r>
              <a:rPr lang="en-US" sz="2700" b="1" dirty="0">
                <a:solidFill>
                  <a:srgbClr val="FFD999"/>
                </a:solidFill>
              </a:rPr>
              <a:t>per request</a:t>
            </a:r>
          </a:p>
          <a:p>
            <a:pPr marL="446088" indent="-265113">
              <a:spcBef>
                <a:spcPts val="400"/>
              </a:spcBef>
              <a:buFont typeface="Arial"/>
              <a:buChar char="•"/>
            </a:pPr>
            <a:r>
              <a:rPr lang="en-US" sz="2700" b="1" dirty="0">
                <a:solidFill>
                  <a:schemeClr val="accent4"/>
                </a:solidFill>
              </a:rPr>
              <a:t>Passwords</a:t>
            </a:r>
            <a:r>
              <a:rPr lang="en-US" sz="2700" dirty="0">
                <a:solidFill>
                  <a:schemeClr val="bg2"/>
                </a:solidFill>
              </a:rPr>
              <a:t> hashed with </a:t>
            </a:r>
            <a:r>
              <a:rPr lang="en-US" sz="2700" b="1" noProof="1">
                <a:solidFill>
                  <a:schemeClr val="accent4"/>
                </a:solidFill>
              </a:rPr>
              <a:t>bcrypt</a:t>
            </a:r>
            <a:endParaRPr lang="en-US" sz="2700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222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  <p:bldP spid="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301ED-ABB6-D108-2CDE-6E1FDCE1B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465473-3E6F-A71C-8881-15CEDDD5E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4" y="100750"/>
            <a:ext cx="10803414" cy="882654"/>
          </a:xfrm>
        </p:spPr>
        <p:txBody>
          <a:bodyPr>
            <a:normAutofit/>
          </a:bodyPr>
          <a:lstStyle/>
          <a:p>
            <a:r>
              <a:rPr lang="en-US" dirty="0"/>
              <a:t>Blog System: Data Model</a:t>
            </a:r>
          </a:p>
        </p:txBody>
      </p:sp>
      <p:sp>
        <p:nvSpPr>
          <p:cNvPr id="9" name="Anonymous Card">
            <a:extLst>
              <a:ext uri="{FF2B5EF4-FFF2-40B4-BE49-F238E27FC236}">
                <a16:creationId xmlns:a16="http://schemas.microsoft.com/office/drawing/2014/main" id="{6AB1CEA4-136E-4CF3-A573-B4F836D64AA6}"/>
              </a:ext>
            </a:extLst>
          </p:cNvPr>
          <p:cNvSpPr/>
          <p:nvPr/>
        </p:nvSpPr>
        <p:spPr bwMode="auto">
          <a:xfrm>
            <a:off x="695400" y="1491415"/>
            <a:ext cx="10729192" cy="2009593"/>
          </a:xfrm>
          <a:prstGeom prst="roundRect">
            <a:avLst>
              <a:gd name="adj" fmla="val 7854"/>
            </a:avLst>
          </a:prstGeom>
          <a:solidFill>
            <a:srgbClr val="212E31">
              <a:alpha val="80000"/>
            </a:srgb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63C5B0"/>
              </a:buClr>
              <a:defRPr/>
            </a:pPr>
            <a:r>
              <a:rPr lang="bg-BG" sz="3600" dirty="0"/>
              <a:t>🗄️</a:t>
            </a: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D999"/>
                </a:solidFill>
                <a:effectLst/>
                <a:uLnTx/>
                <a:uFillTx/>
                <a:latin typeface="Roboto"/>
                <a:ea typeface="Roboto" panose="02000000000000000000" pitchFamily="2" charset="0"/>
                <a:cs typeface="Roboto" panose="02000000000000000000" pitchFamily="2" charset="0"/>
              </a:rPr>
              <a:t>Database</a:t>
            </a: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/>
                <a:ea typeface="Roboto" panose="02000000000000000000" pitchFamily="2" charset="0"/>
                <a:cs typeface="Roboto" panose="02000000000000000000" pitchFamily="2" charset="0"/>
              </a:rPr>
              <a:t> tables:</a:t>
            </a:r>
          </a:p>
          <a:p>
            <a:pPr marL="809625" marR="0" lvl="1" indent="-361950" algn="l" defTabSz="1218438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63C5B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D999"/>
                </a:solidFill>
                <a:effectLst/>
                <a:uLnTx/>
                <a:uFillTx/>
                <a:latin typeface="Roboto"/>
                <a:ea typeface="Roboto" panose="02000000000000000000" pitchFamily="2" charset="0"/>
                <a:cs typeface="Roboto" panose="02000000000000000000" pitchFamily="2" charset="0"/>
              </a:rPr>
              <a:t>Users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kumimoji="0" lang="en-US" sz="28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/>
                <a:ea typeface="Roboto" panose="02000000000000000000" pitchFamily="2" charset="0"/>
                <a:cs typeface="Roboto" panose="02000000000000000000" pitchFamily="2" charset="0"/>
              </a:rPr>
              <a:t>id, email (unique), passwordHash</a:t>
            </a:r>
          </a:p>
          <a:p>
            <a:pPr marL="809625" marR="0" lvl="1" indent="-361950" algn="l" defTabSz="1218438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63C5B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D999"/>
                </a:solidFill>
                <a:effectLst/>
                <a:uLnTx/>
                <a:uFillTx/>
                <a:latin typeface="Roboto"/>
                <a:ea typeface="Roboto" panose="02000000000000000000" pitchFamily="2" charset="0"/>
                <a:cs typeface="Roboto" panose="02000000000000000000" pitchFamily="2" charset="0"/>
              </a:rPr>
              <a:t>Posts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kumimoji="0" lang="en-US" sz="28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/>
                <a:ea typeface="Roboto" panose="02000000000000000000" pitchFamily="2" charset="0"/>
                <a:cs typeface="Roboto" panose="02000000000000000000" pitchFamily="2" charset="0"/>
              </a:rPr>
              <a:t>id, authorId, title, contentHtml, tags[], publishedAt</a:t>
            </a:r>
          </a:p>
        </p:txBody>
      </p:sp>
      <p:sp>
        <p:nvSpPr>
          <p:cNvPr id="10" name="Anonymous Card">
            <a:extLst>
              <a:ext uri="{FF2B5EF4-FFF2-40B4-BE49-F238E27FC236}">
                <a16:creationId xmlns:a16="http://schemas.microsoft.com/office/drawing/2014/main" id="{C37DC40E-13DE-BF37-F9C6-EB4A79433052}"/>
              </a:ext>
            </a:extLst>
          </p:cNvPr>
          <p:cNvSpPr/>
          <p:nvPr/>
        </p:nvSpPr>
        <p:spPr bwMode="auto">
          <a:xfrm>
            <a:off x="695400" y="3939687"/>
            <a:ext cx="10729192" cy="2009593"/>
          </a:xfrm>
          <a:prstGeom prst="roundRect">
            <a:avLst>
              <a:gd name="adj" fmla="val 7854"/>
            </a:avLst>
          </a:prstGeom>
          <a:solidFill>
            <a:srgbClr val="212E31">
              <a:alpha val="80000"/>
            </a:srgb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63C5B0"/>
              </a:buClr>
            </a:pPr>
            <a:r>
              <a:rPr lang="bg-BG" sz="3600" dirty="0"/>
              <a:t>🔗 </a:t>
            </a:r>
            <a:r>
              <a:rPr lang="en-US" sz="3400" dirty="0">
                <a:solidFill>
                  <a:srgbClr val="FFFFFF"/>
                </a:solidFill>
                <a:ea typeface="Roboto" panose="02000000000000000000" pitchFamily="2" charset="0"/>
                <a:cs typeface="Roboto" panose="02000000000000000000" pitchFamily="2" charset="0"/>
              </a:rPr>
              <a:t>Table </a:t>
            </a:r>
            <a:r>
              <a:rPr lang="en-US" sz="3400" b="1" dirty="0">
                <a:solidFill>
                  <a:srgbClr val="FFD999"/>
                </a:solidFill>
                <a:ea typeface="Roboto" panose="02000000000000000000" pitchFamily="2" charset="0"/>
                <a:cs typeface="Roboto" panose="02000000000000000000" pitchFamily="2" charset="0"/>
              </a:rPr>
              <a:t>relations</a:t>
            </a:r>
            <a:r>
              <a:rPr lang="en-US" sz="3400" dirty="0">
                <a:solidFill>
                  <a:srgbClr val="FFFFFF"/>
                </a:solidFill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</a:p>
          <a:p>
            <a:pPr marL="809625" lvl="1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63C5B0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ea typeface="Roboto" panose="02000000000000000000" pitchFamily="2" charset="0"/>
                <a:cs typeface="Roboto" panose="02000000000000000000" pitchFamily="2" charset="0"/>
              </a:rPr>
              <a:t>One user → many posts</a:t>
            </a:r>
          </a:p>
          <a:p>
            <a:pPr marL="809625" lvl="1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63C5B0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ea typeface="Roboto" panose="02000000000000000000" pitchFamily="2" charset="0"/>
                <a:cs typeface="Roboto" panose="02000000000000000000" pitchFamily="2" charset="0"/>
              </a:rPr>
              <a:t>Each post belongs to exactly one user</a:t>
            </a:r>
          </a:p>
        </p:txBody>
      </p:sp>
    </p:spTree>
    <p:extLst>
      <p:ext uri="{BB962C8B-B14F-4D97-AF65-F5344CB8AC3E}">
        <p14:creationId xmlns:p14="http://schemas.microsoft.com/office/powerpoint/2010/main" val="2176393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301ED-ABB6-D108-2CDE-6E1FDCE1B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4618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465473-3E6F-A71C-8881-15CEDDD5E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43" y="100750"/>
            <a:ext cx="10800601" cy="882654"/>
          </a:xfrm>
        </p:spPr>
        <p:txBody>
          <a:bodyPr>
            <a:normAutofit/>
          </a:bodyPr>
          <a:lstStyle/>
          <a:p>
            <a:r>
              <a:rPr lang="en-US" dirty="0"/>
              <a:t>Blog System: API Endpoints</a:t>
            </a:r>
          </a:p>
        </p:txBody>
      </p:sp>
      <p:sp>
        <p:nvSpPr>
          <p:cNvPr id="4" name="Anonymous Card">
            <a:extLst>
              <a:ext uri="{FF2B5EF4-FFF2-40B4-BE49-F238E27FC236}">
                <a16:creationId xmlns:a16="http://schemas.microsoft.com/office/drawing/2014/main" id="{116FF34B-7CDE-AFD7-9367-982B8E62953E}"/>
              </a:ext>
            </a:extLst>
          </p:cNvPr>
          <p:cNvSpPr/>
          <p:nvPr/>
        </p:nvSpPr>
        <p:spPr bwMode="auto">
          <a:xfrm>
            <a:off x="479376" y="1419407"/>
            <a:ext cx="5038412" cy="2801681"/>
          </a:xfrm>
          <a:prstGeom prst="roundRect">
            <a:avLst>
              <a:gd name="adj" fmla="val 7854"/>
            </a:avLst>
          </a:prstGeom>
          <a:solidFill>
            <a:srgbClr val="212E31">
              <a:alpha val="80000"/>
            </a:srgb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r>
              <a:rPr lang="en-US" sz="3200" dirty="0">
                <a:solidFill>
                  <a:schemeClr val="bg2"/>
                </a:solidFill>
              </a:rPr>
              <a:t>🌐 </a:t>
            </a:r>
            <a:r>
              <a:rPr lang="en-US" sz="3200" b="1" dirty="0">
                <a:solidFill>
                  <a:srgbClr val="FFD999"/>
                </a:solidFill>
              </a:rPr>
              <a:t>Public</a:t>
            </a:r>
            <a:r>
              <a:rPr lang="en-US" sz="3200" dirty="0">
                <a:solidFill>
                  <a:schemeClr val="bg2"/>
                </a:solidFill>
              </a:rPr>
              <a:t> (</a:t>
            </a:r>
            <a:r>
              <a:rPr lang="en-US" sz="3200" i="1" dirty="0">
                <a:solidFill>
                  <a:schemeClr val="bg2"/>
                </a:solidFill>
              </a:rPr>
              <a:t>no auth</a:t>
            </a:r>
            <a:r>
              <a:rPr lang="en-US" sz="3200" dirty="0">
                <a:solidFill>
                  <a:schemeClr val="bg2"/>
                </a:solidFill>
              </a:rPr>
              <a:t>)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lang="en-US" sz="2400" b="1" noProof="1">
                <a:solidFill>
                  <a:srgbClr val="FFD999"/>
                </a:solidFill>
              </a:rPr>
              <a:t>POST</a:t>
            </a:r>
            <a:r>
              <a:rPr lang="en-US" sz="2400" noProof="1">
                <a:solidFill>
                  <a:schemeClr val="bg2"/>
                </a:solidFill>
              </a:rPr>
              <a:t>  /api/auth/register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lang="en-US" sz="2400" b="1" noProof="1">
                <a:solidFill>
                  <a:srgbClr val="FFD999"/>
                </a:solidFill>
              </a:rPr>
              <a:t>POST</a:t>
            </a:r>
            <a:r>
              <a:rPr lang="en-US" sz="2400" noProof="1">
                <a:solidFill>
                  <a:schemeClr val="bg2"/>
                </a:solidFill>
              </a:rPr>
              <a:t>  /api/auth/login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lang="en-US" sz="2400" b="1" noProof="1">
                <a:solidFill>
                  <a:srgbClr val="FFD999"/>
                </a:solidFill>
              </a:rPr>
              <a:t>GET</a:t>
            </a:r>
            <a:r>
              <a:rPr lang="en-US" sz="2400" noProof="1">
                <a:solidFill>
                  <a:schemeClr val="bg2"/>
                </a:solidFill>
              </a:rPr>
              <a:t>   /api/posts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lang="en-US" sz="2400" b="1" noProof="1">
                <a:solidFill>
                  <a:srgbClr val="FFD999"/>
                </a:solidFill>
              </a:rPr>
              <a:t>GET</a:t>
            </a:r>
            <a:r>
              <a:rPr lang="en-US" sz="2400" noProof="1">
                <a:solidFill>
                  <a:schemeClr val="bg2"/>
                </a:solidFill>
              </a:rPr>
              <a:t>   /api/posts/:id</a:t>
            </a:r>
          </a:p>
        </p:txBody>
      </p:sp>
      <p:sp>
        <p:nvSpPr>
          <p:cNvPr id="7" name="Anonymous Card">
            <a:extLst>
              <a:ext uri="{FF2B5EF4-FFF2-40B4-BE49-F238E27FC236}">
                <a16:creationId xmlns:a16="http://schemas.microsoft.com/office/drawing/2014/main" id="{CD7FB283-848B-D7E8-C597-5C36BF57D768}"/>
              </a:ext>
            </a:extLst>
          </p:cNvPr>
          <p:cNvSpPr/>
          <p:nvPr/>
        </p:nvSpPr>
        <p:spPr bwMode="auto">
          <a:xfrm>
            <a:off x="5934922" y="1419406"/>
            <a:ext cx="5641740" cy="2801681"/>
          </a:xfrm>
          <a:prstGeom prst="roundRect">
            <a:avLst>
              <a:gd name="adj" fmla="val 8605"/>
            </a:avLst>
          </a:prstGeom>
          <a:solidFill>
            <a:srgbClr val="212E31">
              <a:alpha val="80000"/>
            </a:srgb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chemeClr val="bg2"/>
                </a:solidFill>
              </a:rPr>
              <a:t>🔐 </a:t>
            </a:r>
            <a:r>
              <a:rPr lang="en-US" sz="3200" b="1" dirty="0">
                <a:solidFill>
                  <a:srgbClr val="FFD999"/>
                </a:solidFill>
              </a:rPr>
              <a:t>Protected</a:t>
            </a:r>
            <a:r>
              <a:rPr lang="en-US" sz="3200" b="1" dirty="0">
                <a:solidFill>
                  <a:schemeClr val="bg2"/>
                </a:solidFill>
              </a:rPr>
              <a:t> </a:t>
            </a:r>
            <a:r>
              <a:rPr lang="en-US" sz="3200" dirty="0">
                <a:solidFill>
                  <a:schemeClr val="bg2"/>
                </a:solidFill>
              </a:rPr>
              <a:t>(</a:t>
            </a:r>
            <a:r>
              <a:rPr lang="en-US" sz="3200" i="1" dirty="0">
                <a:solidFill>
                  <a:schemeClr val="bg2"/>
                </a:solidFill>
              </a:rPr>
              <a:t>JWT required</a:t>
            </a:r>
            <a:r>
              <a:rPr lang="en-US" sz="3200" dirty="0">
                <a:solidFill>
                  <a:schemeClr val="bg2"/>
                </a:solidFill>
              </a:rPr>
              <a:t>)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lang="en-US" sz="2400" b="1" noProof="1">
                <a:solidFill>
                  <a:srgbClr val="FFD999"/>
                </a:solidFill>
              </a:rPr>
              <a:t>GET</a:t>
            </a:r>
            <a:r>
              <a:rPr lang="en-US" sz="2400" b="1" noProof="1">
                <a:solidFill>
                  <a:schemeClr val="bg2"/>
                </a:solidFill>
              </a:rPr>
              <a:t>   </a:t>
            </a:r>
            <a:r>
              <a:rPr lang="en-US" sz="2400" noProof="1">
                <a:solidFill>
                  <a:schemeClr val="bg2"/>
                </a:solidFill>
              </a:rPr>
              <a:t>/api/auth/me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lang="en-US" sz="2400" b="1" noProof="1">
                <a:solidFill>
                  <a:srgbClr val="FFD999"/>
                </a:solidFill>
              </a:rPr>
              <a:t>POST</a:t>
            </a:r>
            <a:r>
              <a:rPr lang="en-US" sz="2400" b="1" noProof="1">
                <a:solidFill>
                  <a:schemeClr val="bg2"/>
                </a:solidFill>
              </a:rPr>
              <a:t>   </a:t>
            </a:r>
            <a:r>
              <a:rPr lang="en-US" sz="2400" noProof="1">
                <a:solidFill>
                  <a:schemeClr val="bg2"/>
                </a:solidFill>
              </a:rPr>
              <a:t>/api/posts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lang="en-US" sz="2400" b="1" noProof="1">
                <a:solidFill>
                  <a:srgbClr val="FFD999"/>
                </a:solidFill>
              </a:rPr>
              <a:t>PATCH</a:t>
            </a:r>
            <a:r>
              <a:rPr lang="en-US" sz="2400" b="1" noProof="1">
                <a:solidFill>
                  <a:schemeClr val="bg2"/>
                </a:solidFill>
              </a:rPr>
              <a:t>    </a:t>
            </a:r>
            <a:r>
              <a:rPr lang="en-US" sz="2400" noProof="1">
                <a:solidFill>
                  <a:schemeClr val="bg2"/>
                </a:solidFill>
              </a:rPr>
              <a:t>/api/posts/:id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lang="en-US" sz="2400" b="1" noProof="1">
                <a:solidFill>
                  <a:srgbClr val="FFD999"/>
                </a:solidFill>
              </a:rPr>
              <a:t>DELETE</a:t>
            </a:r>
            <a:r>
              <a:rPr lang="en-US" sz="2400" b="1" noProof="1">
                <a:solidFill>
                  <a:schemeClr val="bg2"/>
                </a:solidFill>
              </a:rPr>
              <a:t> </a:t>
            </a:r>
            <a:r>
              <a:rPr lang="en-US" sz="2400" noProof="1">
                <a:solidFill>
                  <a:schemeClr val="bg2"/>
                </a:solidFill>
              </a:rPr>
              <a:t>/api/posts/:id</a:t>
            </a:r>
          </a:p>
        </p:txBody>
      </p:sp>
    </p:spTree>
    <p:extLst>
      <p:ext uri="{BB962C8B-B14F-4D97-AF65-F5344CB8AC3E}">
        <p14:creationId xmlns:p14="http://schemas.microsoft.com/office/powerpoint/2010/main" val="581914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117E4-8EA3-9EB1-CDDB-8F5D887C12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75B65-BD3D-FDDB-21A1-5F8D479899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4"/>
                </a:solidFill>
              </a:rPr>
              <a:t>Steps</a:t>
            </a:r>
            <a:r>
              <a:rPr lang="en-US" sz="3200" dirty="0"/>
              <a:t> to build the Blog System API:</a:t>
            </a:r>
          </a:p>
          <a:p>
            <a:pPr marL="962025" lvl="1" indent="-514350">
              <a:buFont typeface="+mj-lt"/>
              <a:buAutoNum type="arabicPeriod"/>
            </a:pPr>
            <a:r>
              <a:rPr lang="en-US" sz="2800" dirty="0"/>
              <a:t>Create a new </a:t>
            </a:r>
            <a:r>
              <a:rPr lang="en-US" sz="2800" b="1" dirty="0">
                <a:solidFill>
                  <a:schemeClr val="accent4"/>
                </a:solidFill>
              </a:rPr>
              <a:t>VS Code project </a:t>
            </a:r>
            <a:r>
              <a:rPr lang="en-US" sz="2800" dirty="0"/>
              <a:t>and initialize </a:t>
            </a:r>
            <a:r>
              <a:rPr lang="en-US" sz="2800" b="1" dirty="0">
                <a:solidFill>
                  <a:schemeClr val="accent4"/>
                </a:solidFill>
              </a:rPr>
              <a:t>Next.js</a:t>
            </a:r>
            <a:r>
              <a:rPr lang="en-US" sz="2800" dirty="0"/>
              <a:t> and install npm packages for </a:t>
            </a:r>
            <a:r>
              <a:rPr lang="en-US" sz="2800" b="1" dirty="0">
                <a:solidFill>
                  <a:schemeClr val="accent4"/>
                </a:solidFill>
              </a:rPr>
              <a:t>Drizzle</a:t>
            </a:r>
            <a:r>
              <a:rPr lang="en-US" sz="2800" dirty="0"/>
              <a:t> + </a:t>
            </a:r>
            <a:r>
              <a:rPr lang="en-US" sz="2800" b="1" dirty="0">
                <a:solidFill>
                  <a:schemeClr val="accent4"/>
                </a:solidFill>
              </a:rPr>
              <a:t>Neon</a:t>
            </a:r>
            <a:r>
              <a:rPr lang="en-US" sz="2800" dirty="0"/>
              <a:t> driver</a:t>
            </a:r>
          </a:p>
          <a:p>
            <a:pPr marL="962025" lvl="1" indent="-514350">
              <a:buFont typeface="+mj-lt"/>
              <a:buAutoNum type="arabicPeriod"/>
            </a:pPr>
            <a:r>
              <a:rPr lang="en-US" sz="2800" dirty="0"/>
              <a:t>Create DB in </a:t>
            </a:r>
            <a:r>
              <a:rPr lang="en-US" sz="2800" b="1" dirty="0">
                <a:solidFill>
                  <a:schemeClr val="accent4"/>
                </a:solidFill>
              </a:rPr>
              <a:t>Neon</a:t>
            </a:r>
            <a:r>
              <a:rPr lang="en-US" sz="2800" dirty="0"/>
              <a:t>, configure </a:t>
            </a:r>
            <a:r>
              <a:rPr lang="en-US" sz="2800" b="1" dirty="0">
                <a:solidFill>
                  <a:schemeClr val="accent4"/>
                </a:solidFill>
              </a:rPr>
              <a:t>Neon MCP</a:t>
            </a:r>
            <a:r>
              <a:rPr lang="en-US" sz="2800" dirty="0"/>
              <a:t>, create </a:t>
            </a:r>
            <a:r>
              <a:rPr lang="en-US" sz="2800" b="1" dirty="0">
                <a:solidFill>
                  <a:schemeClr val="accent4"/>
                </a:solidFill>
              </a:rPr>
              <a:t>AGENTS.md</a:t>
            </a:r>
          </a:p>
          <a:p>
            <a:pPr marL="962025" lvl="1" indent="-514350">
              <a:buFont typeface="+mj-lt"/>
              <a:buAutoNum type="arabicPeriod"/>
            </a:pPr>
            <a:r>
              <a:rPr lang="en-US" sz="2800" dirty="0"/>
              <a:t>Create </a:t>
            </a:r>
            <a:r>
              <a:rPr lang="en-US" sz="2800" b="1" dirty="0">
                <a:solidFill>
                  <a:schemeClr val="accent4"/>
                </a:solidFill>
              </a:rPr>
              <a:t>DB schema</a:t>
            </a:r>
            <a:r>
              <a:rPr lang="en-US" sz="2800" dirty="0"/>
              <a:t>: Drizzle schema </a:t>
            </a:r>
            <a:r>
              <a:rPr lang="en-US" sz="2800" dirty="0">
                <a:sym typeface="Wingdings" panose="05000000000000000000" pitchFamily="2" charset="2"/>
              </a:rPr>
              <a:t> </a:t>
            </a:r>
            <a:r>
              <a:rPr lang="en-US" sz="2800" dirty="0"/>
              <a:t>DB </a:t>
            </a:r>
            <a:r>
              <a:rPr lang="en-US" sz="2800" b="1" dirty="0">
                <a:solidFill>
                  <a:schemeClr val="accent4"/>
                </a:solidFill>
              </a:rPr>
              <a:t>migration</a:t>
            </a:r>
            <a:r>
              <a:rPr lang="en-US" sz="2800" dirty="0">
                <a:sym typeface="Wingdings" panose="05000000000000000000" pitchFamily="2" charset="2"/>
              </a:rPr>
              <a:t>  apply to </a:t>
            </a:r>
            <a:r>
              <a:rPr lang="en-US" sz="2800" dirty="0"/>
              <a:t>DB </a:t>
            </a:r>
          </a:p>
          <a:p>
            <a:pPr marL="962025" lvl="1" indent="-514350">
              <a:buFont typeface="+mj-lt"/>
              <a:buAutoNum type="arabicPeriod"/>
            </a:pPr>
            <a:r>
              <a:rPr lang="en-US" sz="2800" dirty="0"/>
              <a:t>Seed </a:t>
            </a:r>
            <a:r>
              <a:rPr lang="en-US" sz="2800" b="1" dirty="0">
                <a:solidFill>
                  <a:schemeClr val="accent4"/>
                </a:solidFill>
              </a:rPr>
              <a:t>sample date </a:t>
            </a:r>
            <a:r>
              <a:rPr lang="en-US" sz="2800" dirty="0"/>
              <a:t>in the database</a:t>
            </a:r>
          </a:p>
          <a:p>
            <a:pPr marL="962025" lvl="1" indent="-514350">
              <a:buFont typeface="+mj-lt"/>
              <a:buAutoNum type="arabicPeriod"/>
            </a:pPr>
            <a:r>
              <a:rPr lang="en-US" sz="2800" dirty="0"/>
              <a:t>Implement the </a:t>
            </a:r>
            <a:r>
              <a:rPr lang="en-US" sz="2800" b="1" dirty="0">
                <a:solidFill>
                  <a:schemeClr val="accent4"/>
                </a:solidFill>
              </a:rPr>
              <a:t>Blog API </a:t>
            </a:r>
            <a:r>
              <a:rPr lang="en-US" sz="2800" dirty="0"/>
              <a:t>as Next.js API</a:t>
            </a:r>
          </a:p>
          <a:p>
            <a:pPr marL="962025" lvl="1" indent="-514350">
              <a:buFont typeface="+mj-lt"/>
              <a:buAutoNum type="arabicPeriod"/>
            </a:pPr>
            <a:r>
              <a:rPr lang="en-US" sz="2800" b="1" dirty="0">
                <a:solidFill>
                  <a:schemeClr val="accent4"/>
                </a:solidFill>
              </a:rPr>
              <a:t>Test</a:t>
            </a:r>
            <a:r>
              <a:rPr lang="en-US" sz="2800" dirty="0"/>
              <a:t> the API with </a:t>
            </a:r>
            <a:r>
              <a:rPr lang="en-US" sz="2800" b="1" dirty="0">
                <a:solidFill>
                  <a:schemeClr val="accent4"/>
                </a:solidFill>
              </a:rPr>
              <a:t>Postman</a:t>
            </a:r>
            <a:endParaRPr lang="bg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8AD856C-F062-CDF1-19CA-9908D8C82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Blog System: Steps to Build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6266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C35FF-43B7-6B2E-9FCA-961E1D5CF7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0" y="1340768"/>
            <a:ext cx="5472012" cy="541648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800" dirty="0"/>
              <a:t>Create a new </a:t>
            </a:r>
            <a:r>
              <a:rPr lang="en-US" sz="2800" b="1" dirty="0">
                <a:solidFill>
                  <a:schemeClr val="accent4"/>
                </a:solidFill>
              </a:rPr>
              <a:t>VS Code project</a:t>
            </a:r>
          </a:p>
          <a:p>
            <a:pPr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800" dirty="0"/>
              <a:t>Initialize </a:t>
            </a:r>
            <a:r>
              <a:rPr lang="en-US" sz="2800" b="1" dirty="0">
                <a:solidFill>
                  <a:schemeClr val="accent4"/>
                </a:solidFill>
              </a:rPr>
              <a:t>Next.js</a:t>
            </a:r>
            <a:r>
              <a:rPr lang="en-US" sz="2800" dirty="0"/>
              <a:t> project</a:t>
            </a:r>
            <a:r>
              <a:rPr lang="bg-BG" sz="2800" dirty="0"/>
              <a:t> </a:t>
            </a:r>
            <a:r>
              <a:rPr lang="en-US" sz="2800" dirty="0"/>
              <a:t>with TypeScript</a:t>
            </a:r>
          </a:p>
          <a:p>
            <a:pPr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2800" dirty="0"/>
              <a:t>Install npm packages for </a:t>
            </a:r>
            <a:r>
              <a:rPr lang="en-US" sz="2800" b="1" dirty="0">
                <a:solidFill>
                  <a:schemeClr val="accent4"/>
                </a:solidFill>
              </a:rPr>
              <a:t>Drizzle</a:t>
            </a:r>
            <a:r>
              <a:rPr lang="en-US" sz="2800" dirty="0"/>
              <a:t> + </a:t>
            </a:r>
            <a:r>
              <a:rPr lang="en-US" sz="2800" b="1" dirty="0">
                <a:solidFill>
                  <a:schemeClr val="accent4"/>
                </a:solidFill>
              </a:rPr>
              <a:t>Neon</a:t>
            </a:r>
            <a:r>
              <a:rPr lang="en-US" sz="2800" dirty="0"/>
              <a:t> driver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Create Next.js Project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119BEE58-5270-46C0-12B4-5AE2A9E7F848}"/>
              </a:ext>
            </a:extLst>
          </p:cNvPr>
          <p:cNvSpPr txBox="1">
            <a:spLocks/>
          </p:cNvSpPr>
          <p:nvPr/>
        </p:nvSpPr>
        <p:spPr>
          <a:xfrm>
            <a:off x="479376" y="4054392"/>
            <a:ext cx="4860808" cy="2340879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 indent="-361950"/>
            <a:r>
              <a:rPr lang="en-US" sz="3200" b="0" dirty="0">
                <a:latin typeface="+mn-ea"/>
                <a:ea typeface="+mn-ea"/>
              </a:rPr>
              <a:t>Initialize a new </a:t>
            </a:r>
            <a:r>
              <a:rPr lang="en-US" sz="3200" dirty="0">
                <a:solidFill>
                  <a:schemeClr val="accent4"/>
                </a:solidFill>
                <a:latin typeface="+mn-ea"/>
                <a:ea typeface="+mn-ea"/>
              </a:rPr>
              <a:t>Next.js</a:t>
            </a:r>
            <a:r>
              <a:rPr lang="en-US" sz="3200" b="0" dirty="0">
                <a:solidFill>
                  <a:schemeClr val="accent4"/>
                </a:solidFill>
                <a:latin typeface="+mn-ea"/>
                <a:ea typeface="+mn-ea"/>
              </a:rPr>
              <a:t> </a:t>
            </a:r>
            <a:r>
              <a:rPr lang="en-US" sz="3200" b="0" dirty="0">
                <a:latin typeface="+mn-ea"/>
                <a:ea typeface="+mn-ea"/>
              </a:rPr>
              <a:t>project with </a:t>
            </a:r>
            <a:r>
              <a:rPr lang="en-US" sz="3200" dirty="0">
                <a:solidFill>
                  <a:schemeClr val="accent4"/>
                </a:solidFill>
                <a:latin typeface="+mn-ea"/>
                <a:ea typeface="+mn-ea"/>
              </a:rPr>
              <a:t>TypeScript</a:t>
            </a:r>
            <a:r>
              <a:rPr lang="en-US" sz="3200" b="0" dirty="0">
                <a:latin typeface="+mn-ea"/>
                <a:ea typeface="+mn-ea"/>
              </a:rPr>
              <a:t>.</a:t>
            </a:r>
          </a:p>
          <a:p>
            <a:pPr indent="-361950"/>
            <a:endParaRPr lang="en-US" sz="800" b="0" dirty="0">
              <a:latin typeface="+mn-ea"/>
              <a:ea typeface="+mn-ea"/>
            </a:endParaRPr>
          </a:p>
          <a:p>
            <a:pPr indent="-361950"/>
            <a:r>
              <a:rPr lang="en-US" sz="3200" b="0" dirty="0">
                <a:latin typeface="+mn-ea"/>
                <a:ea typeface="+mn-ea"/>
              </a:rPr>
              <a:t>Install npm packages for </a:t>
            </a:r>
            <a:r>
              <a:rPr lang="en-US" sz="3200" dirty="0">
                <a:solidFill>
                  <a:schemeClr val="accent4"/>
                </a:solidFill>
                <a:latin typeface="+mn-ea"/>
                <a:ea typeface="+mn-ea"/>
              </a:rPr>
              <a:t>Drizzle</a:t>
            </a:r>
            <a:r>
              <a:rPr lang="en-US" sz="3200" b="0" dirty="0">
                <a:latin typeface="+mn-ea"/>
                <a:ea typeface="+mn-ea"/>
              </a:rPr>
              <a:t> + </a:t>
            </a:r>
            <a:r>
              <a:rPr lang="en-US" sz="3200" dirty="0">
                <a:solidFill>
                  <a:schemeClr val="accent4"/>
                </a:solidFill>
                <a:latin typeface="+mn-ea"/>
                <a:ea typeface="+mn-ea"/>
              </a:rPr>
              <a:t>Neon driver</a:t>
            </a:r>
            <a:r>
              <a:rPr lang="en-US" sz="3200" b="0" dirty="0">
                <a:latin typeface="+mn-ea"/>
              </a:rPr>
              <a:t>.</a:t>
            </a:r>
            <a:endParaRPr lang="en-US" sz="3200" dirty="0">
              <a:solidFill>
                <a:schemeClr val="accent4"/>
              </a:solidFill>
              <a:latin typeface="+mn-ea"/>
              <a:ea typeface="+mn-ea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7EEC3D2-EE25-9238-9AD6-AC0D6C153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565" y="2319365"/>
            <a:ext cx="6053920" cy="4075906"/>
          </a:xfrm>
          <a:prstGeom prst="roundRect">
            <a:avLst>
              <a:gd name="adj" fmla="val 756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31748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4C0EF-B7B0-4522-C160-D56830CB6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955A40-9D16-A5DB-4B0E-0AFB494057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1BEFF-3893-6142-8768-73BAA6A301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0" y="1196125"/>
            <a:ext cx="6120083" cy="5561125"/>
          </a:xfrm>
        </p:spPr>
        <p:txBody>
          <a:bodyPr>
            <a:normAutofit/>
          </a:bodyPr>
          <a:lstStyle/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en-US" sz="2800" dirty="0"/>
              <a:t>Install and configure </a:t>
            </a:r>
            <a:r>
              <a:rPr lang="en-US" sz="2800" b="1" dirty="0">
                <a:solidFill>
                  <a:schemeClr val="accent4"/>
                </a:solidFill>
              </a:rPr>
              <a:t>Neon MCP</a:t>
            </a:r>
          </a:p>
          <a:p>
            <a:pPr marL="676275" lvl="1" indent="-228600">
              <a:spcBef>
                <a:spcPts val="700"/>
              </a:spcBef>
              <a:buFont typeface="Arial"/>
              <a:buChar char="•"/>
            </a:pPr>
            <a:r>
              <a:rPr lang="en-US" sz="2600" dirty="0"/>
              <a:t>Install `</a:t>
            </a:r>
            <a:r>
              <a:rPr lang="en-US" sz="2600" b="1" noProof="1">
                <a:solidFill>
                  <a:schemeClr val="accent4"/>
                </a:solidFill>
              </a:rPr>
              <a:t>@mcp neon</a:t>
            </a:r>
            <a:r>
              <a:rPr lang="en-US" sz="2600" dirty="0"/>
              <a:t>` in VS Code</a:t>
            </a:r>
          </a:p>
          <a:p>
            <a:pPr marL="676275" lvl="1" indent="-228600">
              <a:spcBef>
                <a:spcPts val="700"/>
              </a:spcBef>
              <a:buFont typeface="Arial"/>
              <a:buChar char="•"/>
            </a:pPr>
            <a:r>
              <a:rPr lang="en-US" sz="2600" dirty="0"/>
              <a:t>Specify the Neon DB name in </a:t>
            </a:r>
            <a:r>
              <a:rPr lang="en-US" sz="2600" b="1" dirty="0">
                <a:solidFill>
                  <a:schemeClr val="accent4"/>
                </a:solidFill>
              </a:rPr>
              <a:t>AGENTS.md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en-US" sz="2800" dirty="0"/>
              <a:t>Use </a:t>
            </a:r>
            <a:r>
              <a:rPr lang="en-US" sz="2800" b="1" dirty="0">
                <a:solidFill>
                  <a:schemeClr val="accent4"/>
                </a:solidFill>
              </a:rPr>
              <a:t>AI prompt</a:t>
            </a:r>
            <a:r>
              <a:rPr lang="en-US" sz="2800" dirty="0"/>
              <a:t> in Neon MCP to create a new Neon project `</a:t>
            </a:r>
            <a:r>
              <a:rPr lang="en-US" sz="2800" b="1" noProof="1">
                <a:solidFill>
                  <a:schemeClr val="accent4"/>
                </a:solidFill>
              </a:rPr>
              <a:t>BlogDB</a:t>
            </a:r>
            <a:r>
              <a:rPr lang="en-US" sz="2800" dirty="0"/>
              <a:t>`</a:t>
            </a:r>
          </a:p>
          <a:p>
            <a:pPr marL="676275" lvl="1" indent="-228600">
              <a:spcBef>
                <a:spcPts val="700"/>
              </a:spcBef>
              <a:buFont typeface="Arial"/>
              <a:buChar char="•"/>
            </a:pPr>
            <a:r>
              <a:rPr lang="en-US" sz="2600" dirty="0"/>
              <a:t>Or use the </a:t>
            </a:r>
            <a:r>
              <a:rPr lang="en-US" sz="2600" b="1" dirty="0">
                <a:solidFill>
                  <a:schemeClr val="accent4"/>
                </a:solidFill>
              </a:rPr>
              <a:t>Neon console</a:t>
            </a:r>
            <a:endParaRPr lang="en-US" sz="2600" dirty="0"/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en-US" sz="2800" dirty="0"/>
              <a:t>Save the </a:t>
            </a:r>
            <a:r>
              <a:rPr lang="en-US" sz="2800" b="1" dirty="0">
                <a:solidFill>
                  <a:schemeClr val="accent4"/>
                </a:solidFill>
              </a:rPr>
              <a:t>DATABASE_URL</a:t>
            </a:r>
            <a:r>
              <a:rPr lang="en-US" sz="2800" dirty="0"/>
              <a:t> to </a:t>
            </a:r>
            <a:r>
              <a:rPr lang="en-US" sz="2800" b="1" dirty="0">
                <a:solidFill>
                  <a:schemeClr val="accent4"/>
                </a:solidFill>
              </a:rPr>
              <a:t>.env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en-US" sz="2800" dirty="0"/>
              <a:t>Verify that Neon MCP can connect to </a:t>
            </a:r>
            <a:r>
              <a:rPr lang="en-US" sz="2800" b="1" noProof="1">
                <a:solidFill>
                  <a:schemeClr val="accent4"/>
                </a:solidFill>
              </a:rPr>
              <a:t>BlogDB</a:t>
            </a:r>
            <a:endParaRPr lang="en-US" sz="2400" b="1" dirty="0">
              <a:solidFill>
                <a:schemeClr val="accent4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B00EB6-B074-0DD8-819B-51AABE8AE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Create the Neon DB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9C54B77-344D-C9D5-29FD-EBA365048812}"/>
              </a:ext>
            </a:extLst>
          </p:cNvPr>
          <p:cNvSpPr txBox="1">
            <a:spLocks/>
          </p:cNvSpPr>
          <p:nvPr/>
        </p:nvSpPr>
        <p:spPr>
          <a:xfrm>
            <a:off x="6528049" y="4270507"/>
            <a:ext cx="5252988" cy="1822789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600" b="0" noProof="1">
                <a:latin typeface="+mn-lt"/>
              </a:rPr>
              <a:t>Create a </a:t>
            </a:r>
            <a:r>
              <a:rPr lang="en-US" sz="2600" noProof="1">
                <a:solidFill>
                  <a:schemeClr val="accent4"/>
                </a:solidFill>
                <a:latin typeface="+mn-lt"/>
              </a:rPr>
              <a:t>new Neon project </a:t>
            </a:r>
            <a:r>
              <a:rPr lang="en-US" sz="2600" b="0" noProof="1">
                <a:latin typeface="+mn-lt"/>
              </a:rPr>
              <a:t>called </a:t>
            </a:r>
            <a:r>
              <a:rPr lang="en-US" sz="2600" noProof="1">
                <a:latin typeface="+mn-lt"/>
              </a:rPr>
              <a:t>"</a:t>
            </a:r>
            <a:r>
              <a:rPr lang="en-US" sz="2600" b="0" noProof="1">
                <a:latin typeface="+mn-lt"/>
              </a:rPr>
              <a:t>BlogDB" in my account.</a:t>
            </a:r>
          </a:p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600" b="0" noProof="1">
                <a:latin typeface="+mn-lt"/>
              </a:rPr>
              <a:t>Save the </a:t>
            </a:r>
            <a:r>
              <a:rPr lang="en-US" sz="2600" noProof="1">
                <a:solidFill>
                  <a:schemeClr val="accent4"/>
                </a:solidFill>
                <a:latin typeface="+mn-lt"/>
              </a:rPr>
              <a:t>DATABASE_URL </a:t>
            </a:r>
            <a:r>
              <a:rPr lang="en-US" sz="2600" b="0" noProof="1">
                <a:latin typeface="+mn-lt"/>
              </a:rPr>
              <a:t>in a the </a:t>
            </a:r>
            <a:r>
              <a:rPr lang="en-US" sz="2600" noProof="1">
                <a:solidFill>
                  <a:schemeClr val="accent4"/>
                </a:solidFill>
                <a:latin typeface="+mn-lt"/>
              </a:rPr>
              <a:t>`.env` file</a:t>
            </a:r>
            <a:r>
              <a:rPr lang="en-US" sz="2600" noProof="1">
                <a:latin typeface="+mn-lt"/>
              </a:rPr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FFAC461-1E30-0047-1635-B76AC151CCFC}"/>
              </a:ext>
            </a:extLst>
          </p:cNvPr>
          <p:cNvGrpSpPr/>
          <p:nvPr/>
        </p:nvGrpSpPr>
        <p:grpSpPr>
          <a:xfrm>
            <a:off x="6528048" y="1606784"/>
            <a:ext cx="5252987" cy="2320708"/>
            <a:chOff x="187518" y="4188935"/>
            <a:chExt cx="4091836" cy="2320708"/>
          </a:xfrm>
        </p:grpSpPr>
        <p:sp>
          <p:nvSpPr>
            <p:cNvPr id="8" name="Text Placeholder 5">
              <a:extLst>
                <a:ext uri="{FF2B5EF4-FFF2-40B4-BE49-F238E27FC236}">
                  <a16:creationId xmlns:a16="http://schemas.microsoft.com/office/drawing/2014/main" id="{E1D4883E-0595-7EF5-5A2D-FD7573EBE282}"/>
                </a:ext>
              </a:extLst>
            </p:cNvPr>
            <p:cNvSpPr txBox="1">
              <a:spLocks/>
            </p:cNvSpPr>
            <p:nvPr/>
          </p:nvSpPr>
          <p:spPr>
            <a:xfrm>
              <a:off x="187518" y="4188935"/>
              <a:ext cx="4091836" cy="576293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vert="horz" wrap="square" lIns="144000" tIns="72000" rIns="144000" bIns="72000" rtlCol="0">
              <a:spAutoFit/>
            </a:bodyPr>
            <a:lstStyle>
              <a:defPPr>
                <a:defRPr lang="en-US"/>
              </a:defPPr>
              <a:lvl1pPr indent="0" defTabSz="1218438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bg1"/>
                </a:buClr>
                <a:buFont typeface="Arial" panose="020B0604020202020204" pitchFamily="34" charset="0"/>
                <a:buNone/>
                <a:defRPr sz="2800" b="1" i="0">
                  <a:solidFill>
                    <a:schemeClr val="bg2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Roboto" panose="02000000000000000000" pitchFamily="2" charset="0"/>
                </a:defRPr>
              </a:lvl1pPr>
              <a:lvl2pPr marL="809625" indent="-361950" defTabSz="1218438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Font typeface="Arial" panose="020B0604020202020204" pitchFamily="34" charset="0"/>
                <a:buChar char="•"/>
                <a:defRPr sz="3200" b="0" i="0">
                  <a:solidFill>
                    <a:schemeClr val="bg2"/>
                  </a:solidFill>
                  <a:ea typeface="Roboto" panose="02000000000000000000" pitchFamily="2" charset="0"/>
                  <a:cs typeface="Roboto" panose="02000000000000000000" pitchFamily="2" charset="0"/>
                </a:defRPr>
              </a:lvl2pPr>
              <a:lvl3pPr marL="1257300" indent="-361950" defTabSz="1218438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Font typeface="Arial" panose="020B0604020202020204" pitchFamily="34" charset="0"/>
                <a:buChar char="•"/>
                <a:defRPr sz="3000" b="0" i="0">
                  <a:solidFill>
                    <a:schemeClr val="bg2"/>
                  </a:solidFill>
                  <a:ea typeface="Roboto" panose="02000000000000000000" pitchFamily="2" charset="0"/>
                  <a:cs typeface="Roboto" panose="02000000000000000000" pitchFamily="2" charset="0"/>
                </a:defRPr>
              </a:lvl3pPr>
              <a:lvl4pPr marL="1704975" indent="-361950" defTabSz="1218438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Font typeface="Arial" panose="020B0604020202020204" pitchFamily="34" charset="0"/>
                <a:buChar char="•"/>
                <a:defRPr sz="2800" b="0" i="0">
                  <a:solidFill>
                    <a:schemeClr val="bg2"/>
                  </a:solidFill>
                </a:defRPr>
              </a:lvl4pPr>
              <a:lvl5pPr marL="2152650" indent="-361950" defTabSz="1218438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Font typeface="Arial" panose="020B0604020202020204" pitchFamily="34" charset="0"/>
                <a:buChar char="•"/>
                <a:defRPr sz="2600" b="0" i="0">
                  <a:solidFill>
                    <a:schemeClr val="bg2"/>
                  </a:solidFill>
                </a:defRPr>
              </a:lvl5pPr>
              <a:lvl6pPr marL="3350704" indent="-304610" defTabSz="1218438">
                <a:spcBef>
                  <a:spcPct val="20000"/>
                </a:spcBef>
                <a:buFont typeface="Arial" pitchFamily="34" charset="0"/>
                <a:buChar char="•"/>
                <a:defRPr sz="2665"/>
              </a:lvl6pPr>
              <a:lvl7pPr marL="3959924" indent="-304610" defTabSz="1218438">
                <a:spcBef>
                  <a:spcPct val="20000"/>
                </a:spcBef>
                <a:buFont typeface="Arial" pitchFamily="34" charset="0"/>
                <a:buChar char="•"/>
                <a:defRPr sz="2665"/>
              </a:lvl7pPr>
              <a:lvl8pPr marL="4569143" indent="-304610" defTabSz="1218438">
                <a:spcBef>
                  <a:spcPct val="20000"/>
                </a:spcBef>
                <a:buFont typeface="Arial" pitchFamily="34" charset="0"/>
                <a:buChar char="•"/>
                <a:defRPr sz="2665"/>
              </a:lvl8pPr>
              <a:lvl9pPr marL="5178362" indent="-304610" defTabSz="1218438">
                <a:spcBef>
                  <a:spcPct val="20000"/>
                </a:spcBef>
                <a:buFont typeface="Arial" pitchFamily="34" charset="0"/>
                <a:buChar char="•"/>
                <a:defRPr sz="2665"/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noProof="1">
                  <a:solidFill>
                    <a:schemeClr val="accent4"/>
                  </a:solidFill>
                  <a:latin typeface="Consolas"/>
                </a:rPr>
                <a:t>AGENTS.md</a:t>
              </a:r>
            </a:p>
          </p:txBody>
        </p:sp>
        <p:sp>
          <p:nvSpPr>
            <p:cNvPr id="9" name="Text Placeholder 5">
              <a:extLst>
                <a:ext uri="{FF2B5EF4-FFF2-40B4-BE49-F238E27FC236}">
                  <a16:creationId xmlns:a16="http://schemas.microsoft.com/office/drawing/2014/main" id="{06B7897B-ADCA-4F55-6FCA-384F0AAA1899}"/>
                </a:ext>
              </a:extLst>
            </p:cNvPr>
            <p:cNvSpPr txBox="1">
              <a:spLocks/>
            </p:cNvSpPr>
            <p:nvPr/>
          </p:nvSpPr>
          <p:spPr>
            <a:xfrm>
              <a:off x="187518" y="4763799"/>
              <a:ext cx="4091836" cy="1745844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vert="horz" wrap="square" lIns="144000" tIns="72000" rIns="144000" bIns="72000" rtlCol="0">
              <a:spAutoFit/>
            </a:bodyPr>
            <a:lstStyle>
              <a:defPPr>
                <a:defRPr lang="en-US"/>
              </a:defPPr>
              <a:lvl1pPr indent="0" defTabSz="1218438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bg1"/>
                </a:buClr>
                <a:buFont typeface="Arial" panose="020B0604020202020204" pitchFamily="34" charset="0"/>
                <a:buNone/>
                <a:defRPr sz="2800" b="1" i="0">
                  <a:solidFill>
                    <a:schemeClr val="bg2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Roboto" panose="02000000000000000000" pitchFamily="2" charset="0"/>
                </a:defRPr>
              </a:lvl1pPr>
              <a:lvl2pPr marL="809625" indent="-361950" defTabSz="1218438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Font typeface="Arial" panose="020B0604020202020204" pitchFamily="34" charset="0"/>
                <a:buChar char="•"/>
                <a:defRPr sz="3200" b="0" i="0">
                  <a:solidFill>
                    <a:schemeClr val="bg2"/>
                  </a:solidFill>
                  <a:ea typeface="Roboto" panose="02000000000000000000" pitchFamily="2" charset="0"/>
                  <a:cs typeface="Roboto" panose="02000000000000000000" pitchFamily="2" charset="0"/>
                </a:defRPr>
              </a:lvl2pPr>
              <a:lvl3pPr marL="1257300" indent="-361950" defTabSz="1218438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Font typeface="Arial" panose="020B0604020202020204" pitchFamily="34" charset="0"/>
                <a:buChar char="•"/>
                <a:defRPr sz="3000" b="0" i="0">
                  <a:solidFill>
                    <a:schemeClr val="bg2"/>
                  </a:solidFill>
                  <a:ea typeface="Roboto" panose="02000000000000000000" pitchFamily="2" charset="0"/>
                  <a:cs typeface="Roboto" panose="02000000000000000000" pitchFamily="2" charset="0"/>
                </a:defRPr>
              </a:lvl3pPr>
              <a:lvl4pPr marL="1704975" indent="-361950" defTabSz="1218438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Font typeface="Arial" panose="020B0604020202020204" pitchFamily="34" charset="0"/>
                <a:buChar char="•"/>
                <a:defRPr sz="2800" b="0" i="0">
                  <a:solidFill>
                    <a:schemeClr val="bg2"/>
                  </a:solidFill>
                </a:defRPr>
              </a:lvl4pPr>
              <a:lvl5pPr marL="2152650" indent="-361950" defTabSz="1218438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Font typeface="Arial" panose="020B0604020202020204" pitchFamily="34" charset="0"/>
                <a:buChar char="•"/>
                <a:defRPr sz="2600" b="0" i="0">
                  <a:solidFill>
                    <a:schemeClr val="bg2"/>
                  </a:solidFill>
                </a:defRPr>
              </a:lvl5pPr>
              <a:lvl6pPr marL="3350704" indent="-304610" defTabSz="1218438">
                <a:spcBef>
                  <a:spcPct val="20000"/>
                </a:spcBef>
                <a:buFont typeface="Arial" pitchFamily="34" charset="0"/>
                <a:buChar char="•"/>
                <a:defRPr sz="2665"/>
              </a:lvl6pPr>
              <a:lvl7pPr marL="3959924" indent="-304610" defTabSz="1218438">
                <a:spcBef>
                  <a:spcPct val="20000"/>
                </a:spcBef>
                <a:buFont typeface="Arial" pitchFamily="34" charset="0"/>
                <a:buChar char="•"/>
                <a:defRPr sz="2665"/>
              </a:lvl7pPr>
              <a:lvl8pPr marL="4569143" indent="-304610" defTabSz="1218438">
                <a:spcBef>
                  <a:spcPct val="20000"/>
                </a:spcBef>
                <a:buFont typeface="Arial" pitchFamily="34" charset="0"/>
                <a:buChar char="•"/>
                <a:defRPr sz="2665"/>
              </a:lvl8pPr>
              <a:lvl9pPr marL="5178362" indent="-304610" defTabSz="1218438">
                <a:spcBef>
                  <a:spcPct val="20000"/>
                </a:spcBef>
                <a:buFont typeface="Arial" pitchFamily="34" charset="0"/>
                <a:buChar char="•"/>
                <a:defRPr sz="2665"/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2600" noProof="1">
                  <a:latin typeface="+mn-ea"/>
                  <a:ea typeface="+mn-ea"/>
                </a:rPr>
                <a:t># Neon MCP Database Access Rules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2600" b="0" noProof="1">
                  <a:latin typeface="+mn-ea"/>
                  <a:ea typeface="+mn-ea"/>
                </a:rPr>
                <a:t>  - Connect </a:t>
              </a:r>
              <a:r>
                <a:rPr lang="en-US" sz="2600" noProof="1">
                  <a:solidFill>
                    <a:schemeClr val="accent4"/>
                  </a:solidFill>
                  <a:latin typeface="+mn-ea"/>
                  <a:ea typeface="+mn-ea"/>
                </a:rPr>
                <a:t>Neon MCP</a:t>
              </a:r>
              <a:r>
                <a:rPr lang="en-US" sz="2600" b="0" noProof="1">
                  <a:solidFill>
                    <a:schemeClr val="accent4"/>
                  </a:solidFill>
                  <a:latin typeface="+mn-ea"/>
                  <a:ea typeface="+mn-ea"/>
                </a:rPr>
                <a:t> </a:t>
              </a:r>
              <a:r>
                <a:rPr lang="en-US" sz="2600" b="0" noProof="1">
                  <a:latin typeface="+mn-ea"/>
                  <a:ea typeface="+mn-ea"/>
                </a:rPr>
                <a:t>only to a database project named `</a:t>
              </a:r>
              <a:r>
                <a:rPr lang="en-US" sz="2600" noProof="1">
                  <a:solidFill>
                    <a:schemeClr val="accent4"/>
                  </a:solidFill>
                  <a:latin typeface="+mn-ea"/>
                  <a:ea typeface="+mn-ea"/>
                </a:rPr>
                <a:t>BlogDB</a:t>
              </a:r>
              <a:r>
                <a:rPr lang="en-US" sz="2600" b="0" noProof="1">
                  <a:latin typeface="+mn-ea"/>
                  <a:ea typeface="+mn-ea"/>
                </a:rPr>
                <a:t>` in my Neon account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B302D304-272C-7A1E-13CB-9F10F41F1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4573" y="404664"/>
            <a:ext cx="2315396" cy="1440160"/>
          </a:xfrm>
          <a:prstGeom prst="roundRect">
            <a:avLst>
              <a:gd name="adj" fmla="val 3940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5146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F88A4-A96F-6906-206F-0AD2D24455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🤖 </a:t>
            </a:r>
            <a:r>
              <a:rPr lang="en-US" sz="3200" b="1" dirty="0">
                <a:solidFill>
                  <a:srgbClr val="FFD999"/>
                </a:solidFill>
              </a:rPr>
              <a:t>AI prompt</a:t>
            </a:r>
            <a:r>
              <a:rPr lang="en-US" sz="3200" dirty="0"/>
              <a:t> to generate DB schema in Neon (with migration):</a:t>
            </a:r>
          </a:p>
          <a:p>
            <a:endParaRPr lang="bg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3: Generate DB Schema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299461E-3473-216D-EB53-F97AAEF6763A}"/>
              </a:ext>
            </a:extLst>
          </p:cNvPr>
          <p:cNvSpPr txBox="1">
            <a:spLocks/>
          </p:cNvSpPr>
          <p:nvPr/>
        </p:nvSpPr>
        <p:spPr>
          <a:xfrm>
            <a:off x="551384" y="1891916"/>
            <a:ext cx="6336704" cy="477744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noProof="1">
                <a:latin typeface="+mn-lt"/>
              </a:rPr>
              <a:t>Configure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Drizzle ORM</a:t>
            </a:r>
            <a:r>
              <a:rPr lang="en-US" noProof="1">
                <a:latin typeface="+mn-lt"/>
              </a:rPr>
              <a:t> </a:t>
            </a:r>
            <a:r>
              <a:rPr lang="en-US" b="0" noProof="1">
                <a:latin typeface="+mn-lt"/>
              </a:rPr>
              <a:t>with the Neon serverless driver.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800" b="0" noProof="1">
              <a:latin typeface="+mn-lt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noProof="1">
                <a:latin typeface="+mn-lt"/>
              </a:rPr>
              <a:t>Define a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DB</a:t>
            </a:r>
            <a:r>
              <a:rPr lang="en-US" noProof="1">
                <a:latin typeface="+mn-lt"/>
              </a:rPr>
              <a:t>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schema</a:t>
            </a:r>
            <a:r>
              <a:rPr lang="en-US" b="0" noProof="1">
                <a:solidFill>
                  <a:schemeClr val="accent4"/>
                </a:solidFill>
                <a:latin typeface="+mn-lt"/>
              </a:rPr>
              <a:t> </a:t>
            </a:r>
            <a:r>
              <a:rPr lang="en-US" b="0" noProof="1">
                <a:latin typeface="+mn-lt"/>
              </a:rPr>
              <a:t>in my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Neon DB</a:t>
            </a:r>
            <a:r>
              <a:rPr lang="en-US" b="0" noProof="1">
                <a:latin typeface="+mn-lt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noProof="1">
                <a:latin typeface="+mn-lt"/>
              </a:rPr>
              <a:t>   -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users</a:t>
            </a:r>
            <a:r>
              <a:rPr lang="en-US" b="0" noProof="1">
                <a:latin typeface="+mn-lt"/>
              </a:rPr>
              <a:t> (id, email unique, passwordHash)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noProof="1">
                <a:latin typeface="+mn-lt"/>
              </a:rPr>
              <a:t>   -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posts</a:t>
            </a:r>
            <a:r>
              <a:rPr lang="en-US" b="0" noProof="1">
                <a:latin typeface="+mn-lt"/>
              </a:rPr>
              <a:t> (id, authorId FK, title, contentHtml, tags text[], publishedAt)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800" b="0" noProof="1">
              <a:latin typeface="+mn-lt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1">
                <a:solidFill>
                  <a:schemeClr val="accent4"/>
                </a:solidFill>
                <a:latin typeface="+mn-lt"/>
              </a:rPr>
              <a:t>Generate</a:t>
            </a:r>
            <a:r>
              <a:rPr lang="en-US" b="0" noProof="1">
                <a:latin typeface="+mn-lt"/>
              </a:rPr>
              <a:t> the initial Drizzle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migration</a:t>
            </a:r>
            <a:r>
              <a:rPr lang="en-US" b="0" noProof="1">
                <a:latin typeface="+mn-lt"/>
              </a:rPr>
              <a:t>.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0" noProof="1">
                <a:latin typeface="+mn-lt"/>
              </a:rPr>
              <a:t>Run "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drizzle-kit migrate</a:t>
            </a:r>
            <a:r>
              <a:rPr lang="en-US" b="0" noProof="1">
                <a:latin typeface="+mn-lt"/>
              </a:rPr>
              <a:t>" (apply pending migrations to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BlogDB</a:t>
            </a:r>
            <a:r>
              <a:rPr lang="en-US" b="0" noProof="1">
                <a:latin typeface="+mn-lt"/>
              </a:rPr>
              <a:t>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14B71C-B4FE-5596-01EB-4136F7689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1206" y="1988840"/>
            <a:ext cx="4495701" cy="4269612"/>
          </a:xfrm>
          <a:prstGeom prst="roundRect">
            <a:avLst>
              <a:gd name="adj" fmla="val 756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3777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8B99E-3A4A-7288-0DF5-17F5EE441C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3" y="1196125"/>
            <a:ext cx="11811791" cy="5561125"/>
          </a:xfrm>
        </p:spPr>
        <p:txBody>
          <a:bodyPr numCol="1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3200" dirty="0"/>
              <a:t>🤖 </a:t>
            </a:r>
            <a:r>
              <a:rPr lang="en-US" sz="3200" b="1" dirty="0">
                <a:solidFill>
                  <a:schemeClr val="accent4"/>
                </a:solidFill>
              </a:rPr>
              <a:t>AI prompt </a:t>
            </a:r>
            <a:r>
              <a:rPr lang="en-US" sz="3200" dirty="0"/>
              <a:t>to seed sample data in the DB:</a:t>
            </a:r>
          </a:p>
          <a:p>
            <a:pPr>
              <a:lnSpc>
                <a:spcPct val="110000"/>
              </a:lnSpc>
            </a:pPr>
            <a:endParaRPr lang="en-US" sz="3200" dirty="0"/>
          </a:p>
          <a:p>
            <a:pPr>
              <a:lnSpc>
                <a:spcPct val="110000"/>
              </a:lnSpc>
            </a:pPr>
            <a:endParaRPr lang="en-US" sz="3200" dirty="0"/>
          </a:p>
          <a:p>
            <a:pPr>
              <a:lnSpc>
                <a:spcPct val="110000"/>
              </a:lnSpc>
            </a:pPr>
            <a:endParaRPr lang="en-US" sz="3200" dirty="0"/>
          </a:p>
          <a:p>
            <a:pPr>
              <a:lnSpc>
                <a:spcPct val="110000"/>
              </a:lnSpc>
            </a:pPr>
            <a:endParaRPr lang="en-US" sz="3200" dirty="0"/>
          </a:p>
          <a:p>
            <a:pPr>
              <a:lnSpc>
                <a:spcPct val="110000"/>
              </a:lnSpc>
            </a:pPr>
            <a:endParaRPr lang="en-US" sz="3200" dirty="0"/>
          </a:p>
          <a:p>
            <a:pPr>
              <a:lnSpc>
                <a:spcPct val="110000"/>
              </a:lnSpc>
            </a:pPr>
            <a:r>
              <a:rPr lang="en-US" sz="3200" dirty="0"/>
              <a:t>▶️ </a:t>
            </a:r>
            <a:r>
              <a:rPr lang="en-US" sz="3200" b="1" noProof="1">
                <a:solidFill>
                  <a:schemeClr val="accent4"/>
                </a:solidFill>
              </a:rPr>
              <a:t>Run</a:t>
            </a:r>
            <a:r>
              <a:rPr lang="en-US" sz="3200" noProof="1"/>
              <a:t> with:</a:t>
            </a:r>
          </a:p>
          <a:p>
            <a:pPr>
              <a:lnSpc>
                <a:spcPct val="110000"/>
              </a:lnSpc>
            </a:pPr>
            <a:r>
              <a:rPr lang="en-US" sz="3200" dirty="0"/>
              <a:t>✅ </a:t>
            </a:r>
            <a:r>
              <a:rPr lang="en-US" sz="3200" b="1" noProof="1">
                <a:solidFill>
                  <a:schemeClr val="accent4"/>
                </a:solidFill>
              </a:rPr>
              <a:t>Verify</a:t>
            </a:r>
            <a:r>
              <a:rPr lang="en-US" sz="3200" noProof="1"/>
              <a:t> via </a:t>
            </a:r>
            <a:r>
              <a:rPr lang="en-US" sz="3200" b="1" noProof="1">
                <a:solidFill>
                  <a:schemeClr val="accent4"/>
                </a:solidFill>
              </a:rPr>
              <a:t>Neon MCP</a:t>
            </a:r>
            <a:r>
              <a:rPr lang="bg-BG" sz="3200" b="1" noProof="1">
                <a:solidFill>
                  <a:schemeClr val="accent4"/>
                </a:solidFill>
              </a:rPr>
              <a:t> </a:t>
            </a:r>
            <a:r>
              <a:rPr lang="en-US" sz="3200" noProof="1"/>
              <a:t>or from </a:t>
            </a:r>
            <a:r>
              <a:rPr lang="en-US" sz="3200" b="1" noProof="1">
                <a:solidFill>
                  <a:schemeClr val="accent4"/>
                </a:solidFill>
              </a:rPr>
              <a:t>Neon Dashboard</a:t>
            </a:r>
            <a:endParaRPr lang="en-US" sz="3200" b="1" dirty="0">
              <a:solidFill>
                <a:schemeClr val="accent4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4" y="100750"/>
            <a:ext cx="10803414" cy="882654"/>
          </a:xfrm>
        </p:spPr>
        <p:txBody>
          <a:bodyPr/>
          <a:lstStyle/>
          <a:p>
            <a:r>
              <a:rPr lang="en-US"/>
              <a:t>Step 4: Seed Sample Data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299461E-3473-216D-EB53-F97AAEF6763A}"/>
              </a:ext>
            </a:extLst>
          </p:cNvPr>
          <p:cNvSpPr txBox="1">
            <a:spLocks/>
          </p:cNvSpPr>
          <p:nvPr/>
        </p:nvSpPr>
        <p:spPr>
          <a:xfrm>
            <a:off x="623392" y="1988840"/>
            <a:ext cx="10873208" cy="303850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0" noProof="1">
                <a:latin typeface="+mn-lt"/>
              </a:rPr>
              <a:t>Create a npm script `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db:seed</a:t>
            </a:r>
            <a:r>
              <a:rPr lang="en-US" b="0" noProof="1">
                <a:latin typeface="+mn-lt"/>
              </a:rPr>
              <a:t>` to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seed sample data </a:t>
            </a:r>
            <a:r>
              <a:rPr lang="en-US" b="0" noProof="1">
                <a:latin typeface="+mn-lt"/>
              </a:rPr>
              <a:t>in the DB: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0" noProof="1">
                <a:latin typeface="+mn-lt"/>
              </a:rPr>
              <a:t>  -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2 users</a:t>
            </a:r>
            <a:r>
              <a:rPr lang="en-US" b="0" noProof="1">
                <a:latin typeface="+mn-lt"/>
              </a:rPr>
              <a:t>: steve@gmail.com, maria@gmail.com,</a:t>
            </a:r>
            <a:br>
              <a:rPr lang="en-US" b="0" noProof="1">
                <a:latin typeface="+mn-lt"/>
              </a:rPr>
            </a:br>
            <a:r>
              <a:rPr lang="en-US" b="0" noProof="1">
                <a:latin typeface="+mn-lt"/>
              </a:rPr>
              <a:t>    password `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pass123</a:t>
            </a:r>
            <a:r>
              <a:rPr lang="en-US" b="0" noProof="1">
                <a:latin typeface="+mn-lt"/>
              </a:rPr>
              <a:t>` (bcrypt-hashed)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0" noProof="1">
                <a:latin typeface="+mn-lt"/>
              </a:rPr>
              <a:t>  -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30 blog posts with meaningful content</a:t>
            </a:r>
            <a:r>
              <a:rPr lang="en-US" b="0" noProof="1">
                <a:latin typeface="+mn-lt"/>
              </a:rPr>
              <a:t>: split between the users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0" noProof="1">
                <a:latin typeface="+mn-lt"/>
              </a:rPr>
              <a:t>  -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Tags</a:t>
            </a:r>
            <a:r>
              <a:rPr lang="en-US" noProof="1">
                <a:latin typeface="+mn-lt"/>
              </a:rPr>
              <a:t> </a:t>
            </a:r>
            <a:r>
              <a:rPr lang="en-US" b="0" noProof="1">
                <a:latin typeface="+mn-lt"/>
              </a:rPr>
              <a:t>for each post (2-4 tags)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noProof="1">
                <a:solidFill>
                  <a:schemeClr val="accent4"/>
                </a:solidFill>
                <a:latin typeface="+mn-lt"/>
              </a:rPr>
              <a:t>Run</a:t>
            </a:r>
            <a:r>
              <a:rPr lang="en-US" b="0" noProof="1">
                <a:latin typeface="+mn-lt"/>
              </a:rPr>
              <a:t> the script to populate the DB.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3925D8B-4250-9D8D-0342-5068FD1E10C4}"/>
              </a:ext>
            </a:extLst>
          </p:cNvPr>
          <p:cNvSpPr txBox="1">
            <a:spLocks/>
          </p:cNvSpPr>
          <p:nvPr/>
        </p:nvSpPr>
        <p:spPr>
          <a:xfrm>
            <a:off x="3175571" y="5352462"/>
            <a:ext cx="3293553" cy="576293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noProof="1"/>
              <a:t>npm run db:seed</a:t>
            </a:r>
            <a:endParaRPr lang="en-US" noProof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72390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2B6758-45E7-36E6-7398-C906D079F7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🤖 </a:t>
            </a:r>
            <a:r>
              <a:rPr lang="en-US" sz="3200" b="1" dirty="0">
                <a:solidFill>
                  <a:srgbClr val="FFD999"/>
                </a:solidFill>
              </a:rPr>
              <a:t>AI prompt</a:t>
            </a:r>
            <a:r>
              <a:rPr lang="en-US" sz="3200" dirty="0"/>
              <a:t> to implement </a:t>
            </a:r>
            <a:r>
              <a:rPr lang="en-US" sz="3200" b="1" dirty="0">
                <a:solidFill>
                  <a:schemeClr val="accent4"/>
                </a:solidFill>
              </a:rPr>
              <a:t>API endpoints </a:t>
            </a:r>
            <a:r>
              <a:rPr lang="en-US" sz="3200" dirty="0"/>
              <a:t>in Next.js</a:t>
            </a:r>
          </a:p>
          <a:p>
            <a:endParaRPr lang="bg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5: Implement API Endpoints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7BC10FE-DF65-415D-B27E-9F9FD3303819}"/>
              </a:ext>
            </a:extLst>
          </p:cNvPr>
          <p:cNvSpPr txBox="1">
            <a:spLocks/>
          </p:cNvSpPr>
          <p:nvPr/>
        </p:nvSpPr>
        <p:spPr>
          <a:xfrm>
            <a:off x="500641" y="1910317"/>
            <a:ext cx="6723747" cy="450557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numCol="1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 algn="l">
              <a:buNone/>
            </a:pPr>
            <a:r>
              <a:rPr lang="en-US" sz="2600" b="0" noProof="1">
                <a:latin typeface="+mn-lt"/>
              </a:rPr>
              <a:t>Implement the </a:t>
            </a:r>
            <a:r>
              <a:rPr lang="en-US" sz="2600" noProof="1">
                <a:solidFill>
                  <a:schemeClr val="accent4"/>
                </a:solidFill>
                <a:latin typeface="+mn-lt"/>
              </a:rPr>
              <a:t>Blog API endpoints</a:t>
            </a:r>
            <a:r>
              <a:rPr lang="en-US" sz="2600" b="0" noProof="1">
                <a:latin typeface="+mn-lt"/>
              </a:rPr>
              <a:t>:</a:t>
            </a:r>
          </a:p>
          <a:p>
            <a:pPr algn="l">
              <a:buNone/>
            </a:pPr>
            <a:endParaRPr lang="en-US" sz="800" b="0" noProof="1">
              <a:latin typeface="+mn-lt"/>
            </a:endParaRPr>
          </a:p>
          <a:p>
            <a:pPr algn="l">
              <a:buNone/>
            </a:pPr>
            <a:r>
              <a:rPr lang="en-US" sz="2600" b="0" noProof="1">
                <a:latin typeface="+mn-lt"/>
              </a:rPr>
              <a:t>🌐 Public (no auth):</a:t>
            </a:r>
          </a:p>
          <a:p>
            <a:pPr algn="l">
              <a:buNone/>
            </a:pPr>
            <a:r>
              <a:rPr lang="en-US" sz="2600" b="0" noProof="1">
                <a:latin typeface="+mn-lt"/>
              </a:rPr>
              <a:t>  - POST /api/auth/register, /api/auth/login</a:t>
            </a:r>
          </a:p>
          <a:p>
            <a:pPr algn="l">
              <a:buNone/>
            </a:pPr>
            <a:r>
              <a:rPr lang="en-US" sz="2600" b="0" noProof="1">
                <a:latin typeface="+mn-lt"/>
              </a:rPr>
              <a:t>  - GET /api/posts, /api/posts/:id</a:t>
            </a:r>
          </a:p>
          <a:p>
            <a:pPr algn="l">
              <a:buNone/>
            </a:pPr>
            <a:endParaRPr lang="en-US" sz="800" b="0" noProof="1">
              <a:latin typeface="+mn-lt"/>
            </a:endParaRPr>
          </a:p>
          <a:p>
            <a:pPr algn="l">
              <a:buNone/>
            </a:pPr>
            <a:r>
              <a:rPr lang="en-US" sz="2600" b="0" noProof="1">
                <a:latin typeface="+mn-lt"/>
              </a:rPr>
              <a:t>🔐 Protected (JWT auth)</a:t>
            </a:r>
          </a:p>
          <a:p>
            <a:pPr algn="l">
              <a:buNone/>
            </a:pPr>
            <a:r>
              <a:rPr lang="en-US" sz="2600" b="0" noProof="1">
                <a:latin typeface="+mn-lt"/>
              </a:rPr>
              <a:t>  - GET /api/auth/me</a:t>
            </a:r>
          </a:p>
          <a:p>
            <a:pPr algn="l">
              <a:buNone/>
            </a:pPr>
            <a:r>
              <a:rPr lang="en-US" sz="2600" b="0" noProof="1">
                <a:latin typeface="+mn-lt"/>
              </a:rPr>
              <a:t>  - POST /api/posts</a:t>
            </a:r>
          </a:p>
          <a:p>
            <a:pPr algn="l">
              <a:buNone/>
            </a:pPr>
            <a:r>
              <a:rPr lang="en-US" sz="2600" b="0" noProof="1">
                <a:latin typeface="+mn-lt"/>
              </a:rPr>
              <a:t>  - PATCH /api/posts/:id</a:t>
            </a:r>
          </a:p>
          <a:p>
            <a:pPr algn="l">
              <a:buNone/>
            </a:pPr>
            <a:r>
              <a:rPr lang="en-US" sz="2600" b="0" noProof="1">
                <a:latin typeface="+mn-lt"/>
              </a:rPr>
              <a:t>  - DELETE /api/posts/:id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8D20B89-923C-F562-F693-9BEBBB566C2E}"/>
              </a:ext>
            </a:extLst>
          </p:cNvPr>
          <p:cNvSpPr txBox="1">
            <a:spLocks/>
          </p:cNvSpPr>
          <p:nvPr/>
        </p:nvSpPr>
        <p:spPr>
          <a:xfrm>
            <a:off x="7536160" y="1910317"/>
            <a:ext cx="4154263" cy="4402982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numCol="1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 algn="l">
              <a:buNone/>
            </a:pPr>
            <a:r>
              <a:rPr lang="en-US" sz="2500" b="0" noProof="1">
                <a:latin typeface="+mn-lt"/>
              </a:rPr>
              <a:t>- Implement </a:t>
            </a:r>
            <a:r>
              <a:rPr lang="en-US" sz="2500" noProof="1">
                <a:solidFill>
                  <a:schemeClr val="accent4"/>
                </a:solidFill>
                <a:latin typeface="+mn-lt"/>
              </a:rPr>
              <a:t>paging</a:t>
            </a:r>
            <a:r>
              <a:rPr lang="en-US" sz="2500" b="0" noProof="1">
                <a:latin typeface="+mn-lt"/>
              </a:rPr>
              <a:t> when retirieving posts.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2500" b="0" noProof="1">
                <a:latin typeface="+mn-lt"/>
              </a:rPr>
              <a:t>- Use </a:t>
            </a:r>
            <a:r>
              <a:rPr lang="en-US" sz="2500" noProof="1">
                <a:solidFill>
                  <a:schemeClr val="accent4"/>
                </a:solidFill>
                <a:latin typeface="+mn-lt"/>
              </a:rPr>
              <a:t>bcrypt</a:t>
            </a:r>
            <a:r>
              <a:rPr lang="en-US" sz="2500" b="0" noProof="1">
                <a:latin typeface="+mn-lt"/>
              </a:rPr>
              <a:t> to hash the passwords in the DB.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2500" b="0" noProof="1">
                <a:latin typeface="+mn-lt"/>
              </a:rPr>
              <a:t> - Use </a:t>
            </a:r>
            <a:r>
              <a:rPr lang="en-US" sz="2500" noProof="1">
                <a:solidFill>
                  <a:schemeClr val="accent4"/>
                </a:solidFill>
                <a:latin typeface="+mn-lt"/>
              </a:rPr>
              <a:t>JWT tokens </a:t>
            </a:r>
            <a:r>
              <a:rPr lang="en-US" sz="2500" b="0" noProof="1">
                <a:latin typeface="+mn-lt"/>
              </a:rPr>
              <a:t>for authentication.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2500" b="0" noProof="1">
                <a:latin typeface="+mn-lt"/>
              </a:rPr>
              <a:t> - Put a random </a:t>
            </a:r>
            <a:r>
              <a:rPr lang="en-US" sz="2500" noProof="1">
                <a:solidFill>
                  <a:schemeClr val="accent4"/>
                </a:solidFill>
                <a:latin typeface="+mn-lt"/>
              </a:rPr>
              <a:t>JWT_SECRET </a:t>
            </a:r>
            <a:r>
              <a:rPr lang="en-US" sz="2500" b="0" noProof="1">
                <a:latin typeface="+mn-lt"/>
              </a:rPr>
              <a:t>in `</a:t>
            </a:r>
            <a:r>
              <a:rPr lang="en-US" sz="2500" noProof="1">
                <a:solidFill>
                  <a:schemeClr val="accent4"/>
                </a:solidFill>
                <a:latin typeface="+mn-lt"/>
              </a:rPr>
              <a:t>.env</a:t>
            </a:r>
            <a:r>
              <a:rPr lang="en-US" sz="2500" b="0" noProof="1">
                <a:latin typeface="+mn-lt"/>
              </a:rPr>
              <a:t>`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2500" b="0" noProof="1">
                <a:latin typeface="+mn-lt"/>
              </a:rPr>
              <a:t> - Generate short </a:t>
            </a:r>
            <a:r>
              <a:rPr lang="en-US" sz="2500" noProof="1">
                <a:solidFill>
                  <a:schemeClr val="accent4"/>
                </a:solidFill>
                <a:latin typeface="+mn-lt"/>
              </a:rPr>
              <a:t>API docs </a:t>
            </a:r>
            <a:r>
              <a:rPr lang="en-US" sz="2500" b="0" noProof="1">
                <a:latin typeface="+mn-lt"/>
              </a:rPr>
              <a:t>at the app home page.</a:t>
            </a:r>
          </a:p>
        </p:txBody>
      </p:sp>
    </p:spTree>
    <p:extLst>
      <p:ext uri="{BB962C8B-B14F-4D97-AF65-F5344CB8AC3E}">
        <p14:creationId xmlns:p14="http://schemas.microsoft.com/office/powerpoint/2010/main" val="1724258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B2CBE3-F124-3637-3CD1-7E045A20EA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1AA347-CBCF-F33C-C819-9D2C4BA2A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Blog API in Action</a:t>
            </a:r>
            <a:endParaRPr lang="bg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D40CDC-C092-406C-3E48-62799E2B2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1412776"/>
            <a:ext cx="3479161" cy="5088854"/>
          </a:xfrm>
          <a:prstGeom prst="roundRect">
            <a:avLst>
              <a:gd name="adj" fmla="val 756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9B580E-7D70-6B19-5200-D31E6F810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624" y="1272353"/>
            <a:ext cx="5233809" cy="4942551"/>
          </a:xfrm>
          <a:prstGeom prst="roundRect">
            <a:avLst>
              <a:gd name="adj" fmla="val 756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EC84E0-A38C-C538-0CC9-EA7F373B8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483" y="1485790"/>
            <a:ext cx="4609786" cy="5073043"/>
          </a:xfrm>
          <a:prstGeom prst="roundRect">
            <a:avLst>
              <a:gd name="adj" fmla="val 756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7324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7CEFA3-10F9-4A3D-A5FA-B2DD1FE20D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200" dirty="0"/>
              <a:t>Testing the Blog API with </a:t>
            </a:r>
            <a:r>
              <a:rPr lang="en-US" sz="3200" b="1" dirty="0">
                <a:solidFill>
                  <a:schemeClr val="accent4"/>
                </a:solidFill>
              </a:rPr>
              <a:t>Postman</a:t>
            </a:r>
            <a:r>
              <a:rPr lang="en-US" sz="3200" dirty="0"/>
              <a:t> / </a:t>
            </a:r>
            <a:r>
              <a:rPr lang="en-US" sz="3200" b="1" dirty="0">
                <a:solidFill>
                  <a:schemeClr val="accent4"/>
                </a:solidFill>
              </a:rPr>
              <a:t>curl</a:t>
            </a:r>
            <a:endParaRPr lang="en-US" sz="3200" dirty="0"/>
          </a:p>
          <a:p>
            <a:endParaRPr lang="bg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 API Manually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299461E-3473-216D-EB53-F97AAEF6763A}"/>
              </a:ext>
            </a:extLst>
          </p:cNvPr>
          <p:cNvSpPr txBox="1">
            <a:spLocks/>
          </p:cNvSpPr>
          <p:nvPr/>
        </p:nvSpPr>
        <p:spPr>
          <a:xfrm>
            <a:off x="623393" y="2038594"/>
            <a:ext cx="5328592" cy="2438342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 algn="l">
              <a:spcBef>
                <a:spcPts val="0"/>
              </a:spcBef>
              <a:buNone/>
            </a:pPr>
            <a:r>
              <a:rPr lang="en-US" sz="2400" noProof="1">
                <a:solidFill>
                  <a:schemeClr val="accent4"/>
                </a:solidFill>
                <a:latin typeface="+mn-lt"/>
              </a:rPr>
              <a:t>POST</a:t>
            </a:r>
            <a:r>
              <a:rPr lang="en-US" sz="2400" b="0" noProof="1">
                <a:latin typeface="+mn-lt"/>
              </a:rPr>
              <a:t> http://localhost:3000/api/auth/login</a:t>
            </a:r>
          </a:p>
          <a:p>
            <a:pPr algn="l">
              <a:spcBef>
                <a:spcPts val="0"/>
              </a:spcBef>
              <a:buNone/>
            </a:pPr>
            <a:r>
              <a:rPr lang="en-US" sz="2400" b="0" noProof="1">
                <a:latin typeface="+mn-lt"/>
              </a:rPr>
              <a:t>Content-Type: application/json</a:t>
            </a:r>
          </a:p>
          <a:p>
            <a:pPr>
              <a:spcBef>
                <a:spcPts val="0"/>
              </a:spcBef>
              <a:buNone/>
            </a:pPr>
            <a:endParaRPr lang="en-US" sz="2400" b="0" dirty="0">
              <a:latin typeface="+mn-lt"/>
            </a:endParaRPr>
          </a:p>
          <a:p>
            <a:pPr algn="l">
              <a:spcBef>
                <a:spcPts val="0"/>
              </a:spcBef>
              <a:buNone/>
            </a:pPr>
            <a:r>
              <a:rPr lang="en-US" sz="2400" b="0" noProof="1">
                <a:latin typeface="+mn-lt"/>
              </a:rPr>
              <a:t>{ </a:t>
            </a:r>
            <a:r>
              <a:rPr lang="en-US" sz="2400" noProof="1">
                <a:solidFill>
                  <a:srgbClr val="FFD999"/>
                </a:solidFill>
                <a:latin typeface="+mn-lt"/>
              </a:rPr>
              <a:t>"email"</a:t>
            </a:r>
            <a:r>
              <a:rPr lang="en-US" sz="2400" b="0" noProof="1">
                <a:latin typeface="+mn-lt"/>
              </a:rPr>
              <a:t>: "steve@gmail.com", </a:t>
            </a:r>
            <a:r>
              <a:rPr lang="en-US" sz="2400" noProof="1">
                <a:solidFill>
                  <a:srgbClr val="FFD999"/>
                </a:solidFill>
                <a:latin typeface="+mn-lt"/>
              </a:rPr>
              <a:t>"password"</a:t>
            </a:r>
            <a:r>
              <a:rPr lang="en-US" sz="2400" b="0" noProof="1">
                <a:latin typeface="+mn-lt"/>
              </a:rPr>
              <a:t>: "pass123" }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57B60CD-760D-3A14-D4FD-7E7BD7EEF0B1}"/>
              </a:ext>
            </a:extLst>
          </p:cNvPr>
          <p:cNvSpPr txBox="1">
            <a:spLocks/>
          </p:cNvSpPr>
          <p:nvPr/>
        </p:nvSpPr>
        <p:spPr>
          <a:xfrm>
            <a:off x="6528048" y="2038594"/>
            <a:ext cx="5040559" cy="1279050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 algn="l">
              <a:spcBef>
                <a:spcPts val="0"/>
              </a:spcBef>
              <a:buNone/>
            </a:pPr>
            <a:r>
              <a:rPr lang="en-US" sz="2400" noProof="1">
                <a:solidFill>
                  <a:schemeClr val="accent4"/>
                </a:solidFill>
                <a:latin typeface="+mn-lt"/>
              </a:rPr>
              <a:t>GET</a:t>
            </a:r>
            <a:r>
              <a:rPr lang="en-US" sz="2400" b="0" noProof="1">
                <a:latin typeface="+mn-lt"/>
              </a:rPr>
              <a:t> http://localhost:3000/api/posts</a:t>
            </a:r>
          </a:p>
          <a:p>
            <a:pPr algn="l">
              <a:spcBef>
                <a:spcPts val="0"/>
              </a:spcBef>
              <a:buNone/>
            </a:pPr>
            <a:r>
              <a:rPr lang="en-US" sz="2400" noProof="1">
                <a:solidFill>
                  <a:srgbClr val="FFD999"/>
                </a:solidFill>
                <a:latin typeface="+mn-lt"/>
              </a:rPr>
              <a:t>Authorization</a:t>
            </a:r>
            <a:r>
              <a:rPr lang="en-US" sz="2400" b="0" noProof="1">
                <a:latin typeface="+mn-lt"/>
              </a:rPr>
              <a:t>: Bearer eyJhbGci...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AA05978-8747-C751-351A-49C869E6D961}"/>
              </a:ext>
            </a:extLst>
          </p:cNvPr>
          <p:cNvSpPr txBox="1">
            <a:spLocks/>
          </p:cNvSpPr>
          <p:nvPr/>
        </p:nvSpPr>
        <p:spPr>
          <a:xfrm>
            <a:off x="623393" y="4729387"/>
            <a:ext cx="5328592" cy="909718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 algn="l">
              <a:spcBef>
                <a:spcPts val="0"/>
              </a:spcBef>
              <a:buNone/>
            </a:pPr>
            <a:r>
              <a:rPr lang="en-US" sz="2400" b="0" i="1" noProof="1">
                <a:latin typeface="+mn-lt"/>
              </a:rPr>
              <a:t>→ 200 OK</a:t>
            </a:r>
          </a:p>
          <a:p>
            <a:pPr algn="l">
              <a:spcBef>
                <a:spcPts val="0"/>
              </a:spcBef>
              <a:buNone/>
            </a:pPr>
            <a:r>
              <a:rPr lang="en-US" sz="2400" b="0" noProof="1">
                <a:latin typeface="+mn-lt"/>
              </a:rPr>
              <a:t>{ </a:t>
            </a:r>
            <a:r>
              <a:rPr lang="en-US" sz="2400" noProof="1">
                <a:solidFill>
                  <a:srgbClr val="FFD999"/>
                </a:solidFill>
                <a:latin typeface="+mn-lt"/>
              </a:rPr>
              <a:t>"token"</a:t>
            </a:r>
            <a:r>
              <a:rPr lang="en-US" sz="2400" b="0" noProof="1">
                <a:latin typeface="+mn-lt"/>
              </a:rPr>
              <a:t>: "eyJhbGciOiJIUzI1NiIs..." }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7BD720A-0A29-9231-D586-48EDF8B4DECC}"/>
              </a:ext>
            </a:extLst>
          </p:cNvPr>
          <p:cNvSpPr txBox="1">
            <a:spLocks/>
          </p:cNvSpPr>
          <p:nvPr/>
        </p:nvSpPr>
        <p:spPr>
          <a:xfrm>
            <a:off x="6528048" y="3521828"/>
            <a:ext cx="5040559" cy="909718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 algn="l">
              <a:spcBef>
                <a:spcPts val="0"/>
              </a:spcBef>
              <a:buNone/>
            </a:pPr>
            <a:r>
              <a:rPr lang="en-US" sz="2400" b="0" i="1" noProof="1">
                <a:latin typeface="+mn-lt"/>
              </a:rPr>
              <a:t>→ 200 OK</a:t>
            </a:r>
          </a:p>
          <a:p>
            <a:pPr algn="l">
              <a:spcBef>
                <a:spcPts val="0"/>
              </a:spcBef>
              <a:buNone/>
            </a:pPr>
            <a:r>
              <a:rPr lang="en-US" sz="2400" b="0" noProof="1">
                <a:latin typeface="+mn-lt"/>
              </a:rPr>
              <a:t>{ </a:t>
            </a:r>
            <a:r>
              <a:rPr lang="en-US" sz="2400" noProof="1">
                <a:solidFill>
                  <a:srgbClr val="FFD999"/>
                </a:solidFill>
                <a:latin typeface="+mn-lt"/>
              </a:rPr>
              <a:t>"posts"</a:t>
            </a:r>
            <a:r>
              <a:rPr lang="en-US" sz="2400" b="0" noProof="1">
                <a:latin typeface="+mn-lt"/>
              </a:rPr>
              <a:t>: […]}</a:t>
            </a:r>
          </a:p>
        </p:txBody>
      </p:sp>
    </p:spTree>
    <p:extLst>
      <p:ext uri="{BB962C8B-B14F-4D97-AF65-F5344CB8AC3E}">
        <p14:creationId xmlns:p14="http://schemas.microsoft.com/office/powerpoint/2010/main" val="562459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643CDE-8E68-9C4B-FB91-24D4665A30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979199" y="1458364"/>
            <a:ext cx="8233605" cy="1178548"/>
          </a:xfrm>
        </p:spPr>
        <p:txBody>
          <a:bodyPr/>
          <a:lstStyle/>
          <a:p>
            <a:r>
              <a:rPr lang="en-US" dirty="0"/>
              <a:t>Next.js API + React Front-End + Neon DB + Auth State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940597-DAE4-91AA-835D-40DD830B3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207" y="450252"/>
            <a:ext cx="11024081" cy="780383"/>
          </a:xfrm>
        </p:spPr>
        <p:txBody>
          <a:bodyPr/>
          <a:lstStyle/>
          <a:p>
            <a:r>
              <a:rPr lang="en-US" dirty="0"/>
              <a:t>Blog System: Client App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17ECD-EE28-34AE-1128-57A5041596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53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E10DED-C268-9051-5DD4-56E5E0054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3017550"/>
            <a:ext cx="2227804" cy="3435786"/>
          </a:xfrm>
          <a:prstGeom prst="roundRect">
            <a:avLst>
              <a:gd name="adj" fmla="val 756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EAD175-4561-C883-9F12-C956D97CE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982" y="3017549"/>
            <a:ext cx="2996209" cy="3435787"/>
          </a:xfrm>
          <a:prstGeom prst="roundRect">
            <a:avLst>
              <a:gd name="adj" fmla="val 756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7E24B1-44A8-D436-41FA-511E638A5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009" y="3017548"/>
            <a:ext cx="2367428" cy="3435787"/>
          </a:xfrm>
          <a:prstGeom prst="roundRect">
            <a:avLst>
              <a:gd name="adj" fmla="val 756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FD6C50-82F2-08B0-0B1A-747317CC0F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0256" y="3017549"/>
            <a:ext cx="3412920" cy="3435787"/>
          </a:xfrm>
          <a:prstGeom prst="roundRect">
            <a:avLst>
              <a:gd name="adj" fmla="val 756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98200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C9338F-C8ED-F62B-3BAF-467F18E41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E0C3C1-FDF7-4BBC-1D90-1BF05E6B3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Blog System: Client App</a:t>
            </a:r>
            <a:endParaRPr lang="bg-BG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A848C-96E8-ADDF-F9C6-207F0F91B244}"/>
              </a:ext>
            </a:extLst>
          </p:cNvPr>
          <p:cNvSpPr txBox="1">
            <a:spLocks/>
          </p:cNvSpPr>
          <p:nvPr/>
        </p:nvSpPr>
        <p:spPr>
          <a:xfrm>
            <a:off x="479376" y="1370244"/>
            <a:ext cx="11161240" cy="5085220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numCol="1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600" b="0" noProof="1">
                <a:latin typeface="+mn-lt"/>
              </a:rPr>
              <a:t>Implement a </a:t>
            </a:r>
            <a:r>
              <a:rPr lang="en-US" sz="2600" noProof="1">
                <a:solidFill>
                  <a:schemeClr val="accent4"/>
                </a:solidFill>
                <a:latin typeface="+mn-lt"/>
              </a:rPr>
              <a:t>simple Blog app </a:t>
            </a:r>
            <a:r>
              <a:rPr lang="en-US" sz="2600" b="0" noProof="1">
                <a:latin typeface="+mn-lt"/>
              </a:rPr>
              <a:t>using the Blog System API: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600" b="0" noProof="1">
                <a:latin typeface="+mn-lt"/>
              </a:rPr>
              <a:t>  - </a:t>
            </a:r>
            <a:r>
              <a:rPr lang="en-US" sz="2600" noProof="1">
                <a:solidFill>
                  <a:schemeClr val="accent4"/>
                </a:solidFill>
                <a:latin typeface="+mn-lt"/>
              </a:rPr>
              <a:t>Anonymous users </a:t>
            </a:r>
            <a:r>
              <a:rPr lang="en-US" sz="2600" b="0" noProof="1">
                <a:latin typeface="+mn-lt"/>
              </a:rPr>
              <a:t>can </a:t>
            </a:r>
            <a:r>
              <a:rPr lang="en-US" sz="2600" noProof="1">
                <a:solidFill>
                  <a:schemeClr val="accent4"/>
                </a:solidFill>
                <a:latin typeface="+mn-lt"/>
              </a:rPr>
              <a:t>view posts </a:t>
            </a:r>
            <a:r>
              <a:rPr lang="en-US" sz="2600" b="0" noProof="1">
                <a:latin typeface="+mn-lt"/>
              </a:rPr>
              <a:t>(short version, paginated), </a:t>
            </a:r>
            <a:r>
              <a:rPr lang="en-US" sz="2600" noProof="1">
                <a:solidFill>
                  <a:schemeClr val="accent4"/>
                </a:solidFill>
                <a:latin typeface="+mn-lt"/>
              </a:rPr>
              <a:t>view post details </a:t>
            </a:r>
            <a:r>
              <a:rPr lang="en-US" sz="2600" b="0" noProof="1">
                <a:latin typeface="+mn-lt"/>
              </a:rPr>
              <a:t>(full content), </a:t>
            </a:r>
            <a:r>
              <a:rPr lang="en-US" sz="2600" noProof="1">
                <a:solidFill>
                  <a:schemeClr val="accent4"/>
                </a:solidFill>
                <a:latin typeface="+mn-lt"/>
              </a:rPr>
              <a:t>register</a:t>
            </a:r>
            <a:r>
              <a:rPr lang="en-US" sz="2600" b="0" noProof="1">
                <a:latin typeface="+mn-lt"/>
              </a:rPr>
              <a:t> / </a:t>
            </a:r>
            <a:r>
              <a:rPr lang="en-US" sz="2600" noProof="1">
                <a:solidFill>
                  <a:schemeClr val="accent4"/>
                </a:solidFill>
                <a:latin typeface="+mn-lt"/>
              </a:rPr>
              <a:t>login</a:t>
            </a:r>
            <a:r>
              <a:rPr lang="en-US" sz="2600" b="0" noProof="1">
                <a:latin typeface="+mn-lt"/>
              </a:rPr>
              <a:t> (separate pages)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600" b="0" noProof="1">
                <a:latin typeface="+mn-lt"/>
              </a:rPr>
              <a:t>  - </a:t>
            </a:r>
            <a:r>
              <a:rPr lang="en-US" sz="2600" noProof="1">
                <a:solidFill>
                  <a:schemeClr val="accent4"/>
                </a:solidFill>
                <a:latin typeface="+mn-lt"/>
              </a:rPr>
              <a:t>Registered users </a:t>
            </a:r>
            <a:r>
              <a:rPr lang="en-US" sz="2600" b="0" noProof="1">
                <a:latin typeface="+mn-lt"/>
              </a:rPr>
              <a:t>(after login) can </a:t>
            </a:r>
            <a:r>
              <a:rPr lang="en-US" sz="2600" noProof="1">
                <a:solidFill>
                  <a:schemeClr val="accent4"/>
                </a:solidFill>
                <a:latin typeface="+mn-lt"/>
              </a:rPr>
              <a:t>create posts </a:t>
            </a:r>
            <a:r>
              <a:rPr lang="en-US" sz="2600" b="0" noProof="1">
                <a:latin typeface="+mn-lt"/>
              </a:rPr>
              <a:t>(publish new content), </a:t>
            </a:r>
            <a:r>
              <a:rPr lang="en-US" sz="2600" noProof="1">
                <a:solidFill>
                  <a:schemeClr val="accent4"/>
                </a:solidFill>
                <a:latin typeface="+mn-lt"/>
              </a:rPr>
              <a:t>edit</a:t>
            </a:r>
            <a:r>
              <a:rPr lang="en-US" sz="2600" b="0" noProof="1">
                <a:latin typeface="+mn-lt"/>
              </a:rPr>
              <a:t> / </a:t>
            </a:r>
            <a:r>
              <a:rPr lang="en-US" sz="2600" noProof="1">
                <a:solidFill>
                  <a:schemeClr val="accent4"/>
                </a:solidFill>
                <a:latin typeface="+mn-lt"/>
              </a:rPr>
              <a:t>delete posts </a:t>
            </a:r>
            <a:r>
              <a:rPr lang="en-US" sz="2600" b="0" noProof="1">
                <a:latin typeface="+mn-lt"/>
              </a:rPr>
              <a:t>(only their own posts), </a:t>
            </a:r>
            <a:r>
              <a:rPr lang="en-US" sz="2600" noProof="1">
                <a:solidFill>
                  <a:schemeClr val="accent4"/>
                </a:solidFill>
                <a:latin typeface="+mn-lt"/>
              </a:rPr>
              <a:t>view profile page </a:t>
            </a:r>
            <a:r>
              <a:rPr lang="en-US" sz="2600" b="0" noProof="1">
                <a:latin typeface="+mn-lt"/>
              </a:rPr>
              <a:t>(own account)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600" b="0" noProof="1">
                <a:latin typeface="+mn-lt"/>
              </a:rPr>
              <a:t>  - Share the existing </a:t>
            </a:r>
            <a:r>
              <a:rPr lang="en-US" sz="2600" noProof="1">
                <a:solidFill>
                  <a:schemeClr val="accent4"/>
                </a:solidFill>
                <a:latin typeface="+mn-lt"/>
              </a:rPr>
              <a:t>Next.js app </a:t>
            </a:r>
            <a:r>
              <a:rPr lang="en-US" sz="2600" b="0" noProof="1">
                <a:latin typeface="+mn-lt"/>
              </a:rPr>
              <a:t>for both </a:t>
            </a:r>
            <a:r>
              <a:rPr lang="en-US" sz="2600" noProof="1">
                <a:solidFill>
                  <a:schemeClr val="accent4"/>
                </a:solidFill>
                <a:latin typeface="+mn-lt"/>
              </a:rPr>
              <a:t>API</a:t>
            </a:r>
            <a:r>
              <a:rPr lang="en-US" sz="2600" b="0" noProof="1">
                <a:latin typeface="+mn-lt"/>
              </a:rPr>
              <a:t> and </a:t>
            </a:r>
            <a:r>
              <a:rPr lang="en-US" sz="2600" noProof="1">
                <a:solidFill>
                  <a:schemeClr val="accent4"/>
                </a:solidFill>
                <a:latin typeface="+mn-lt"/>
              </a:rPr>
              <a:t>UI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600" b="0" noProof="1">
                <a:solidFill>
                  <a:schemeClr val="accent4"/>
                </a:solidFill>
                <a:latin typeface="+mn-lt"/>
              </a:rPr>
              <a:t> </a:t>
            </a:r>
            <a:r>
              <a:rPr lang="en-US" sz="2600" b="0" noProof="1">
                <a:latin typeface="+mn-lt"/>
              </a:rPr>
              <a:t> - Style the UI with </a:t>
            </a:r>
            <a:r>
              <a:rPr lang="en-US" sz="2600" noProof="1">
                <a:solidFill>
                  <a:schemeClr val="accent4"/>
                </a:solidFill>
                <a:latin typeface="+mn-lt"/>
              </a:rPr>
              <a:t>Tailwind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600" b="0" noProof="1">
                <a:latin typeface="+mn-lt"/>
              </a:rPr>
              <a:t>  - Implement a shared </a:t>
            </a:r>
            <a:r>
              <a:rPr lang="en-US" sz="2600" noProof="1">
                <a:solidFill>
                  <a:schemeClr val="accent4"/>
                </a:solidFill>
                <a:latin typeface="+mn-lt"/>
              </a:rPr>
              <a:t>layout</a:t>
            </a:r>
            <a:r>
              <a:rPr lang="en-US" sz="2600" b="0" noProof="1">
                <a:latin typeface="+mn-lt"/>
              </a:rPr>
              <a:t> with </a:t>
            </a:r>
            <a:r>
              <a:rPr lang="en-US" sz="2600" noProof="1">
                <a:solidFill>
                  <a:schemeClr val="accent4"/>
                </a:solidFill>
                <a:latin typeface="+mn-lt"/>
              </a:rPr>
              <a:t>header</a:t>
            </a:r>
            <a:r>
              <a:rPr lang="en-US" sz="2600" b="0" noProof="1">
                <a:latin typeface="+mn-lt"/>
              </a:rPr>
              <a:t> (nav + auth status) + </a:t>
            </a:r>
            <a:r>
              <a:rPr lang="en-US" sz="2600" noProof="1">
                <a:solidFill>
                  <a:schemeClr val="accent4"/>
                </a:solidFill>
                <a:latin typeface="+mn-lt"/>
              </a:rPr>
              <a:t>footer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600" b="0" noProof="1">
                <a:solidFill>
                  <a:schemeClr val="accent4"/>
                </a:solidFill>
                <a:latin typeface="+mn-lt"/>
              </a:rPr>
              <a:t> </a:t>
            </a:r>
            <a:r>
              <a:rPr lang="en-US" sz="2600" b="0" noProof="1">
                <a:latin typeface="+mn-lt"/>
              </a:rPr>
              <a:t> - Structure the app UI into </a:t>
            </a:r>
            <a:r>
              <a:rPr lang="en-US" sz="2600" noProof="1">
                <a:solidFill>
                  <a:schemeClr val="accent4"/>
                </a:solidFill>
                <a:latin typeface="+mn-lt"/>
              </a:rPr>
              <a:t>modular components </a:t>
            </a:r>
            <a:r>
              <a:rPr lang="en-US" sz="2600" b="0" noProof="1">
                <a:latin typeface="+mn-lt"/>
              </a:rPr>
              <a:t>(pages and components) to avoid large complex code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600" b="0" noProof="1">
                <a:latin typeface="+mn-lt"/>
              </a:rPr>
              <a:t> - Show proper </a:t>
            </a:r>
            <a:r>
              <a:rPr lang="en-US" sz="2600" noProof="1">
                <a:solidFill>
                  <a:schemeClr val="accent4"/>
                </a:solidFill>
                <a:latin typeface="+mn-lt"/>
              </a:rPr>
              <a:t>loading</a:t>
            </a:r>
            <a:r>
              <a:rPr lang="en-US" sz="2600" b="0" noProof="1">
                <a:latin typeface="+mn-lt"/>
              </a:rPr>
              <a:t> + </a:t>
            </a:r>
            <a:r>
              <a:rPr lang="en-US" sz="2600" noProof="1">
                <a:solidFill>
                  <a:schemeClr val="accent4"/>
                </a:solidFill>
                <a:latin typeface="+mn-lt"/>
              </a:rPr>
              <a:t>error</a:t>
            </a:r>
            <a:r>
              <a:rPr lang="en-US" sz="2600" b="0" noProof="1">
                <a:latin typeface="+mn-lt"/>
              </a:rPr>
              <a:t> states</a:t>
            </a:r>
          </a:p>
        </p:txBody>
      </p:sp>
    </p:spTree>
    <p:extLst>
      <p:ext uri="{BB962C8B-B14F-4D97-AF65-F5344CB8AC3E}">
        <p14:creationId xmlns:p14="http://schemas.microsoft.com/office/powerpoint/2010/main" val="253247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E7AB1F-DC28-19A1-315C-6F73256AE7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AC7EE9-7B12-F605-3A40-E39540BDD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Blog System: Client App – Demo</a:t>
            </a:r>
            <a:endParaRPr lang="bg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838B8B-9571-1095-EFA1-51712E186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1403808"/>
            <a:ext cx="3274174" cy="5049528"/>
          </a:xfrm>
          <a:prstGeom prst="roundRect">
            <a:avLst>
              <a:gd name="adj" fmla="val 756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B4164C-7BB6-F952-4937-BAB88FF72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8685" y="2276872"/>
            <a:ext cx="3312399" cy="3798365"/>
          </a:xfrm>
          <a:prstGeom prst="roundRect">
            <a:avLst>
              <a:gd name="adj" fmla="val 756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040D1CE-2778-603B-A9EF-0D8460DAB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008" y="1457472"/>
            <a:ext cx="3479375" cy="5049528"/>
          </a:xfrm>
          <a:prstGeom prst="roundRect">
            <a:avLst>
              <a:gd name="adj" fmla="val 756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11D0E18-3478-83D0-30B1-C34DCC7F71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5193" y="2276872"/>
            <a:ext cx="3378349" cy="3400984"/>
          </a:xfrm>
          <a:prstGeom prst="roundRect">
            <a:avLst>
              <a:gd name="adj" fmla="val 756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46728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643CDE-8E68-9C4B-FB91-24D4665A30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5362" y="1412776"/>
            <a:ext cx="11521278" cy="1178548"/>
          </a:xfrm>
        </p:spPr>
        <p:txBody>
          <a:bodyPr/>
          <a:lstStyle/>
          <a:p>
            <a:r>
              <a:rPr lang="en-US" dirty="0"/>
              <a:t>S3-Compatible Object Storage,</a:t>
            </a:r>
            <a:br>
              <a:rPr lang="bg-BG" dirty="0"/>
            </a:br>
            <a:r>
              <a:rPr lang="en-US" dirty="0"/>
              <a:t>Cloudflare R2</a:t>
            </a:r>
            <a:r>
              <a:rPr lang="bg-BG" dirty="0"/>
              <a:t>,</a:t>
            </a:r>
            <a:r>
              <a:rPr lang="en-US" dirty="0"/>
              <a:t> API Keys, Public URLs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940597-DAE4-91AA-835D-40DD830B3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207" y="416369"/>
            <a:ext cx="11024081" cy="780383"/>
          </a:xfrm>
        </p:spPr>
        <p:txBody>
          <a:bodyPr/>
          <a:lstStyle/>
          <a:p>
            <a:r>
              <a:rPr lang="en-US" sz="4800" dirty="0"/>
              <a:t>File Uploads in Cloudflare R2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17ECD-EE28-34AE-1128-57A5041596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56</a:t>
            </a:fld>
            <a:endParaRPr lang="en-US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8931DBE1-0041-6CE8-2A4F-A74204C7161C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79" b="6632"/>
          <a:stretch>
            <a:fillRect/>
          </a:stretch>
        </p:blipFill>
        <p:spPr>
          <a:xfrm>
            <a:off x="2701828" y="2924944"/>
            <a:ext cx="6788342" cy="3384376"/>
          </a:xfrm>
          <a:prstGeom prst="rect">
            <a:avLst/>
          </a:prstGeom>
          <a:ln>
            <a:solidFill>
              <a:srgbClr val="63C5B0">
                <a:alpha val="60000"/>
              </a:srgbClr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5798281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189293-567B-BEC3-540A-163241B85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A2E743-5410-702C-9C52-10F7E8D7B9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8000"/>
              </a:lnSpc>
            </a:pPr>
            <a:r>
              <a:rPr lang="en-US" dirty="0"/>
              <a:t>Modern apps need </a:t>
            </a:r>
            <a:r>
              <a:rPr lang="en-US" b="1" dirty="0">
                <a:solidFill>
                  <a:schemeClr val="accent4"/>
                </a:solidFill>
              </a:rPr>
              <a:t>file storage </a:t>
            </a:r>
            <a:r>
              <a:rPr lang="en-US" dirty="0"/>
              <a:t>to keep:</a:t>
            </a:r>
          </a:p>
          <a:p>
            <a:pPr lvl="1">
              <a:lnSpc>
                <a:spcPct val="108000"/>
              </a:lnSpc>
            </a:pPr>
            <a:r>
              <a:rPr lang="en-US" b="1" dirty="0">
                <a:solidFill>
                  <a:schemeClr val="accent4"/>
                </a:solidFill>
              </a:rPr>
              <a:t>Public</a:t>
            </a:r>
            <a:r>
              <a:rPr lang="en-US" dirty="0"/>
              <a:t> file / image </a:t>
            </a:r>
            <a:r>
              <a:rPr lang="en-US" b="1" dirty="0">
                <a:solidFill>
                  <a:schemeClr val="accent4"/>
                </a:solidFill>
              </a:rPr>
              <a:t>uploads</a:t>
            </a:r>
            <a:r>
              <a:rPr lang="en-US" dirty="0"/>
              <a:t>, e.g. cover images in a blog</a:t>
            </a:r>
          </a:p>
          <a:p>
            <a:pPr lvl="1">
              <a:lnSpc>
                <a:spcPct val="108000"/>
              </a:lnSpc>
            </a:pPr>
            <a:r>
              <a:rPr lang="en-US" b="1" dirty="0">
                <a:solidFill>
                  <a:schemeClr val="accent4"/>
                </a:solidFill>
              </a:rPr>
              <a:t>Private</a:t>
            </a:r>
            <a:r>
              <a:rPr lang="en-US" dirty="0"/>
              <a:t> documents, videos, files, e.g. financial reports</a:t>
            </a:r>
          </a:p>
          <a:p>
            <a:pPr>
              <a:lnSpc>
                <a:spcPct val="108000"/>
              </a:lnSpc>
            </a:pPr>
            <a:r>
              <a:rPr lang="en-US" b="1" dirty="0">
                <a:solidFill>
                  <a:schemeClr val="accent4"/>
                </a:solidFill>
              </a:rPr>
              <a:t>Where</a:t>
            </a:r>
            <a:r>
              <a:rPr lang="en-US" dirty="0"/>
              <a:t> to keep file uploads?</a:t>
            </a:r>
          </a:p>
          <a:p>
            <a:pPr lvl="1">
              <a:lnSpc>
                <a:spcPct val="108000"/>
              </a:lnSpc>
            </a:pPr>
            <a:r>
              <a:rPr lang="en-US" dirty="0"/>
              <a:t>In the </a:t>
            </a:r>
            <a:r>
              <a:rPr lang="en-US" b="1" dirty="0">
                <a:solidFill>
                  <a:schemeClr val="accent4"/>
                </a:solidFill>
              </a:rPr>
              <a:t>file system </a:t>
            </a:r>
            <a:r>
              <a:rPr lang="en-US" dirty="0">
                <a:sym typeface="Wingdings" panose="05000000000000000000" pitchFamily="2" charset="2"/>
              </a:rPr>
              <a:t> works for server-based deployments, less scalable, additional server load, harder to backup</a:t>
            </a:r>
          </a:p>
          <a:p>
            <a:pPr lvl="1">
              <a:lnSpc>
                <a:spcPct val="108000"/>
              </a:lnSpc>
            </a:pPr>
            <a:r>
              <a:rPr lang="en-US" dirty="0">
                <a:sym typeface="Wingdings" panose="05000000000000000000" pitchFamily="2" charset="2"/>
              </a:rPr>
              <a:t>In the </a:t>
            </a:r>
            <a:r>
              <a:rPr lang="en-US" b="1" dirty="0">
                <a:solidFill>
                  <a:schemeClr val="accent4"/>
                </a:solidFill>
                <a:sym typeface="Wingdings" panose="05000000000000000000" pitchFamily="2" charset="2"/>
              </a:rPr>
              <a:t>database</a:t>
            </a:r>
            <a:r>
              <a:rPr lang="en-US" dirty="0">
                <a:sym typeface="Wingdings" panose="05000000000000000000" pitchFamily="2" charset="2"/>
              </a:rPr>
              <a:t> (antipattern)  </a:t>
            </a:r>
            <a:r>
              <a:rPr lang="en-US" b="1" dirty="0">
                <a:solidFill>
                  <a:schemeClr val="accent4"/>
                </a:solidFill>
                <a:sym typeface="Wingdings" panose="05000000000000000000" pitchFamily="2" charset="2"/>
              </a:rPr>
              <a:t>don't</a:t>
            </a:r>
            <a:r>
              <a:rPr lang="en-US" dirty="0">
                <a:sym typeface="Wingdings" panose="05000000000000000000" pitchFamily="2" charset="2"/>
              </a:rPr>
              <a:t> save large objects in the DB, save metadata only (to avoid loads and slow downs) </a:t>
            </a:r>
          </a:p>
          <a:p>
            <a:pPr lvl="1">
              <a:lnSpc>
                <a:spcPct val="108000"/>
              </a:lnSpc>
            </a:pPr>
            <a:r>
              <a:rPr lang="en-US" dirty="0">
                <a:sym typeface="Wingdings" panose="05000000000000000000" pitchFamily="2" charset="2"/>
              </a:rPr>
              <a:t>In </a:t>
            </a:r>
            <a:r>
              <a:rPr lang="en-US" b="1" dirty="0">
                <a:solidFill>
                  <a:schemeClr val="accent4"/>
                </a:solidFill>
                <a:sym typeface="Wingdings" panose="05000000000000000000" pitchFamily="2" charset="2"/>
              </a:rPr>
              <a:t>object storage service </a:t>
            </a:r>
            <a:r>
              <a:rPr lang="en-US" dirty="0">
                <a:sym typeface="Wingdings" panose="05000000000000000000" pitchFamily="2" charset="2"/>
              </a:rPr>
              <a:t>(the modern way)  scalable, fast, efficient, uses CDN, less server load, easier to backup</a:t>
            </a:r>
            <a:endParaRPr lang="bg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5919A2-D146-72E9-970F-F40FF8BD5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File Storage?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597621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301ED-ABB6-D108-2CDE-6E1FDCE1B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4618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9D73C2-D5BB-D4BC-AAEA-036BBE5A64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2" y="1196125"/>
            <a:ext cx="11808714" cy="5561125"/>
          </a:xfrm>
        </p:spPr>
        <p:txBody>
          <a:bodyPr>
            <a:noAutofit/>
          </a:bodyPr>
          <a:lstStyle/>
          <a:p>
            <a:pPr marL="355600" indent="-355600">
              <a:lnSpc>
                <a:spcPct val="100000"/>
              </a:lnSpc>
              <a:buFont typeface="Arial"/>
              <a:buChar char="•"/>
            </a:pPr>
            <a:r>
              <a:rPr lang="en-US" sz="3200" b="1" dirty="0">
                <a:solidFill>
                  <a:schemeClr val="accent4"/>
                </a:solidFill>
              </a:rPr>
              <a:t>Cloudflare R2</a:t>
            </a:r>
            <a:r>
              <a:rPr lang="en-US" sz="3200" dirty="0"/>
              <a:t> == Cloudflare's </a:t>
            </a:r>
            <a:r>
              <a:rPr lang="en-US" sz="3200" b="1" dirty="0">
                <a:solidFill>
                  <a:schemeClr val="accent4"/>
                </a:solidFill>
              </a:rPr>
              <a:t>object storage service</a:t>
            </a:r>
          </a:p>
          <a:p>
            <a:pPr marL="571500" lvl="1" indent="-342900">
              <a:lnSpc>
                <a:spcPct val="100000"/>
              </a:lnSpc>
            </a:pPr>
            <a:r>
              <a:rPr lang="en-US" b="1" dirty="0">
                <a:solidFill>
                  <a:schemeClr val="accent4"/>
                </a:solidFill>
              </a:rPr>
              <a:t>S3-compatible API</a:t>
            </a:r>
            <a:r>
              <a:rPr lang="en-US" dirty="0"/>
              <a:t> (works with AWS SDK)</a:t>
            </a:r>
          </a:p>
          <a:p>
            <a:pPr marL="571500" lvl="1" indent="-342900">
              <a:lnSpc>
                <a:spcPct val="100000"/>
              </a:lnSpc>
            </a:pPr>
            <a:r>
              <a:rPr lang="en-US" b="1" dirty="0">
                <a:solidFill>
                  <a:schemeClr val="accent4"/>
                </a:solidFill>
              </a:rPr>
              <a:t>No egress fees</a:t>
            </a:r>
            <a:r>
              <a:rPr lang="en-US" dirty="0"/>
              <a:t> (download traffic is free):</a:t>
            </a:r>
            <a:br>
              <a:rPr lang="en-US" dirty="0"/>
            </a:br>
            <a:r>
              <a:rPr lang="en-US" dirty="0"/>
              <a:t>huge advantage over AWS S3</a:t>
            </a:r>
          </a:p>
          <a:p>
            <a:pPr marL="571500" lvl="1" indent="-342900">
              <a:lnSpc>
                <a:spcPct val="100000"/>
              </a:lnSpc>
            </a:pPr>
            <a:r>
              <a:rPr lang="en-US" dirty="0"/>
              <a:t>Global </a:t>
            </a:r>
            <a:r>
              <a:rPr lang="en-US" b="1" dirty="0">
                <a:solidFill>
                  <a:schemeClr val="accent4"/>
                </a:solidFill>
              </a:rPr>
              <a:t>edge network</a:t>
            </a:r>
            <a:r>
              <a:rPr lang="en-US" dirty="0"/>
              <a:t> (330+ data centers worldwide)</a:t>
            </a:r>
            <a:endParaRPr lang="en-US" b="1" dirty="0">
              <a:solidFill>
                <a:schemeClr val="accent4"/>
              </a:solidFill>
            </a:endParaRPr>
          </a:p>
          <a:p>
            <a:pPr marL="571500" lvl="1" indent="-342900">
              <a:lnSpc>
                <a:spcPct val="100000"/>
              </a:lnSpc>
            </a:pPr>
            <a:r>
              <a:rPr lang="en-US" b="1" dirty="0">
                <a:solidFill>
                  <a:schemeClr val="accent4"/>
                </a:solidFill>
              </a:rPr>
              <a:t>Generous free tier</a:t>
            </a:r>
            <a:r>
              <a:rPr lang="en-US" dirty="0"/>
              <a:t>: 10 GB storage, 1M Class A ops / month</a:t>
            </a:r>
          </a:p>
          <a:p>
            <a:pPr marL="355600" indent="-355600">
              <a:lnSpc>
                <a:spcPct val="100000"/>
              </a:lnSpc>
              <a:buFont typeface="Arial"/>
              <a:buChar char="•"/>
            </a:pPr>
            <a:r>
              <a:rPr lang="en-US" sz="3200" dirty="0"/>
              <a:t>Ideal for: </a:t>
            </a:r>
            <a:r>
              <a:rPr lang="en-US" sz="3200" b="1" dirty="0">
                <a:solidFill>
                  <a:schemeClr val="accent4"/>
                </a:solidFill>
              </a:rPr>
              <a:t>images</a:t>
            </a:r>
            <a:r>
              <a:rPr lang="en-US" sz="3200" dirty="0"/>
              <a:t>,</a:t>
            </a:r>
            <a:r>
              <a:rPr lang="en-US" sz="3200" b="1" dirty="0">
                <a:solidFill>
                  <a:schemeClr val="accent4"/>
                </a:solidFill>
              </a:rPr>
              <a:t> videos</a:t>
            </a:r>
            <a:r>
              <a:rPr lang="en-US" sz="3200" dirty="0"/>
              <a:t>,</a:t>
            </a:r>
            <a:r>
              <a:rPr lang="en-US" sz="3200" b="1" dirty="0">
                <a:solidFill>
                  <a:schemeClr val="accent4"/>
                </a:solidFill>
              </a:rPr>
              <a:t> file downloads</a:t>
            </a:r>
            <a:r>
              <a:rPr lang="en-US" sz="3200" dirty="0"/>
              <a:t>,</a:t>
            </a:r>
            <a:r>
              <a:rPr lang="en-US" sz="3200" b="1" dirty="0">
                <a:solidFill>
                  <a:schemeClr val="accent4"/>
                </a:solidFill>
              </a:rPr>
              <a:t> backups</a:t>
            </a:r>
          </a:p>
          <a:p>
            <a:pPr marL="355600" indent="-355600">
              <a:lnSpc>
                <a:spcPct val="100000"/>
              </a:lnSpc>
              <a:buFont typeface="Arial"/>
              <a:buChar char="•"/>
            </a:pPr>
            <a:r>
              <a:rPr lang="en-US" sz="3200" dirty="0"/>
              <a:t>Alternatives: </a:t>
            </a:r>
            <a:r>
              <a:rPr lang="en-US" sz="3200" b="1" dirty="0">
                <a:solidFill>
                  <a:schemeClr val="accent4"/>
                </a:solidFill>
              </a:rPr>
              <a:t>AWS S3</a:t>
            </a:r>
            <a:r>
              <a:rPr lang="en-US" sz="3200" dirty="0"/>
              <a:t>,</a:t>
            </a:r>
            <a:r>
              <a:rPr lang="en-US" sz="3200" b="1" dirty="0">
                <a:solidFill>
                  <a:schemeClr val="accent4"/>
                </a:solidFill>
              </a:rPr>
              <a:t> Supabase Storage</a:t>
            </a:r>
            <a:r>
              <a:rPr lang="en-US" sz="3200" dirty="0"/>
              <a:t>,</a:t>
            </a:r>
            <a:r>
              <a:rPr lang="en-US" sz="3200" b="1" dirty="0">
                <a:solidFill>
                  <a:schemeClr val="accent4"/>
                </a:solidFill>
              </a:rPr>
              <a:t> Backblaze B2</a:t>
            </a:r>
            <a:r>
              <a:rPr lang="en-US" sz="3200" dirty="0"/>
              <a:t>,</a:t>
            </a:r>
            <a:r>
              <a:rPr lang="en-US" sz="3200" b="1" dirty="0">
                <a:solidFill>
                  <a:schemeClr val="accent4"/>
                </a:solidFill>
              </a:rPr>
              <a:t> Vercel Blob</a:t>
            </a:r>
            <a:r>
              <a:rPr lang="en-US" sz="3200" dirty="0"/>
              <a:t>,</a:t>
            </a:r>
            <a:r>
              <a:rPr lang="en-US" sz="3200" b="1" dirty="0">
                <a:solidFill>
                  <a:schemeClr val="accent4"/>
                </a:solidFill>
              </a:rPr>
              <a:t> Digital Ocean Spaces</a:t>
            </a:r>
            <a:r>
              <a:rPr lang="en-US" sz="3200" dirty="0"/>
              <a:t>, </a:t>
            </a:r>
            <a:r>
              <a:rPr lang="en-US" sz="3200" b="1" dirty="0">
                <a:solidFill>
                  <a:schemeClr val="accent4"/>
                </a:solidFill>
              </a:rPr>
              <a:t>Hetzner Object Storage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465473-3E6F-A71C-8881-15CEDDD5E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43" y="100750"/>
            <a:ext cx="10800601" cy="882654"/>
          </a:xfrm>
        </p:spPr>
        <p:txBody>
          <a:bodyPr>
            <a:normAutofit/>
          </a:bodyPr>
          <a:lstStyle/>
          <a:p>
            <a:r>
              <a:rPr lang="en-US" dirty="0"/>
              <a:t>What is Cloudflare R2?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5E1A58-2312-EC4F-6B6B-074A332F7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1503" y="1955611"/>
            <a:ext cx="2490267" cy="1453709"/>
          </a:xfrm>
          <a:prstGeom prst="roundRect">
            <a:avLst>
              <a:gd name="adj" fmla="val 3539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45326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301ED-ABB6-D108-2CDE-6E1FDCE1B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4618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9D73C2-D5BB-D4BC-AAEA-036BBE5A64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2" y="1196125"/>
            <a:ext cx="6696145" cy="5561125"/>
          </a:xfrm>
        </p:spPr>
        <p:txBody>
          <a:bodyPr numCol="1">
            <a:noAutofit/>
          </a:bodyPr>
          <a:lstStyle/>
          <a:p>
            <a:pPr marL="355600" indent="-355600">
              <a:lnSpc>
                <a:spcPct val="100000"/>
              </a:lnSpc>
              <a:buFont typeface="Arial"/>
              <a:buChar char="•"/>
            </a:pPr>
            <a:r>
              <a:rPr lang="en-US" sz="3200" dirty="0"/>
              <a:t>Sign up at </a:t>
            </a:r>
            <a:r>
              <a:rPr lang="en-US" sz="3200" b="1" dirty="0">
                <a:solidFill>
                  <a:schemeClr val="accent4"/>
                </a:solidFill>
                <a:hlinkClick r:id="rId2"/>
              </a:rPr>
              <a:t>https://cloudflare.com</a:t>
            </a:r>
            <a:endParaRPr lang="en-US" sz="3200" b="1" dirty="0">
              <a:solidFill>
                <a:schemeClr val="accent4"/>
              </a:solidFill>
            </a:endParaRPr>
          </a:p>
          <a:p>
            <a:pPr marL="355600" indent="-355600">
              <a:lnSpc>
                <a:spcPct val="100000"/>
              </a:lnSpc>
              <a:buFont typeface="Arial"/>
              <a:buChar char="•"/>
            </a:pPr>
            <a:r>
              <a:rPr lang="en-US" sz="3200" dirty="0"/>
              <a:t>Enable R2 → needs a </a:t>
            </a:r>
            <a:r>
              <a:rPr lang="en-US" sz="3200" b="1" dirty="0">
                <a:solidFill>
                  <a:schemeClr val="accent4"/>
                </a:solidFill>
              </a:rPr>
              <a:t>bank card </a:t>
            </a:r>
          </a:p>
          <a:p>
            <a:pPr marL="355600" indent="-355600">
              <a:lnSpc>
                <a:spcPct val="100000"/>
              </a:lnSpc>
              <a:buFont typeface="Arial"/>
              <a:buChar char="•"/>
            </a:pPr>
            <a:r>
              <a:rPr lang="en-US" sz="3200" dirty="0"/>
              <a:t>You can issue a new </a:t>
            </a:r>
            <a:r>
              <a:rPr lang="en-US" sz="3200" b="1" dirty="0">
                <a:solidFill>
                  <a:schemeClr val="accent4"/>
                </a:solidFill>
              </a:rPr>
              <a:t>Revolut virtual card</a:t>
            </a:r>
            <a:r>
              <a:rPr lang="en-US" sz="3200" dirty="0"/>
              <a:t>, subscribe, then block the card</a:t>
            </a:r>
          </a:p>
          <a:p>
            <a:pPr marL="355600" indent="-355600">
              <a:lnSpc>
                <a:spcPct val="100000"/>
              </a:lnSpc>
              <a:spcBef>
                <a:spcPts val="1200"/>
              </a:spcBef>
              <a:buFont typeface="Arial"/>
              <a:buChar char="•"/>
            </a:pPr>
            <a:endParaRPr lang="en-US" b="1" dirty="0">
              <a:solidFill>
                <a:srgbClr val="FFD999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465473-3E6F-A71C-8881-15CEDDD5E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43" y="100750"/>
            <a:ext cx="10800601" cy="882654"/>
          </a:xfrm>
        </p:spPr>
        <p:txBody>
          <a:bodyPr>
            <a:normAutofit/>
          </a:bodyPr>
          <a:lstStyle/>
          <a:p>
            <a:r>
              <a:rPr lang="en-US" dirty="0"/>
              <a:t>Setting Up Cloudflare R2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7D1E57-0122-BF41-D3A0-82ABDB807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986" y="1532349"/>
            <a:ext cx="4648312" cy="4828659"/>
          </a:xfrm>
          <a:prstGeom prst="roundRect">
            <a:avLst>
              <a:gd name="adj" fmla="val 1572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352B58-8BD0-73E9-B9B9-33A7FAFDA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9088" y="3857212"/>
            <a:ext cx="4202976" cy="2600242"/>
          </a:xfrm>
          <a:prstGeom prst="roundRect">
            <a:avLst>
              <a:gd name="adj" fmla="val 2304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18466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F1072-D867-7FF9-8C82-38CEA32DD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B89A6-F657-8340-68B6-39C271FA6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4618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990B3DD-55AE-B09B-7F66-FB613137BB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3" y="1340768"/>
            <a:ext cx="6336106" cy="5416482"/>
          </a:xfrm>
        </p:spPr>
        <p:txBody>
          <a:bodyPr numCol="1">
            <a:noAutofit/>
          </a:bodyPr>
          <a:lstStyle/>
          <a:p>
            <a:pPr marL="355600" indent="-355600">
              <a:lnSpc>
                <a:spcPct val="100000"/>
              </a:lnSpc>
              <a:spcBef>
                <a:spcPts val="1200"/>
              </a:spcBef>
              <a:buFont typeface="Arial"/>
              <a:buChar char="•"/>
            </a:pPr>
            <a:r>
              <a:rPr lang="en-US" sz="3200" dirty="0"/>
              <a:t>Dashboard → Storage and Databases → R2 Object Storage → </a:t>
            </a:r>
            <a:r>
              <a:rPr lang="en-US" sz="3200" b="1" dirty="0">
                <a:solidFill>
                  <a:schemeClr val="accent4"/>
                </a:solidFill>
              </a:rPr>
              <a:t>Create bucket</a:t>
            </a:r>
          </a:p>
          <a:p>
            <a:pPr marL="571500" lvl="1" indent="-342900">
              <a:lnSpc>
                <a:spcPct val="100000"/>
              </a:lnSpc>
            </a:pPr>
            <a:r>
              <a:rPr lang="en-US" sz="3000" dirty="0"/>
              <a:t>Name: </a:t>
            </a:r>
            <a:r>
              <a:rPr lang="en-US" sz="3000" b="1" dirty="0">
                <a:solidFill>
                  <a:schemeClr val="accent4"/>
                </a:solidFill>
              </a:rPr>
              <a:t>blog-system-nextjs</a:t>
            </a:r>
          </a:p>
          <a:p>
            <a:pPr marL="571500" lvl="1" indent="-342900">
              <a:lnSpc>
                <a:spcPct val="100000"/>
              </a:lnSpc>
            </a:pPr>
            <a:r>
              <a:rPr lang="en-US" sz="3000" dirty="0"/>
              <a:t>Location: </a:t>
            </a:r>
            <a:r>
              <a:rPr lang="en-US" sz="3000" b="1" dirty="0">
                <a:solidFill>
                  <a:schemeClr val="accent4"/>
                </a:solidFill>
              </a:rPr>
              <a:t>Automatic</a:t>
            </a:r>
          </a:p>
          <a:p>
            <a:pPr marL="355600" indent="-355600">
              <a:lnSpc>
                <a:spcPct val="100000"/>
              </a:lnSpc>
              <a:spcBef>
                <a:spcPts val="1800"/>
              </a:spcBef>
              <a:buFont typeface="Arial"/>
              <a:buChar char="•"/>
            </a:pPr>
            <a:r>
              <a:rPr lang="en-US" sz="3200" dirty="0"/>
              <a:t>Create </a:t>
            </a:r>
            <a:r>
              <a:rPr lang="en-US" sz="3200" b="1" dirty="0">
                <a:solidFill>
                  <a:schemeClr val="accent4"/>
                </a:solidFill>
              </a:rPr>
              <a:t>API token</a:t>
            </a:r>
            <a:endParaRPr lang="en-US" sz="3200" dirty="0"/>
          </a:p>
          <a:p>
            <a:pPr marL="355600" indent="-355600">
              <a:lnSpc>
                <a:spcPct val="100000"/>
              </a:lnSpc>
              <a:spcBef>
                <a:spcPts val="1800"/>
              </a:spcBef>
              <a:buFont typeface="Arial"/>
              <a:buChar char="•"/>
            </a:pPr>
            <a:r>
              <a:rPr lang="en-US" sz="3200" dirty="0"/>
              <a:t>Put the R2 config in </a:t>
            </a:r>
            <a:r>
              <a:rPr lang="en-US" sz="3200" b="1" dirty="0">
                <a:solidFill>
                  <a:srgbClr val="FFD999"/>
                </a:solidFill>
              </a:rPr>
              <a:t>.env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D96E4E7-26EE-9B38-824F-0AB76F66D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43" y="100750"/>
            <a:ext cx="10800601" cy="882654"/>
          </a:xfrm>
        </p:spPr>
        <p:txBody>
          <a:bodyPr>
            <a:normAutofit/>
          </a:bodyPr>
          <a:lstStyle/>
          <a:p>
            <a:r>
              <a:rPr lang="en-US" dirty="0"/>
              <a:t>Cloudflare R2: Create a Bucket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D0BC37-F882-935A-0627-168686A64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7188" y="1484783"/>
            <a:ext cx="5777238" cy="4177091"/>
          </a:xfrm>
          <a:prstGeom prst="roundRect">
            <a:avLst>
              <a:gd name="adj" fmla="val 1572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20217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2862FC-B047-87B9-3E20-78A824E38E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F6158FA-7C41-5A85-AB4C-2CDE71F17E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3" y="1196125"/>
            <a:ext cx="11565035" cy="648699"/>
          </a:xfrm>
        </p:spPr>
        <p:txBody>
          <a:bodyPr/>
          <a:lstStyle/>
          <a:p>
            <a:r>
              <a:rPr lang="en-US" dirty="0"/>
              <a:t>Create </a:t>
            </a:r>
            <a:r>
              <a:rPr lang="en-US" b="1" dirty="0">
                <a:solidFill>
                  <a:schemeClr val="accent4"/>
                </a:solidFill>
              </a:rPr>
              <a:t>API token </a:t>
            </a:r>
            <a:r>
              <a:rPr lang="en-US" dirty="0"/>
              <a:t>to access your storage account:</a:t>
            </a:r>
            <a:endParaRPr lang="bg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622E3B-DCFF-AC9C-37A7-F9BDE143D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4" y="100750"/>
            <a:ext cx="10803414" cy="882654"/>
          </a:xfrm>
        </p:spPr>
        <p:txBody>
          <a:bodyPr/>
          <a:lstStyle/>
          <a:p>
            <a:r>
              <a:rPr lang="en-US" dirty="0"/>
              <a:t>Cloudflare R2: Create API Token</a:t>
            </a:r>
            <a:endParaRPr lang="bg-B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A9DFDC-35F9-722F-BC8C-B1DB4C00A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1948200"/>
            <a:ext cx="3280141" cy="1784598"/>
          </a:xfrm>
          <a:prstGeom prst="roundRect">
            <a:avLst>
              <a:gd name="adj" fmla="val 2711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8A62C7-0A7E-54F6-AF11-33932EBAF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070" y="2906763"/>
            <a:ext cx="3859938" cy="3600400"/>
          </a:xfrm>
          <a:prstGeom prst="roundRect">
            <a:avLst>
              <a:gd name="adj" fmla="val 1457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24CA715-3BF2-3E54-73AA-834C4D3FB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5287" y="2132856"/>
            <a:ext cx="5688631" cy="3240360"/>
          </a:xfrm>
          <a:prstGeom prst="roundRect">
            <a:avLst>
              <a:gd name="adj" fmla="val 1457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19074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A8AC1-1B40-4890-BB95-C1B862AFF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B1798C-D8E0-6A0F-005D-7442E34CD4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3D85CCC-87DC-B26C-DF60-9B887F3604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3" y="1196125"/>
            <a:ext cx="11565035" cy="648699"/>
          </a:xfrm>
        </p:spPr>
        <p:txBody>
          <a:bodyPr>
            <a:normAutofit/>
          </a:bodyPr>
          <a:lstStyle/>
          <a:p>
            <a:r>
              <a:rPr lang="en-US" sz="3200" dirty="0"/>
              <a:t>Enable </a:t>
            </a:r>
            <a:r>
              <a:rPr lang="en-US" sz="3200" b="1" dirty="0">
                <a:solidFill>
                  <a:schemeClr val="accent4"/>
                </a:solidFill>
              </a:rPr>
              <a:t>public URL</a:t>
            </a:r>
            <a:r>
              <a:rPr lang="en-US" sz="3200" dirty="0"/>
              <a:t> (expose all your files online, unrestricted):</a:t>
            </a:r>
            <a:endParaRPr lang="bg-BG" sz="3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1170F44-EF41-A149-ACDD-4F6E7ABA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4" y="100750"/>
            <a:ext cx="10803414" cy="882654"/>
          </a:xfrm>
        </p:spPr>
        <p:txBody>
          <a:bodyPr/>
          <a:lstStyle/>
          <a:p>
            <a:r>
              <a:rPr lang="en-US" dirty="0"/>
              <a:t>Cloudflare R2: Create API Token</a:t>
            </a:r>
            <a:endParaRPr lang="bg-BG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E7E0BC1-4CD3-55F5-3AFD-121BD3867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2058286"/>
            <a:ext cx="6120680" cy="4328901"/>
          </a:xfrm>
          <a:prstGeom prst="roundRect">
            <a:avLst>
              <a:gd name="adj" fmla="val 1495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398152-8D9E-1DD1-3E33-6F3C6D193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080" y="2058286"/>
            <a:ext cx="4320480" cy="2647679"/>
          </a:xfrm>
          <a:prstGeom prst="roundRect">
            <a:avLst>
              <a:gd name="adj" fmla="val 1495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73BF19-59A8-5CBB-85CD-AD3CFFE3B1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687" y="4071724"/>
            <a:ext cx="5853311" cy="2497413"/>
          </a:xfrm>
          <a:prstGeom prst="roundRect">
            <a:avLst>
              <a:gd name="adj" fmla="val 1495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9465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322EC-C979-61D5-A834-8717A9BD2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4CA90-62A4-5B9E-0561-2CA635CA1F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4D1FC9D-B082-38A3-3E72-506C5C7091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3" y="1196125"/>
            <a:ext cx="11811791" cy="5561125"/>
          </a:xfrm>
        </p:spPr>
        <p:txBody>
          <a:bodyPr numCol="1">
            <a:noAutofit/>
          </a:bodyPr>
          <a:lstStyle/>
          <a:p>
            <a:r>
              <a:rPr lang="en-US" dirty="0"/>
              <a:t>Save the R2 configuration in `</a:t>
            </a:r>
            <a:r>
              <a:rPr lang="en-US" b="1" dirty="0">
                <a:solidFill>
                  <a:schemeClr val="accent4"/>
                </a:solidFill>
              </a:rPr>
              <a:t>.env</a:t>
            </a:r>
            <a:r>
              <a:rPr lang="en-US" dirty="0"/>
              <a:t>`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14451D0-6F79-3B0D-F0D5-96D6DA6FF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4" y="100750"/>
            <a:ext cx="10803414" cy="882654"/>
          </a:xfrm>
        </p:spPr>
        <p:txBody>
          <a:bodyPr>
            <a:normAutofit/>
          </a:bodyPr>
          <a:lstStyle/>
          <a:p>
            <a:r>
              <a:rPr lang="en-US" dirty="0"/>
              <a:t>Cloudflare R2: App Config Settings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18227AF-D0FA-ABD8-127B-DCC8744E896C}"/>
              </a:ext>
            </a:extLst>
          </p:cNvPr>
          <p:cNvSpPr txBox="1">
            <a:spLocks/>
          </p:cNvSpPr>
          <p:nvPr/>
        </p:nvSpPr>
        <p:spPr>
          <a:xfrm>
            <a:off x="551384" y="1988840"/>
            <a:ext cx="11089232" cy="2479379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</a:pPr>
            <a:r>
              <a:rPr lang="en-US" sz="2900" noProof="1">
                <a:solidFill>
                  <a:schemeClr val="accent4"/>
                </a:solidFill>
                <a:latin typeface="Consolas"/>
              </a:rPr>
              <a:t>R2_URL</a:t>
            </a:r>
            <a:r>
              <a:rPr lang="en-US" sz="2900" noProof="1">
                <a:latin typeface="Consolas"/>
              </a:rPr>
              <a:t>=</a:t>
            </a:r>
            <a:r>
              <a:rPr lang="en-US" sz="2900" noProof="1">
                <a:solidFill>
                  <a:srgbClr val="98D8CB"/>
                </a:solidFill>
                <a:latin typeface="Consolas"/>
              </a:rPr>
              <a:t>https://&lt;account_id&gt;.r2.cloudflarestorage.com</a:t>
            </a:r>
          </a:p>
          <a:p>
            <a:pPr>
              <a:spcBef>
                <a:spcPts val="0"/>
              </a:spcBef>
            </a:pPr>
            <a:r>
              <a:rPr lang="en-US" sz="2900" noProof="1">
                <a:solidFill>
                  <a:schemeClr val="accent4"/>
                </a:solidFill>
                <a:latin typeface="Consolas"/>
              </a:rPr>
              <a:t>R2_BUCKET</a:t>
            </a:r>
            <a:r>
              <a:rPr lang="en-US" sz="2900" noProof="1">
                <a:latin typeface="Consolas"/>
              </a:rPr>
              <a:t>=</a:t>
            </a:r>
            <a:r>
              <a:rPr lang="en-US" sz="2900" noProof="1">
                <a:solidFill>
                  <a:srgbClr val="98D8CB"/>
                </a:solidFill>
                <a:latin typeface="Consolas"/>
              </a:rPr>
              <a:t>blog-system-nextjs</a:t>
            </a:r>
          </a:p>
          <a:p>
            <a:pPr>
              <a:spcBef>
                <a:spcPts val="0"/>
              </a:spcBef>
            </a:pPr>
            <a:r>
              <a:rPr lang="en-US" sz="2900" noProof="1">
                <a:solidFill>
                  <a:schemeClr val="accent4"/>
                </a:solidFill>
                <a:latin typeface="Consolas"/>
              </a:rPr>
              <a:t>R2_PUBLIC_URL</a:t>
            </a:r>
            <a:r>
              <a:rPr lang="en-US" sz="2900" noProof="1">
                <a:latin typeface="Consolas"/>
              </a:rPr>
              <a:t>=</a:t>
            </a:r>
            <a:r>
              <a:rPr lang="en-US" sz="2900" noProof="1">
                <a:solidFill>
                  <a:srgbClr val="98D8CB"/>
                </a:solidFill>
                <a:latin typeface="Consolas"/>
              </a:rPr>
              <a:t>https://pub-&lt;url-id&gt;.r2.dev</a:t>
            </a:r>
          </a:p>
          <a:p>
            <a:pPr algn="l">
              <a:spcBef>
                <a:spcPts val="0"/>
              </a:spcBef>
              <a:buNone/>
            </a:pPr>
            <a:r>
              <a:rPr lang="en-US" sz="2900" b="1" noProof="1">
                <a:solidFill>
                  <a:schemeClr val="accent4"/>
                </a:solidFill>
                <a:latin typeface="Consolas"/>
              </a:rPr>
              <a:t>R2_ACCESS_KEY_ID</a:t>
            </a:r>
            <a:r>
              <a:rPr lang="en-US" sz="2900" noProof="1">
                <a:latin typeface="Consolas"/>
              </a:rPr>
              <a:t>=</a:t>
            </a:r>
            <a:r>
              <a:rPr lang="en-US" sz="2900" noProof="1">
                <a:solidFill>
                  <a:srgbClr val="98D8CB"/>
                </a:solidFill>
                <a:latin typeface="Consolas"/>
              </a:rPr>
              <a:t>&lt;s3-access-key-id&gt;</a:t>
            </a:r>
          </a:p>
          <a:p>
            <a:pPr algn="l">
              <a:spcBef>
                <a:spcPts val="0"/>
              </a:spcBef>
              <a:buNone/>
            </a:pPr>
            <a:r>
              <a:rPr lang="en-US" sz="2900" b="1" noProof="1">
                <a:solidFill>
                  <a:schemeClr val="accent4"/>
                </a:solidFill>
                <a:latin typeface="Consolas"/>
              </a:rPr>
              <a:t>R2_SECRET_ACCESS_KEY</a:t>
            </a:r>
            <a:r>
              <a:rPr lang="en-US" sz="2900" noProof="1">
                <a:latin typeface="Consolas"/>
              </a:rPr>
              <a:t>=</a:t>
            </a:r>
            <a:r>
              <a:rPr lang="en-US" sz="2900" noProof="1">
                <a:solidFill>
                  <a:srgbClr val="98D8CB"/>
                </a:solidFill>
                <a:latin typeface="Consolas"/>
              </a:rPr>
              <a:t>&lt;s3-secret-access-key&gt;</a:t>
            </a:r>
          </a:p>
        </p:txBody>
      </p:sp>
    </p:spTree>
    <p:extLst>
      <p:ext uri="{BB962C8B-B14F-4D97-AF65-F5344CB8AC3E}">
        <p14:creationId xmlns:p14="http://schemas.microsoft.com/office/powerpoint/2010/main" val="2875807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C35FF-43B7-6B2E-9FCA-961E1D5CF7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1" y="1196125"/>
            <a:ext cx="4421897" cy="5561125"/>
          </a:xfrm>
        </p:spPr>
        <p:txBody>
          <a:bodyPr>
            <a:normAutofit/>
          </a:bodyPr>
          <a:lstStyle/>
          <a:p>
            <a:pPr marL="228600" indent="-228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2800" dirty="0"/>
              <a:t>R2 supports the </a:t>
            </a:r>
            <a:r>
              <a:rPr lang="en-US" sz="2800" b="1" dirty="0">
                <a:solidFill>
                  <a:schemeClr val="accent4"/>
                </a:solidFill>
              </a:rPr>
              <a:t>S3 API</a:t>
            </a:r>
          </a:p>
          <a:p>
            <a:pPr marL="228600" indent="-228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2800" b="1" dirty="0">
                <a:solidFill>
                  <a:schemeClr val="accent4"/>
                </a:solidFill>
              </a:rPr>
              <a:t>Install</a:t>
            </a:r>
            <a:r>
              <a:rPr lang="en-US" sz="2800" dirty="0"/>
              <a:t> the AWS SDK v3</a:t>
            </a:r>
          </a:p>
          <a:p>
            <a:pPr marL="228600" indent="-228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endParaRPr lang="en-US" sz="2800" dirty="0"/>
          </a:p>
          <a:p>
            <a:pPr marL="228600" indent="-228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endParaRPr lang="en-US" sz="2800" dirty="0"/>
          </a:p>
          <a:p>
            <a:pPr marL="228600" indent="-228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2800" b="1" dirty="0">
                <a:solidFill>
                  <a:schemeClr val="accent4"/>
                </a:solidFill>
              </a:rPr>
              <a:t>Configure</a:t>
            </a:r>
            <a:r>
              <a:rPr lang="en-US" sz="2800" dirty="0"/>
              <a:t> an </a:t>
            </a:r>
            <a:r>
              <a:rPr lang="en-US" sz="2800" b="1" dirty="0">
                <a:solidFill>
                  <a:schemeClr val="accent4"/>
                </a:solidFill>
              </a:rPr>
              <a:t>S3Client</a:t>
            </a:r>
            <a:r>
              <a:rPr lang="en-US" sz="2800" dirty="0"/>
              <a:t> with R2 endpoint</a:t>
            </a:r>
          </a:p>
          <a:p>
            <a:pPr marL="228600" indent="-228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2800" b="1" dirty="0">
                <a:solidFill>
                  <a:schemeClr val="accent4"/>
                </a:solidFill>
              </a:rPr>
              <a:t>PutObjectCommand</a:t>
            </a:r>
            <a:r>
              <a:rPr lang="en-US" sz="2800" dirty="0"/>
              <a:t> uploads a file</a:t>
            </a:r>
          </a:p>
          <a:p>
            <a:pPr marL="676275" lvl="1" indent="-228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2600" dirty="0"/>
              <a:t>Set the right </a:t>
            </a:r>
            <a:r>
              <a:rPr lang="en-US" sz="2600" b="1" dirty="0">
                <a:solidFill>
                  <a:schemeClr val="accent4"/>
                </a:solidFill>
              </a:rPr>
              <a:t>Content-Type</a:t>
            </a:r>
            <a:r>
              <a:rPr lang="en-US" sz="2600" dirty="0"/>
              <a:t> for the MIME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Uploading Files via the AWS SDK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299461E-3473-216D-EB53-F97AAEF6763A}"/>
              </a:ext>
            </a:extLst>
          </p:cNvPr>
          <p:cNvSpPr txBox="1">
            <a:spLocks/>
          </p:cNvSpPr>
          <p:nvPr/>
        </p:nvSpPr>
        <p:spPr>
          <a:xfrm>
            <a:off x="551384" y="2463055"/>
            <a:ext cx="3528392" cy="945625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  <a:buNone/>
            </a:pPr>
            <a:r>
              <a:rPr lang="en-US" sz="2600" noProof="1">
                <a:latin typeface="Consolas"/>
              </a:rPr>
              <a:t>npm install @aws-sdk/client-s3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2D53AC-0BD6-38EF-823B-BF8E008E5E94}"/>
              </a:ext>
            </a:extLst>
          </p:cNvPr>
          <p:cNvSpPr txBox="1">
            <a:spLocks/>
          </p:cNvSpPr>
          <p:nvPr/>
        </p:nvSpPr>
        <p:spPr>
          <a:xfrm>
            <a:off x="4727353" y="1331496"/>
            <a:ext cx="7028738" cy="2761507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  <a:buNone/>
            </a:pPr>
            <a:r>
              <a:rPr lang="en-US" sz="2000" b="1" noProof="1">
                <a:solidFill>
                  <a:schemeClr val="accent4"/>
                </a:solidFill>
                <a:latin typeface="Consolas"/>
              </a:rPr>
              <a:t>const</a:t>
            </a:r>
            <a:r>
              <a:rPr lang="en-US" sz="2000" noProof="1">
                <a:latin typeface="Consolas"/>
              </a:rPr>
              <a:t> s3 = </a:t>
            </a:r>
            <a:r>
              <a:rPr lang="en-US" sz="2000" b="1" noProof="1">
                <a:solidFill>
                  <a:schemeClr val="accent4"/>
                </a:solidFill>
                <a:latin typeface="Consolas"/>
              </a:rPr>
              <a:t>new</a:t>
            </a:r>
            <a:r>
              <a:rPr lang="en-US" sz="2000" noProof="1">
                <a:latin typeface="Consolas"/>
              </a:rPr>
              <a:t> </a:t>
            </a:r>
            <a:r>
              <a:rPr lang="en-US" sz="2000" noProof="1">
                <a:solidFill>
                  <a:schemeClr val="accent4"/>
                </a:solidFill>
                <a:latin typeface="Consolas"/>
              </a:rPr>
              <a:t>S3Client</a:t>
            </a:r>
            <a:r>
              <a:rPr lang="en-US" sz="2000" noProof="1">
                <a:latin typeface="Consolas"/>
              </a:rPr>
              <a:t>({ region: </a:t>
            </a:r>
            <a:r>
              <a:rPr lang="en-US" sz="2000" noProof="1">
                <a:solidFill>
                  <a:srgbClr val="98D8CB"/>
                </a:solidFill>
                <a:latin typeface="Consolas"/>
              </a:rPr>
              <a:t>"auto"</a:t>
            </a:r>
            <a:r>
              <a:rPr lang="en-US" sz="2000" noProof="1">
                <a:latin typeface="Consolas"/>
              </a:rPr>
              <a:t>,</a:t>
            </a:r>
          </a:p>
          <a:p>
            <a:pPr>
              <a:spcBef>
                <a:spcPts val="0"/>
              </a:spcBef>
              <a:buNone/>
            </a:pPr>
            <a:r>
              <a:rPr lang="en-US" sz="2000" noProof="1">
                <a:latin typeface="Consolas"/>
              </a:rPr>
              <a:t>  endpoint: process.env.R2_URL,</a:t>
            </a:r>
          </a:p>
          <a:p>
            <a:pPr>
              <a:spcBef>
                <a:spcPts val="0"/>
              </a:spcBef>
              <a:buNone/>
            </a:pPr>
            <a:r>
              <a:rPr lang="en-US" sz="2000" noProof="1">
                <a:latin typeface="Consolas"/>
              </a:rPr>
              <a:t>  credentials: {</a:t>
            </a:r>
          </a:p>
          <a:p>
            <a:pPr>
              <a:spcBef>
                <a:spcPts val="0"/>
              </a:spcBef>
              <a:buNone/>
            </a:pPr>
            <a:r>
              <a:rPr lang="en-US" sz="2000" noProof="1">
                <a:latin typeface="Consolas"/>
              </a:rPr>
              <a:t>    accessKeyId: process.env.R2_ACCESS_KEY_ID!,</a:t>
            </a:r>
          </a:p>
          <a:p>
            <a:pPr>
              <a:spcBef>
                <a:spcPts val="0"/>
              </a:spcBef>
              <a:buNone/>
            </a:pPr>
            <a:r>
              <a:rPr lang="en-US" sz="2000" noProof="1">
                <a:latin typeface="Consolas"/>
              </a:rPr>
              <a:t>    secretAccessKey: process.env.R2_SECRET_ACCESS_KEY!,</a:t>
            </a:r>
          </a:p>
          <a:p>
            <a:pPr>
              <a:spcBef>
                <a:spcPts val="0"/>
              </a:spcBef>
              <a:buNone/>
            </a:pPr>
            <a:r>
              <a:rPr lang="en-US" sz="2000" noProof="1">
                <a:latin typeface="Consolas"/>
              </a:rPr>
              <a:t>  },</a:t>
            </a:r>
          </a:p>
          <a:p>
            <a:pPr>
              <a:spcBef>
                <a:spcPts val="0"/>
              </a:spcBef>
              <a:buNone/>
            </a:pPr>
            <a:r>
              <a:rPr lang="en-US" sz="2000" noProof="1">
                <a:latin typeface="Consolas"/>
              </a:rPr>
              <a:t>});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6B99495-037F-A857-E81A-11D9F8A12A66}"/>
              </a:ext>
            </a:extLst>
          </p:cNvPr>
          <p:cNvSpPr txBox="1">
            <a:spLocks/>
          </p:cNvSpPr>
          <p:nvPr/>
        </p:nvSpPr>
        <p:spPr>
          <a:xfrm>
            <a:off x="4727848" y="4305414"/>
            <a:ext cx="7028243" cy="212030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  <a:buNone/>
            </a:pPr>
            <a:r>
              <a:rPr lang="en-US" sz="2000" b="1" noProof="1">
                <a:solidFill>
                  <a:schemeClr val="accent4"/>
                </a:solidFill>
                <a:latin typeface="Consolas"/>
              </a:rPr>
              <a:t>await</a:t>
            </a:r>
            <a:r>
              <a:rPr lang="en-US" sz="2000" noProof="1">
                <a:latin typeface="Consolas"/>
              </a:rPr>
              <a:t> s3.send(</a:t>
            </a:r>
            <a:r>
              <a:rPr lang="en-US" sz="2000" b="1" noProof="1">
                <a:solidFill>
                  <a:schemeClr val="accent4"/>
                </a:solidFill>
                <a:latin typeface="Consolas"/>
              </a:rPr>
              <a:t>new</a:t>
            </a:r>
            <a:r>
              <a:rPr lang="en-US" sz="2000" noProof="1">
                <a:latin typeface="Consolas"/>
              </a:rPr>
              <a:t> </a:t>
            </a:r>
            <a:r>
              <a:rPr lang="en-US" sz="2000" noProof="1">
                <a:solidFill>
                  <a:schemeClr val="accent4"/>
                </a:solidFill>
                <a:latin typeface="Consolas"/>
              </a:rPr>
              <a:t>PutObjectCommand</a:t>
            </a:r>
            <a:r>
              <a:rPr lang="en-US" sz="2000" noProof="1">
                <a:latin typeface="Consolas"/>
              </a:rPr>
              <a:t>({</a:t>
            </a:r>
          </a:p>
          <a:p>
            <a:pPr>
              <a:spcBef>
                <a:spcPts val="0"/>
              </a:spcBef>
              <a:buNone/>
            </a:pPr>
            <a:r>
              <a:rPr lang="en-US" sz="2000" noProof="1">
                <a:latin typeface="Consolas"/>
              </a:rPr>
              <a:t>  Bucket: process.env.R2_BUCKET,</a:t>
            </a:r>
          </a:p>
          <a:p>
            <a:pPr>
              <a:spcBef>
                <a:spcPts val="0"/>
              </a:spcBef>
              <a:buNone/>
            </a:pPr>
            <a:r>
              <a:rPr lang="en-US" sz="2000" noProof="1">
                <a:latin typeface="Consolas"/>
              </a:rPr>
              <a:t>  Key: </a:t>
            </a:r>
            <a:r>
              <a:rPr lang="en-US" sz="2000" noProof="1">
                <a:solidFill>
                  <a:srgbClr val="98D8CB"/>
                </a:solidFill>
                <a:latin typeface="Consolas"/>
              </a:rPr>
              <a:t>"covers/post-42.jpg"</a:t>
            </a:r>
            <a:r>
              <a:rPr lang="en-US" sz="2000" noProof="1">
                <a:latin typeface="Consolas"/>
              </a:rPr>
              <a:t>,</a:t>
            </a:r>
          </a:p>
          <a:p>
            <a:pPr>
              <a:spcBef>
                <a:spcPts val="0"/>
              </a:spcBef>
              <a:buNone/>
            </a:pPr>
            <a:r>
              <a:rPr lang="en-US" sz="2000" noProof="1">
                <a:latin typeface="Consolas"/>
              </a:rPr>
              <a:t>  Body: fileBuffer,</a:t>
            </a:r>
          </a:p>
          <a:p>
            <a:pPr>
              <a:spcBef>
                <a:spcPts val="0"/>
              </a:spcBef>
              <a:buNone/>
            </a:pPr>
            <a:r>
              <a:rPr lang="en-US" sz="2000" noProof="1">
                <a:latin typeface="Consolas"/>
              </a:rPr>
              <a:t>  ContentType: </a:t>
            </a:r>
            <a:r>
              <a:rPr lang="en-US" sz="2000" noProof="1">
                <a:solidFill>
                  <a:srgbClr val="98D8CB"/>
                </a:solidFill>
                <a:latin typeface="Consolas"/>
              </a:rPr>
              <a:t>"image/jpeg"</a:t>
            </a:r>
            <a:r>
              <a:rPr lang="en-US" sz="2000" noProof="1">
                <a:latin typeface="Consolas"/>
              </a:rPr>
              <a:t>,</a:t>
            </a:r>
          </a:p>
          <a:p>
            <a:pPr>
              <a:spcBef>
                <a:spcPts val="0"/>
              </a:spcBef>
              <a:buNone/>
            </a:pPr>
            <a:r>
              <a:rPr lang="en-US" sz="2000" noProof="1">
                <a:latin typeface="Consolas"/>
              </a:rPr>
              <a:t>}));</a:t>
            </a:r>
          </a:p>
        </p:txBody>
      </p:sp>
    </p:spTree>
    <p:extLst>
      <p:ext uri="{BB962C8B-B14F-4D97-AF65-F5344CB8AC3E}">
        <p14:creationId xmlns:p14="http://schemas.microsoft.com/office/powerpoint/2010/main" val="3448030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build="allAtOnce" animBg="1"/>
      <p:bldP spid="7" grpId="0" build="allAtOnce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E4472-08A6-622A-3881-0CE03D4F0D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🤖 </a:t>
            </a:r>
            <a:r>
              <a:rPr lang="en-US" sz="3200" b="1" dirty="0">
                <a:solidFill>
                  <a:srgbClr val="FFD999"/>
                </a:solidFill>
              </a:rPr>
              <a:t>AI prompt</a:t>
            </a:r>
            <a:r>
              <a:rPr lang="en-US" sz="3200" dirty="0"/>
              <a:t> to implement cover image upload in </a:t>
            </a:r>
            <a:r>
              <a:rPr lang="en-US" sz="3200"/>
              <a:t>the Blog:</a:t>
            </a:r>
            <a:endParaRPr lang="en-US" sz="3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Step-by-Step – Cover Image Uploads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299461E-3473-216D-EB53-F97AAEF6763A}"/>
              </a:ext>
            </a:extLst>
          </p:cNvPr>
          <p:cNvSpPr txBox="1">
            <a:spLocks/>
          </p:cNvSpPr>
          <p:nvPr/>
        </p:nvSpPr>
        <p:spPr>
          <a:xfrm>
            <a:off x="437848" y="1916832"/>
            <a:ext cx="11233248" cy="468511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 algn="l">
              <a:spcBef>
                <a:spcPts val="0"/>
              </a:spcBef>
              <a:buNone/>
            </a:pPr>
            <a:r>
              <a:rPr lang="en-US" b="0" noProof="1">
                <a:latin typeface="+mn-lt"/>
              </a:rPr>
              <a:t>Implement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cover-image uploads </a:t>
            </a:r>
            <a:r>
              <a:rPr lang="en-US" b="0" noProof="1">
                <a:latin typeface="+mn-lt"/>
              </a:rPr>
              <a:t>to the Blog System:</a:t>
            </a:r>
          </a:p>
          <a:p>
            <a:pPr>
              <a:spcBef>
                <a:spcPts val="0"/>
              </a:spcBef>
            </a:pPr>
            <a:r>
              <a:rPr lang="en-US" b="0" noProof="1">
                <a:latin typeface="+mn-lt"/>
              </a:rPr>
              <a:t>  - Add a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coverImageUrl</a:t>
            </a:r>
            <a:r>
              <a:rPr lang="en-US" b="0" noProof="1">
                <a:latin typeface="+mn-lt"/>
              </a:rPr>
              <a:t> column to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posts </a:t>
            </a:r>
            <a:r>
              <a:rPr lang="en-US" b="0" noProof="1">
                <a:latin typeface="+mn-lt"/>
              </a:rPr>
              <a:t>table</a:t>
            </a:r>
            <a:endParaRPr lang="en-US" noProof="1">
              <a:solidFill>
                <a:schemeClr val="accent4"/>
              </a:solidFill>
              <a:latin typeface="+mn-lt"/>
            </a:endParaRPr>
          </a:p>
          <a:p>
            <a:pPr>
              <a:spcBef>
                <a:spcPts val="0"/>
              </a:spcBef>
            </a:pPr>
            <a:r>
              <a:rPr lang="en-US" b="0" noProof="1">
                <a:latin typeface="+mn-lt"/>
              </a:rPr>
              <a:t>    (generate Drizzle migration + Drizzle migrate DB)</a:t>
            </a:r>
          </a:p>
          <a:p>
            <a:pPr>
              <a:spcBef>
                <a:spcPts val="0"/>
              </a:spcBef>
            </a:pPr>
            <a:r>
              <a:rPr lang="en-US" b="0" noProof="1">
                <a:latin typeface="+mn-lt"/>
              </a:rPr>
              <a:t>  - New endpoint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POST /api/upload </a:t>
            </a:r>
            <a:r>
              <a:rPr lang="en-US" b="0" noProof="1">
                <a:latin typeface="+mn-lt"/>
                <a:sym typeface="Wingdings" panose="05000000000000000000" pitchFamily="2" charset="2"/>
              </a:rPr>
              <a:t> </a:t>
            </a:r>
            <a:r>
              <a:rPr lang="en-US" b="0" noProof="1">
                <a:latin typeface="+mn-lt"/>
              </a:rPr>
              <a:t>upload a binary file</a:t>
            </a:r>
          </a:p>
          <a:p>
            <a:pPr algn="l">
              <a:spcBef>
                <a:spcPts val="0"/>
              </a:spcBef>
              <a:buNone/>
            </a:pPr>
            <a:r>
              <a:rPr lang="en-US" b="0" noProof="1">
                <a:latin typeface="+mn-lt"/>
              </a:rPr>
              <a:t>    - Upload the file to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Cloudflare R2</a:t>
            </a:r>
            <a:r>
              <a:rPr lang="en-US" noProof="1">
                <a:latin typeface="+mn-lt"/>
              </a:rPr>
              <a:t> </a:t>
            </a:r>
            <a:r>
              <a:rPr lang="en-US" b="0" noProof="1">
                <a:latin typeface="+mn-lt"/>
              </a:rPr>
              <a:t>using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@aws-sdk/client-s3</a:t>
            </a:r>
          </a:p>
          <a:p>
            <a:pPr algn="l">
              <a:spcBef>
                <a:spcPts val="0"/>
              </a:spcBef>
              <a:buNone/>
            </a:pPr>
            <a:r>
              <a:rPr lang="en-US" b="0" noProof="1">
                <a:latin typeface="+mn-lt"/>
              </a:rPr>
              <a:t>    - Use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R2 credentials </a:t>
            </a:r>
            <a:r>
              <a:rPr lang="en-US" b="0" noProof="1">
                <a:latin typeface="+mn-lt"/>
              </a:rPr>
              <a:t>from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.env</a:t>
            </a:r>
          </a:p>
          <a:p>
            <a:pPr algn="l">
              <a:spcBef>
                <a:spcPts val="0"/>
              </a:spcBef>
              <a:buNone/>
            </a:pPr>
            <a:r>
              <a:rPr lang="en-US" b="0" noProof="1">
                <a:latin typeface="+mn-lt"/>
              </a:rPr>
              <a:t>    - Return the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public URL</a:t>
            </a:r>
            <a:r>
              <a:rPr lang="en-US" noProof="1">
                <a:latin typeface="+mn-lt"/>
              </a:rPr>
              <a:t> </a:t>
            </a:r>
            <a:r>
              <a:rPr lang="en-US" b="0" noProof="1">
                <a:latin typeface="+mn-lt"/>
              </a:rPr>
              <a:t>of the uploaded file</a:t>
            </a:r>
          </a:p>
          <a:p>
            <a:pPr>
              <a:spcBef>
                <a:spcPts val="0"/>
              </a:spcBef>
            </a:pPr>
            <a:r>
              <a:rPr lang="en-US" b="0" noProof="1">
                <a:latin typeface="+mn-lt"/>
              </a:rPr>
              <a:t>  - In the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client app UI</a:t>
            </a:r>
            <a:r>
              <a:rPr lang="en-US" b="0" noProof="1">
                <a:latin typeface="+mn-lt"/>
              </a:rPr>
              <a:t> in the Create / Edit Post pages:</a:t>
            </a:r>
          </a:p>
          <a:p>
            <a:pPr>
              <a:spcBef>
                <a:spcPts val="0"/>
              </a:spcBef>
            </a:pPr>
            <a:r>
              <a:rPr lang="en-US" b="0" noProof="1">
                <a:latin typeface="+mn-lt"/>
              </a:rPr>
              <a:t>    - Add an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image upload input with live preview</a:t>
            </a:r>
            <a:r>
              <a:rPr lang="en-US" b="0" noProof="1">
                <a:latin typeface="+mn-lt"/>
              </a:rPr>
              <a:t> +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[Remove]</a:t>
            </a:r>
            <a:r>
              <a:rPr lang="en-US" b="0" noProof="1">
                <a:latin typeface="+mn-lt"/>
              </a:rPr>
              <a:t> button</a:t>
            </a:r>
          </a:p>
          <a:p>
            <a:pPr>
              <a:spcBef>
                <a:spcPts val="0"/>
              </a:spcBef>
            </a:pPr>
            <a:r>
              <a:rPr lang="en-US" noProof="1">
                <a:solidFill>
                  <a:schemeClr val="accent4"/>
                </a:solidFill>
                <a:latin typeface="+mn-lt"/>
              </a:rPr>
              <a:t>    </a:t>
            </a:r>
            <a:r>
              <a:rPr lang="en-US" b="0" noProof="1">
                <a:latin typeface="+mn-lt"/>
              </a:rPr>
              <a:t>-</a:t>
            </a:r>
            <a:r>
              <a:rPr lang="en-US" b="0" noProof="1">
                <a:latin typeface="+mn-lt"/>
                <a:sym typeface="Wingdings" panose="05000000000000000000" pitchFamily="2" charset="2"/>
              </a:rPr>
              <a:t> Upload / delete the image on save; remove image on delete post</a:t>
            </a:r>
            <a:endParaRPr lang="en-US" noProof="1">
              <a:solidFill>
                <a:schemeClr val="accent4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36468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643CDE-8E68-9C4B-FB91-24D4665A30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09" y="1340768"/>
            <a:ext cx="10961783" cy="731785"/>
          </a:xfrm>
        </p:spPr>
        <p:txBody>
          <a:bodyPr anchor="ctr">
            <a:normAutofit/>
          </a:bodyPr>
          <a:lstStyle/>
          <a:p>
            <a:pPr>
              <a:lnSpc>
                <a:spcPct val="95000"/>
              </a:lnSpc>
            </a:pPr>
            <a:r>
              <a:rPr lang="en-US" sz="3100" dirty="0"/>
              <a:t>Unit Tests, Integration Tests, Jest, Playwright E2E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940597-DAE4-91AA-835D-40DD830B3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109" y="394732"/>
            <a:ext cx="10961783" cy="944263"/>
          </a:xfrm>
        </p:spPr>
        <p:txBody>
          <a:bodyPr anchor="ctr">
            <a:normAutofit/>
          </a:bodyPr>
          <a:lstStyle/>
          <a:p>
            <a:pPr>
              <a:lnSpc>
                <a:spcPct val="95000"/>
              </a:lnSpc>
            </a:pPr>
            <a:r>
              <a:rPr lang="en-US" sz="5400" dirty="0"/>
              <a:t>Automated Testing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17ECD-EE28-34AE-1128-57A5041596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2BF067CD-8E6B-4360-9AA8-C5DF2A48A6D1}" type="slidenum">
              <a:rPr lang="en-US" smtClean="0"/>
              <a:pPr>
                <a:spcAft>
                  <a:spcPts val="600"/>
                </a:spcAft>
              </a:pPr>
              <a:t>66</a:t>
            </a:fld>
            <a:endParaRPr lang="en-US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783A9483-AA33-5F50-C84D-3B4318DBDA6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46" b="6346"/>
          <a:stretch>
            <a:fillRect/>
          </a:stretch>
        </p:blipFill>
        <p:spPr>
          <a:xfrm>
            <a:off x="2207566" y="2432108"/>
            <a:ext cx="7776866" cy="3877212"/>
          </a:xfrm>
          <a:prstGeom prst="rect">
            <a:avLst/>
          </a:prstGeom>
          <a:ln>
            <a:solidFill>
              <a:srgbClr val="63C5B0">
                <a:alpha val="60000"/>
              </a:srgbClr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2679156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301ED-ABB6-D108-2CDE-6E1FDCE1B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9D73C2-D5BB-D4BC-AAEA-036BBE5A64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" y="1228120"/>
            <a:ext cx="7273652" cy="548922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What is </a:t>
            </a:r>
            <a:r>
              <a:rPr lang="en-US" sz="3200" b="1" dirty="0">
                <a:solidFill>
                  <a:schemeClr val="accent4"/>
                </a:solidFill>
              </a:rPr>
              <a:t>software testing</a:t>
            </a:r>
            <a:r>
              <a:rPr lang="en-US" sz="3200" dirty="0"/>
              <a:t>?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Checks if the app / component behaves as expected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3200" b="1" dirty="0">
                <a:solidFill>
                  <a:schemeClr val="accent4"/>
                </a:solidFill>
              </a:rPr>
              <a:t>Automated testing</a:t>
            </a:r>
          </a:p>
          <a:p>
            <a:pPr lvl="1">
              <a:lnSpc>
                <a:spcPct val="100000"/>
              </a:lnSpc>
            </a:pPr>
            <a:r>
              <a:rPr lang="en-US" sz="2800" b="1" dirty="0">
                <a:solidFill>
                  <a:schemeClr val="accent4"/>
                </a:solidFill>
              </a:rPr>
              <a:t>Testing scripts </a:t>
            </a:r>
            <a:r>
              <a:rPr lang="en-US" sz="2800" dirty="0"/>
              <a:t>(code) that test the software functionality automatically</a:t>
            </a:r>
          </a:p>
          <a:p>
            <a:pPr lvl="1">
              <a:lnSpc>
                <a:spcPct val="100000"/>
              </a:lnSpc>
            </a:pPr>
            <a:r>
              <a:rPr lang="en-US" sz="2800" b="1" dirty="0">
                <a:solidFill>
                  <a:schemeClr val="accent4"/>
                </a:solidFill>
              </a:rPr>
              <a:t>Repeatable</a:t>
            </a:r>
            <a:r>
              <a:rPr lang="en-US" sz="2800" dirty="0"/>
              <a:t>: catch </a:t>
            </a:r>
            <a:r>
              <a:rPr lang="en-US" sz="2800" b="1" dirty="0">
                <a:solidFill>
                  <a:schemeClr val="accent4"/>
                </a:solidFill>
              </a:rPr>
              <a:t>regressions</a:t>
            </a:r>
            <a:r>
              <a:rPr lang="en-US" sz="2800" dirty="0"/>
              <a:t> early, refactor with confidence</a:t>
            </a:r>
          </a:p>
          <a:p>
            <a:pPr lvl="1">
              <a:lnSpc>
                <a:spcPct val="100000"/>
              </a:lnSpc>
            </a:pPr>
            <a:r>
              <a:rPr lang="en-US" sz="2800" b="1" dirty="0">
                <a:solidFill>
                  <a:schemeClr val="accent4"/>
                </a:solidFill>
              </a:rPr>
              <a:t>Document</a:t>
            </a:r>
            <a:r>
              <a:rPr lang="en-US" sz="2800" dirty="0"/>
              <a:t> the expected behavior</a:t>
            </a:r>
          </a:p>
          <a:p>
            <a:pPr lvl="1">
              <a:lnSpc>
                <a:spcPct val="100000"/>
              </a:lnSpc>
            </a:pPr>
            <a:r>
              <a:rPr lang="en-US" sz="2800" b="1" dirty="0">
                <a:solidFill>
                  <a:schemeClr val="accent4"/>
                </a:solidFill>
              </a:rPr>
              <a:t>Auto-run</a:t>
            </a:r>
            <a:r>
              <a:rPr lang="en-US" sz="2800" dirty="0"/>
              <a:t> on repo push: CI / CD pipeline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465473-3E6F-A71C-8881-15CEDDD5E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4" y="100750"/>
            <a:ext cx="10803414" cy="882654"/>
          </a:xfrm>
        </p:spPr>
        <p:txBody>
          <a:bodyPr>
            <a:normAutofit/>
          </a:bodyPr>
          <a:lstStyle/>
          <a:p>
            <a:r>
              <a:rPr lang="en-US" dirty="0"/>
              <a:t>Automated Testing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2D2C54CB-E0AC-58B7-1CCE-1F30648A8F84}"/>
              </a:ext>
            </a:extLst>
          </p:cNvPr>
          <p:cNvSpPr txBox="1">
            <a:spLocks/>
          </p:cNvSpPr>
          <p:nvPr/>
        </p:nvSpPr>
        <p:spPr>
          <a:xfrm>
            <a:off x="7032104" y="1228120"/>
            <a:ext cx="4947618" cy="5489228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36195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400" b="0" i="0" kern="1200" baseline="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15265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335070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In </a:t>
            </a:r>
            <a:r>
              <a:rPr lang="en-US" sz="3200" b="1" dirty="0">
                <a:solidFill>
                  <a:schemeClr val="accent4"/>
                </a:solidFill>
              </a:rPr>
              <a:t>AI-first development</a:t>
            </a:r>
            <a:r>
              <a:rPr lang="en-US" sz="3200" dirty="0"/>
              <a:t>:</a:t>
            </a:r>
          </a:p>
          <a:p>
            <a:pPr lvl="1"/>
            <a:r>
              <a:rPr lang="en-US" sz="2800" dirty="0"/>
              <a:t>The </a:t>
            </a:r>
            <a:r>
              <a:rPr lang="en-US" sz="2800" b="1" dirty="0">
                <a:solidFill>
                  <a:schemeClr val="accent4"/>
                </a:solidFill>
              </a:rPr>
              <a:t>AI writes tests </a:t>
            </a:r>
            <a:r>
              <a:rPr lang="en-US" sz="2800" dirty="0"/>
              <a:t>alongside the code</a:t>
            </a:r>
          </a:p>
          <a:p>
            <a:pPr lvl="1"/>
            <a:r>
              <a:rPr lang="en-US" sz="2800" dirty="0"/>
              <a:t>Tests become the </a:t>
            </a:r>
            <a:r>
              <a:rPr lang="en-US" sz="2800" b="1" dirty="0">
                <a:solidFill>
                  <a:schemeClr val="accent4"/>
                </a:solidFill>
              </a:rPr>
              <a:t>spec</a:t>
            </a:r>
            <a:r>
              <a:rPr lang="en-US" sz="2800" dirty="0"/>
              <a:t> for the next AI iteration</a:t>
            </a:r>
          </a:p>
          <a:p>
            <a:pPr lvl="1"/>
            <a:r>
              <a:rPr lang="en-US" sz="2800" b="1" dirty="0">
                <a:solidFill>
                  <a:schemeClr val="accent4"/>
                </a:solidFill>
              </a:rPr>
              <a:t>Broken tests </a:t>
            </a:r>
            <a:r>
              <a:rPr lang="en-US" sz="2800" dirty="0"/>
              <a:t>→ the AI self-corrects</a:t>
            </a:r>
          </a:p>
          <a:p>
            <a:pPr lvl="1"/>
            <a:r>
              <a:rPr lang="en-US" sz="2800" dirty="0"/>
              <a:t>Increase software </a:t>
            </a:r>
            <a:r>
              <a:rPr lang="en-US" sz="2800" b="1" dirty="0">
                <a:solidFill>
                  <a:schemeClr val="accent4"/>
                </a:solidFill>
              </a:rPr>
              <a:t>quality</a:t>
            </a:r>
          </a:p>
        </p:txBody>
      </p:sp>
    </p:spTree>
    <p:extLst>
      <p:ext uri="{BB962C8B-B14F-4D97-AF65-F5344CB8AC3E}">
        <p14:creationId xmlns:p14="http://schemas.microsoft.com/office/powerpoint/2010/main" val="2136071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301ED-ABB6-D108-2CDE-6E1FDCE1B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4618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9D73C2-D5BB-D4BC-AAEA-036BBE5A64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2" y="1196125"/>
            <a:ext cx="7272210" cy="5561125"/>
          </a:xfrm>
        </p:spPr>
        <p:txBody>
          <a:bodyPr>
            <a:noAutofit/>
          </a:bodyPr>
          <a:lstStyle/>
          <a:p>
            <a:pPr marL="355600" indent="-35560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900" b="1" dirty="0">
                <a:solidFill>
                  <a:schemeClr val="accent4"/>
                </a:solidFill>
              </a:rPr>
              <a:t>Unit tests</a:t>
            </a:r>
            <a:r>
              <a:rPr lang="en-US" sz="2900" dirty="0"/>
              <a:t> – fast, isolated, </a:t>
            </a:r>
            <a:r>
              <a:rPr lang="en-US" sz="2900" b="1" dirty="0">
                <a:solidFill>
                  <a:schemeClr val="accent4"/>
                </a:solidFill>
              </a:rPr>
              <a:t>lots of them</a:t>
            </a:r>
          </a:p>
          <a:p>
            <a:pPr marL="571500" lvl="1" indent="-342900">
              <a:lnSpc>
                <a:spcPct val="100000"/>
              </a:lnSpc>
              <a:spcBef>
                <a:spcPts val="400"/>
              </a:spcBef>
            </a:pPr>
            <a:r>
              <a:rPr lang="en-US" sz="2800" dirty="0"/>
              <a:t>Test a single function / class, no DB, no network</a:t>
            </a:r>
          </a:p>
          <a:p>
            <a:pPr marL="355600" indent="-35560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900" b="1" dirty="0">
                <a:solidFill>
                  <a:schemeClr val="accent4"/>
                </a:solidFill>
              </a:rPr>
              <a:t>Integration tests</a:t>
            </a:r>
            <a:r>
              <a:rPr lang="en-US" sz="2900" dirty="0"/>
              <a:t> – test how multiple components work together</a:t>
            </a:r>
          </a:p>
          <a:p>
            <a:pPr marL="571500" lvl="1" indent="-342900">
              <a:lnSpc>
                <a:spcPct val="100000"/>
              </a:lnSpc>
              <a:spcBef>
                <a:spcPts val="400"/>
              </a:spcBef>
            </a:pPr>
            <a:r>
              <a:rPr lang="en-US" sz="2800" dirty="0"/>
              <a:t>Test with real DB, real HTTP, but local</a:t>
            </a:r>
          </a:p>
          <a:p>
            <a:pPr marL="355600" indent="-35560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900" b="1" dirty="0">
                <a:solidFill>
                  <a:schemeClr val="accent4"/>
                </a:solidFill>
              </a:rPr>
              <a:t>End-to-end (E2E) tests</a:t>
            </a:r>
            <a:r>
              <a:rPr lang="en-US" sz="2900" dirty="0"/>
              <a:t> – slow, realistic</a:t>
            </a:r>
          </a:p>
          <a:p>
            <a:pPr marL="571500" lvl="1" indent="-342900">
              <a:lnSpc>
                <a:spcPct val="100000"/>
              </a:lnSpc>
              <a:spcBef>
                <a:spcPts val="400"/>
              </a:spcBef>
            </a:pPr>
            <a:r>
              <a:rPr lang="en-US" sz="2800" dirty="0"/>
              <a:t>Full app in a real browser – high value</a:t>
            </a:r>
          </a:p>
          <a:p>
            <a:pPr marL="355600" indent="-35560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900" b="1" dirty="0">
                <a:solidFill>
                  <a:schemeClr val="accent4"/>
                </a:solidFill>
              </a:rPr>
              <a:t>Rule of thumb</a:t>
            </a:r>
            <a:r>
              <a:rPr lang="en-US" sz="2900" dirty="0"/>
              <a:t>: many unit, some integration, few E2E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465473-3E6F-A71C-8881-15CEDDD5E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43" y="100750"/>
            <a:ext cx="10800601" cy="882654"/>
          </a:xfrm>
        </p:spPr>
        <p:txBody>
          <a:bodyPr>
            <a:normAutofit/>
          </a:bodyPr>
          <a:lstStyle/>
          <a:p>
            <a:r>
              <a:rPr lang="en-US" dirty="0"/>
              <a:t>The Test Pyramid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30351D7-329E-6F2D-8BE5-39541D7746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3832" y="1669440"/>
            <a:ext cx="4243993" cy="4607764"/>
          </a:xfrm>
          <a:prstGeom prst="roundRect">
            <a:avLst>
              <a:gd name="adj" fmla="val 2056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9135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C35FF-43B7-6B2E-9FCA-961E1D5CF7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0" y="1196125"/>
            <a:ext cx="7200204" cy="5561125"/>
          </a:xfrm>
        </p:spPr>
        <p:txBody>
          <a:bodyPr>
            <a:normAutofit lnSpcReduction="10000"/>
          </a:bodyPr>
          <a:lstStyle/>
          <a:p>
            <a:pPr marL="355600" indent="-355600">
              <a:lnSpc>
                <a:spcPct val="115000"/>
              </a:lnSpc>
              <a:buFont typeface="Arial"/>
              <a:buChar char="•"/>
            </a:pPr>
            <a:r>
              <a:rPr lang="en-US" b="1" dirty="0">
                <a:solidFill>
                  <a:schemeClr val="accent4"/>
                </a:solidFill>
              </a:rPr>
              <a:t>Jest</a:t>
            </a:r>
            <a:r>
              <a:rPr lang="en-US" dirty="0"/>
              <a:t> == popular, modern</a:t>
            </a:r>
            <a:br>
              <a:rPr lang="en-US" dirty="0"/>
            </a:br>
            <a:r>
              <a:rPr lang="en-US" dirty="0"/>
              <a:t>JS testing framework</a:t>
            </a:r>
          </a:p>
          <a:p>
            <a:pPr marL="803275" lvl="1" indent="-355600">
              <a:lnSpc>
                <a:spcPct val="115000"/>
              </a:lnSpc>
              <a:buFont typeface="Arial"/>
              <a:buChar char="•"/>
            </a:pPr>
            <a:r>
              <a:rPr lang="en-US" dirty="0">
                <a:hlinkClick r:id="rId2"/>
              </a:rPr>
              <a:t>https://jestjs.io</a:t>
            </a:r>
            <a:endParaRPr lang="en-US" dirty="0"/>
          </a:p>
          <a:p>
            <a:pPr marL="447675" lvl="1" indent="0">
              <a:lnSpc>
                <a:spcPct val="115000"/>
              </a:lnSpc>
              <a:buNone/>
            </a:pPr>
            <a:r>
              <a:rPr lang="en-US" sz="3000" dirty="0"/>
              <a:t>🚀 Fast </a:t>
            </a:r>
            <a:r>
              <a:rPr lang="en-US" sz="3000" b="1" dirty="0">
                <a:solidFill>
                  <a:schemeClr val="accent4"/>
                </a:solidFill>
              </a:rPr>
              <a:t>test runner </a:t>
            </a:r>
            <a:r>
              <a:rPr lang="en-US" sz="3000" dirty="0"/>
              <a:t>with parallel execution</a:t>
            </a:r>
          </a:p>
          <a:p>
            <a:pPr marL="447675" lvl="1" indent="0">
              <a:lnSpc>
                <a:spcPct val="115000"/>
              </a:lnSpc>
              <a:buNone/>
            </a:pPr>
            <a:r>
              <a:rPr lang="bg-BG" sz="3000" dirty="0"/>
              <a:t>📦 </a:t>
            </a:r>
            <a:r>
              <a:rPr lang="en-US" sz="3000" dirty="0"/>
              <a:t>Built-in </a:t>
            </a:r>
            <a:r>
              <a:rPr lang="en-US" sz="3000" b="1" dirty="0">
                <a:solidFill>
                  <a:schemeClr val="accent4"/>
                </a:solidFill>
              </a:rPr>
              <a:t>assertions</a:t>
            </a:r>
            <a:r>
              <a:rPr lang="en-US" sz="3000" dirty="0"/>
              <a:t> and </a:t>
            </a:r>
            <a:r>
              <a:rPr lang="en-US" sz="3000" b="1" dirty="0">
                <a:solidFill>
                  <a:schemeClr val="accent4"/>
                </a:solidFill>
              </a:rPr>
              <a:t>mocking</a:t>
            </a:r>
          </a:p>
          <a:p>
            <a:pPr marL="447675" lvl="1" indent="0">
              <a:lnSpc>
                <a:spcPct val="115000"/>
              </a:lnSpc>
              <a:buNone/>
            </a:pPr>
            <a:r>
              <a:rPr lang="bg-BG" sz="3000" dirty="0"/>
              <a:t>🔷 </a:t>
            </a:r>
            <a:r>
              <a:rPr lang="en-US" sz="3000" dirty="0"/>
              <a:t>Works with </a:t>
            </a:r>
            <a:r>
              <a:rPr lang="en-US" sz="3000" b="1" dirty="0">
                <a:solidFill>
                  <a:schemeClr val="accent4"/>
                </a:solidFill>
              </a:rPr>
              <a:t>TypeScript</a:t>
            </a:r>
            <a:r>
              <a:rPr lang="en-US" sz="3000" dirty="0"/>
              <a:t> (via </a:t>
            </a:r>
            <a:r>
              <a:rPr lang="en-US" sz="3000" b="1" noProof="1">
                <a:solidFill>
                  <a:schemeClr val="accent4"/>
                </a:solidFill>
              </a:rPr>
              <a:t>ts-jest</a:t>
            </a:r>
            <a:r>
              <a:rPr lang="en-US" sz="3000" dirty="0"/>
              <a:t>)</a:t>
            </a:r>
          </a:p>
          <a:p>
            <a:pPr marL="447675" lvl="1" indent="0">
              <a:lnSpc>
                <a:spcPct val="115000"/>
              </a:lnSpc>
              <a:buNone/>
            </a:pPr>
            <a:r>
              <a:rPr lang="en-US" sz="3000" dirty="0"/>
              <a:t>📊 Code </a:t>
            </a:r>
            <a:r>
              <a:rPr lang="en-US" sz="3000" b="1" dirty="0">
                <a:solidFill>
                  <a:schemeClr val="accent4"/>
                </a:solidFill>
              </a:rPr>
              <a:t>coverage</a:t>
            </a:r>
            <a:r>
              <a:rPr lang="en-US" sz="3000" dirty="0"/>
              <a:t> reports</a:t>
            </a:r>
          </a:p>
          <a:p>
            <a:pPr marL="447675" lvl="1" indent="0">
              <a:lnSpc>
                <a:spcPct val="115000"/>
              </a:lnSpc>
              <a:buNone/>
            </a:pPr>
            <a:r>
              <a:rPr lang="en-US" sz="3000" dirty="0"/>
              <a:t>⚛️ Integrates well with </a:t>
            </a:r>
            <a:r>
              <a:rPr lang="en-US" sz="3000" b="1" dirty="0">
                <a:solidFill>
                  <a:schemeClr val="accent4"/>
                </a:solidFill>
              </a:rPr>
              <a:t>Next.js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Jest: Intro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299461E-3473-216D-EB53-F97AAEF6763A}"/>
              </a:ext>
            </a:extLst>
          </p:cNvPr>
          <p:cNvSpPr txBox="1">
            <a:spLocks/>
          </p:cNvSpPr>
          <p:nvPr/>
        </p:nvSpPr>
        <p:spPr>
          <a:xfrm>
            <a:off x="7711545" y="1340768"/>
            <a:ext cx="3941869" cy="94049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  <a:buNone/>
            </a:pPr>
            <a:r>
              <a:rPr lang="en-US" sz="2500" i="1" noProof="1">
                <a:solidFill>
                  <a:srgbClr val="98D8CB"/>
                </a:solidFill>
                <a:latin typeface="Consolas"/>
              </a:rPr>
              <a:t># Install Jest</a:t>
            </a:r>
          </a:p>
          <a:p>
            <a:pPr>
              <a:spcBef>
                <a:spcPts val="0"/>
              </a:spcBef>
            </a:pPr>
            <a:r>
              <a:rPr lang="en-US" sz="2500" dirty="0"/>
              <a:t>npm install -D jest</a:t>
            </a:r>
            <a:endParaRPr lang="en-US" sz="2500" noProof="1">
              <a:latin typeface="Consola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0C76B56-B395-FB30-C315-A35B24EE96F9}"/>
              </a:ext>
            </a:extLst>
          </p:cNvPr>
          <p:cNvSpPr txBox="1">
            <a:spLocks/>
          </p:cNvSpPr>
          <p:nvPr/>
        </p:nvSpPr>
        <p:spPr>
          <a:xfrm>
            <a:off x="7711544" y="4426635"/>
            <a:ext cx="3941869" cy="94049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  <a:buNone/>
            </a:pPr>
            <a:r>
              <a:rPr lang="en-US" sz="2500" i="1" noProof="1">
                <a:solidFill>
                  <a:srgbClr val="98D8CB"/>
                </a:solidFill>
                <a:latin typeface="Consolas"/>
              </a:rPr>
              <a:t># Run tests</a:t>
            </a:r>
          </a:p>
          <a:p>
            <a:pPr>
              <a:spcBef>
                <a:spcPts val="0"/>
              </a:spcBef>
              <a:buNone/>
            </a:pPr>
            <a:r>
              <a:rPr lang="en-US" sz="2500" noProof="1">
                <a:latin typeface="Consolas"/>
              </a:rPr>
              <a:t>npx jest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539FDD4-024B-C087-CB5B-EE65CC7EC1FD}"/>
              </a:ext>
            </a:extLst>
          </p:cNvPr>
          <p:cNvSpPr txBox="1">
            <a:spLocks/>
          </p:cNvSpPr>
          <p:nvPr/>
        </p:nvSpPr>
        <p:spPr>
          <a:xfrm>
            <a:off x="7711545" y="2498981"/>
            <a:ext cx="3941869" cy="1709937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</a:pPr>
            <a:r>
              <a:rPr lang="en-US" sz="2500" i="1" noProof="1">
                <a:solidFill>
                  <a:srgbClr val="98D8CB"/>
                </a:solidFill>
                <a:latin typeface="Consolas"/>
              </a:rPr>
              <a:t># Install Jest with TypeScript support</a:t>
            </a:r>
          </a:p>
          <a:p>
            <a:pPr>
              <a:spcBef>
                <a:spcPts val="0"/>
              </a:spcBef>
            </a:pPr>
            <a:r>
              <a:rPr lang="en-US" sz="2500" noProof="1"/>
              <a:t>npm install -D jest ts-jest @types/jest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35CF71BB-116B-D894-1377-77D29F6EAF21}"/>
              </a:ext>
            </a:extLst>
          </p:cNvPr>
          <p:cNvSpPr txBox="1">
            <a:spLocks/>
          </p:cNvSpPr>
          <p:nvPr/>
        </p:nvSpPr>
        <p:spPr>
          <a:xfrm>
            <a:off x="7711544" y="5584848"/>
            <a:ext cx="3941869" cy="94049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  <a:buNone/>
            </a:pPr>
            <a:r>
              <a:rPr lang="en-US" sz="2500" i="1" noProof="1">
                <a:solidFill>
                  <a:srgbClr val="98D8CB"/>
                </a:solidFill>
                <a:latin typeface="Consolas"/>
              </a:rPr>
              <a:t># Code coverage</a:t>
            </a:r>
          </a:p>
          <a:p>
            <a:pPr>
              <a:spcBef>
                <a:spcPts val="0"/>
              </a:spcBef>
            </a:pPr>
            <a:r>
              <a:rPr lang="en-US" sz="2500" noProof="1">
                <a:latin typeface="Consolas"/>
              </a:rPr>
              <a:t>npx jest --coverage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15F528-B080-423D-ED23-0E9D57CBF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309" y="1340768"/>
            <a:ext cx="1812843" cy="940497"/>
          </a:xfrm>
          <a:prstGeom prst="roundRect">
            <a:avLst>
              <a:gd name="adj" fmla="val 2056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6376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  <p:bldP spid="7" grpId="0" build="allAtOnce" animBg="1"/>
      <p:bldP spid="8" grpId="0" build="allAtOnce" animBg="1"/>
      <p:bldP spid="10" grpId="0" build="allAtOnce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Jest: First Unit Test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299461E-3473-216D-EB53-F97AAEF6763A}"/>
              </a:ext>
            </a:extLst>
          </p:cNvPr>
          <p:cNvSpPr txBox="1">
            <a:spLocks/>
          </p:cNvSpPr>
          <p:nvPr/>
        </p:nvSpPr>
        <p:spPr>
          <a:xfrm>
            <a:off x="566055" y="1423520"/>
            <a:ext cx="10871201" cy="1699678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 algn="l">
              <a:spcBef>
                <a:spcPts val="0"/>
              </a:spcBef>
              <a:buNone/>
            </a:pPr>
            <a:r>
              <a:rPr lang="en-US" sz="2400" i="1" noProof="1">
                <a:solidFill>
                  <a:srgbClr val="98D8CB"/>
                </a:solidFill>
                <a:latin typeface="Consolas"/>
              </a:rPr>
              <a:t>// lib/slug.ts</a:t>
            </a:r>
          </a:p>
          <a:p>
            <a:pPr algn="l">
              <a:spcBef>
                <a:spcPts val="0"/>
              </a:spcBef>
              <a:buNone/>
            </a:pPr>
            <a:r>
              <a:rPr lang="en-US" sz="2400" b="1" noProof="1">
                <a:solidFill>
                  <a:schemeClr val="accent4"/>
                </a:solidFill>
                <a:latin typeface="Consolas"/>
              </a:rPr>
              <a:t>export function</a:t>
            </a:r>
            <a:r>
              <a:rPr lang="en-US" sz="2400" noProof="1">
                <a:latin typeface="Consolas"/>
              </a:rPr>
              <a:t> slugify(s: </a:t>
            </a:r>
            <a:r>
              <a:rPr lang="en-US" sz="2400" b="1" noProof="1">
                <a:solidFill>
                  <a:schemeClr val="accent4"/>
                </a:solidFill>
                <a:latin typeface="Consolas"/>
              </a:rPr>
              <a:t>string</a:t>
            </a:r>
            <a:r>
              <a:rPr lang="en-US" sz="2400" noProof="1">
                <a:latin typeface="Consolas"/>
              </a:rPr>
              <a:t>) {</a:t>
            </a:r>
          </a:p>
          <a:p>
            <a:pPr algn="l">
              <a:spcBef>
                <a:spcPts val="0"/>
              </a:spcBef>
              <a:buNone/>
            </a:pPr>
            <a:r>
              <a:rPr lang="en-US" sz="2400" noProof="1">
                <a:latin typeface="Consolas"/>
              </a:rPr>
              <a:t>  </a:t>
            </a:r>
            <a:r>
              <a:rPr lang="en-US" sz="2400" b="1" noProof="1">
                <a:solidFill>
                  <a:schemeClr val="accent4"/>
                </a:solidFill>
                <a:latin typeface="Consolas"/>
              </a:rPr>
              <a:t>return</a:t>
            </a:r>
            <a:r>
              <a:rPr lang="en-US" sz="2400" noProof="1">
                <a:latin typeface="Consolas"/>
              </a:rPr>
              <a:t> s.toLowerCase().replace(/\s+/g, </a:t>
            </a:r>
            <a:r>
              <a:rPr lang="en-US" sz="2400" noProof="1">
                <a:solidFill>
                  <a:srgbClr val="98D8CB"/>
                </a:solidFill>
                <a:latin typeface="Consolas"/>
              </a:rPr>
              <a:t>"-"</a:t>
            </a:r>
            <a:r>
              <a:rPr lang="en-US" sz="2400" noProof="1">
                <a:latin typeface="Consolas"/>
              </a:rPr>
              <a:t>);</a:t>
            </a:r>
          </a:p>
          <a:p>
            <a:pPr algn="l">
              <a:spcBef>
                <a:spcPts val="0"/>
              </a:spcBef>
              <a:buNone/>
            </a:pPr>
            <a:r>
              <a:rPr lang="en-US" sz="2400" noProof="1">
                <a:latin typeface="Consolas"/>
              </a:rPr>
              <a:t>}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7D0D57EB-2FB7-66C3-6C04-F02F5E8D99D2}"/>
              </a:ext>
            </a:extLst>
          </p:cNvPr>
          <p:cNvSpPr txBox="1">
            <a:spLocks/>
          </p:cNvSpPr>
          <p:nvPr/>
        </p:nvSpPr>
        <p:spPr>
          <a:xfrm>
            <a:off x="566055" y="3460600"/>
            <a:ext cx="10871201" cy="303337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 algn="l">
              <a:spcBef>
                <a:spcPts val="0"/>
              </a:spcBef>
              <a:buNone/>
            </a:pPr>
            <a:r>
              <a:rPr lang="en-US" sz="2400" i="1" noProof="1">
                <a:solidFill>
                  <a:srgbClr val="98D8CB"/>
                </a:solidFill>
                <a:latin typeface="Consolas"/>
              </a:rPr>
              <a:t>// lib/slug.test.ts</a:t>
            </a:r>
          </a:p>
          <a:p>
            <a:pPr algn="l">
              <a:spcBef>
                <a:spcPts val="0"/>
              </a:spcBef>
              <a:buNone/>
            </a:pPr>
            <a:r>
              <a:rPr lang="en-US" sz="2400" b="1" noProof="1">
                <a:solidFill>
                  <a:schemeClr val="accent4"/>
                </a:solidFill>
                <a:latin typeface="Consolas"/>
              </a:rPr>
              <a:t>import</a:t>
            </a:r>
            <a:r>
              <a:rPr lang="en-US" sz="2400" noProof="1">
                <a:latin typeface="Consolas"/>
              </a:rPr>
              <a:t> { slugify } </a:t>
            </a:r>
            <a:r>
              <a:rPr lang="en-US" sz="2400" b="1" noProof="1">
                <a:solidFill>
                  <a:schemeClr val="accent4"/>
                </a:solidFill>
                <a:latin typeface="Consolas"/>
              </a:rPr>
              <a:t>from</a:t>
            </a:r>
            <a:r>
              <a:rPr lang="en-US" sz="2400" noProof="1">
                <a:latin typeface="Consolas"/>
              </a:rPr>
              <a:t> </a:t>
            </a:r>
            <a:r>
              <a:rPr lang="en-US" sz="2400" noProof="1">
                <a:solidFill>
                  <a:srgbClr val="98D8CB"/>
                </a:solidFill>
                <a:latin typeface="Consolas"/>
              </a:rPr>
              <a:t>"./slug"</a:t>
            </a:r>
            <a:r>
              <a:rPr lang="en-US" sz="2400" noProof="1">
                <a:latin typeface="Consolas"/>
              </a:rPr>
              <a:t>;</a:t>
            </a:r>
          </a:p>
          <a:p>
            <a:pPr>
              <a:spcBef>
                <a:spcPts val="0"/>
              </a:spcBef>
              <a:buNone/>
            </a:pPr>
            <a:endParaRPr lang="en-US" sz="800" dirty="0"/>
          </a:p>
          <a:p>
            <a:pPr algn="l">
              <a:spcBef>
                <a:spcPts val="0"/>
              </a:spcBef>
              <a:buNone/>
            </a:pPr>
            <a:r>
              <a:rPr lang="en-US" sz="2400" noProof="1">
                <a:latin typeface="Consolas"/>
              </a:rPr>
              <a:t>describe(</a:t>
            </a:r>
            <a:r>
              <a:rPr lang="en-US" sz="2400" noProof="1">
                <a:solidFill>
                  <a:srgbClr val="98D8CB"/>
                </a:solidFill>
                <a:latin typeface="Consolas"/>
              </a:rPr>
              <a:t>"slugify"</a:t>
            </a:r>
            <a:r>
              <a:rPr lang="en-US" sz="2400" noProof="1">
                <a:latin typeface="Consolas"/>
              </a:rPr>
              <a:t>, () =&gt; {</a:t>
            </a:r>
          </a:p>
          <a:p>
            <a:pPr algn="l">
              <a:spcBef>
                <a:spcPts val="0"/>
              </a:spcBef>
              <a:buNone/>
            </a:pPr>
            <a:r>
              <a:rPr lang="en-US" sz="2400" noProof="1">
                <a:latin typeface="Consolas"/>
              </a:rPr>
              <a:t>  it(</a:t>
            </a:r>
            <a:r>
              <a:rPr lang="en-US" sz="2400" noProof="1">
                <a:solidFill>
                  <a:srgbClr val="98D8CB"/>
                </a:solidFill>
                <a:latin typeface="Consolas"/>
              </a:rPr>
              <a:t>"lowercases and hyphenates"</a:t>
            </a:r>
            <a:r>
              <a:rPr lang="en-US" sz="2400" noProof="1">
                <a:latin typeface="Consolas"/>
              </a:rPr>
              <a:t>, () =&gt; {</a:t>
            </a:r>
          </a:p>
          <a:p>
            <a:pPr algn="l">
              <a:spcBef>
                <a:spcPts val="0"/>
              </a:spcBef>
              <a:buNone/>
            </a:pPr>
            <a:r>
              <a:rPr lang="en-US" sz="2400" noProof="1">
                <a:latin typeface="Consolas"/>
              </a:rPr>
              <a:t>    expect(slugify(</a:t>
            </a:r>
            <a:r>
              <a:rPr lang="en-US" sz="2400" noProof="1">
                <a:solidFill>
                  <a:srgbClr val="98D8CB"/>
                </a:solidFill>
                <a:latin typeface="Consolas"/>
              </a:rPr>
              <a:t>"Hello World"</a:t>
            </a:r>
            <a:r>
              <a:rPr lang="en-US" sz="2400" noProof="1">
                <a:latin typeface="Consolas"/>
              </a:rPr>
              <a:t>)).toBe(</a:t>
            </a:r>
            <a:r>
              <a:rPr lang="en-US" sz="2400" noProof="1">
                <a:solidFill>
                  <a:srgbClr val="98D8CB"/>
                </a:solidFill>
                <a:latin typeface="Consolas"/>
              </a:rPr>
              <a:t>"hello-world"</a:t>
            </a:r>
            <a:r>
              <a:rPr lang="en-US" sz="2400" noProof="1">
                <a:latin typeface="Consolas"/>
              </a:rPr>
              <a:t>);</a:t>
            </a:r>
          </a:p>
          <a:p>
            <a:pPr algn="l">
              <a:spcBef>
                <a:spcPts val="0"/>
              </a:spcBef>
              <a:buNone/>
            </a:pPr>
            <a:r>
              <a:rPr lang="en-US" sz="2400" noProof="1">
                <a:latin typeface="Consolas"/>
              </a:rPr>
              <a:t>  });</a:t>
            </a:r>
          </a:p>
          <a:p>
            <a:pPr algn="l">
              <a:spcBef>
                <a:spcPts val="0"/>
              </a:spcBef>
              <a:buNone/>
            </a:pPr>
            <a:r>
              <a:rPr lang="en-US" sz="2400" noProof="1">
                <a:latin typeface="Consolas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249419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815DA-7318-28EB-8CEC-C59BB1A19D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🤖 </a:t>
            </a:r>
            <a:r>
              <a:rPr lang="en-US" sz="3600" b="1" dirty="0">
                <a:solidFill>
                  <a:srgbClr val="FFD999"/>
                </a:solidFill>
              </a:rPr>
              <a:t>AI prompt</a:t>
            </a:r>
            <a:r>
              <a:rPr lang="en-US" sz="3600" dirty="0"/>
              <a:t> to implement </a:t>
            </a:r>
            <a:r>
              <a:rPr lang="en-US" sz="3600" b="1" dirty="0">
                <a:solidFill>
                  <a:schemeClr val="accent4"/>
                </a:solidFill>
              </a:rPr>
              <a:t>unit tests</a:t>
            </a:r>
            <a:r>
              <a:rPr lang="en-US" sz="3600" dirty="0"/>
              <a:t> with </a:t>
            </a:r>
            <a:r>
              <a:rPr lang="en-US" sz="3600" b="1" dirty="0">
                <a:solidFill>
                  <a:schemeClr val="accent4"/>
                </a:solidFill>
              </a:rPr>
              <a:t>Jest</a:t>
            </a:r>
            <a:r>
              <a:rPr lang="en-US" sz="3600" dirty="0"/>
              <a:t>:</a:t>
            </a:r>
            <a:endParaRPr lang="bg-BG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Blog API: Implement Unit Tests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299461E-3473-216D-EB53-F97AAEF6763A}"/>
              </a:ext>
            </a:extLst>
          </p:cNvPr>
          <p:cNvSpPr txBox="1">
            <a:spLocks/>
          </p:cNvSpPr>
          <p:nvPr/>
        </p:nvSpPr>
        <p:spPr>
          <a:xfrm>
            <a:off x="551384" y="2111914"/>
            <a:ext cx="5593639" cy="424909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600"/>
              </a:spcBef>
            </a:pPr>
            <a:r>
              <a:rPr lang="en-US" sz="3200" b="0" noProof="1">
                <a:latin typeface="+mn-lt"/>
              </a:rPr>
              <a:t>Implement automated </a:t>
            </a:r>
            <a:r>
              <a:rPr lang="en-US" sz="3200" noProof="1">
                <a:solidFill>
                  <a:schemeClr val="accent4"/>
                </a:solidFill>
                <a:latin typeface="+mn-lt"/>
              </a:rPr>
              <a:t>Jest unit tests </a:t>
            </a:r>
            <a:r>
              <a:rPr lang="en-US" sz="3200" b="0" noProof="1">
                <a:latin typeface="+mn-lt"/>
              </a:rPr>
              <a:t>for the Blog System API.</a:t>
            </a:r>
          </a:p>
          <a:p>
            <a:pPr>
              <a:spcBef>
                <a:spcPts val="600"/>
              </a:spcBef>
            </a:pPr>
            <a:endParaRPr lang="en-US" sz="800" b="0" noProof="1">
              <a:latin typeface="+mn-lt"/>
            </a:endParaRPr>
          </a:p>
          <a:p>
            <a:pPr>
              <a:spcBef>
                <a:spcPts val="600"/>
              </a:spcBef>
            </a:pPr>
            <a:r>
              <a:rPr lang="en-US" sz="3200" b="0" noProof="1">
                <a:latin typeface="+mn-lt"/>
              </a:rPr>
              <a:t>Mock </a:t>
            </a:r>
            <a:r>
              <a:rPr lang="en-US" sz="3200" noProof="1">
                <a:solidFill>
                  <a:srgbClr val="FFD999"/>
                </a:solidFill>
                <a:latin typeface="+mn-lt"/>
              </a:rPr>
              <a:t>external dependencies </a:t>
            </a:r>
            <a:r>
              <a:rPr lang="en-US" sz="3200" b="0" noProof="1">
                <a:latin typeface="+mn-lt"/>
              </a:rPr>
              <a:t>(DB, network).</a:t>
            </a:r>
          </a:p>
          <a:p>
            <a:pPr>
              <a:spcBef>
                <a:spcPts val="600"/>
              </a:spcBef>
            </a:pPr>
            <a:endParaRPr lang="en-US" sz="800" b="0" noProof="1">
              <a:latin typeface="+mn-lt"/>
            </a:endParaRPr>
          </a:p>
          <a:p>
            <a:pPr algn="l">
              <a:spcBef>
                <a:spcPts val="600"/>
              </a:spcBef>
              <a:buNone/>
            </a:pPr>
            <a:r>
              <a:rPr lang="en-US" sz="3200" b="0" noProof="1">
                <a:latin typeface="+mn-lt"/>
              </a:rPr>
              <a:t>Run the tests and measure </a:t>
            </a:r>
            <a:r>
              <a:rPr lang="en-US" sz="3200" noProof="1">
                <a:solidFill>
                  <a:schemeClr val="accent4"/>
                </a:solidFill>
                <a:latin typeface="+mn-lt"/>
              </a:rPr>
              <a:t>code coverage</a:t>
            </a:r>
            <a:r>
              <a:rPr lang="en-US" sz="3200" b="0" noProof="1">
                <a:latin typeface="+mn-lt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E9DE8D-C20F-F747-8D3A-9635B87AC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368" y="2111914"/>
            <a:ext cx="5052706" cy="4249094"/>
          </a:xfrm>
          <a:prstGeom prst="roundRect">
            <a:avLst>
              <a:gd name="adj" fmla="val 1120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3826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BA618B-707F-3C42-F88F-1A36FE734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72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99797FB-58EA-79EA-DD29-9DE365A34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 Code Coverage</a:t>
            </a:r>
            <a:endParaRPr lang="bg-B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55190B-C90E-FFCD-C82D-9549F017E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091" y="1321696"/>
            <a:ext cx="8358358" cy="5308780"/>
          </a:xfrm>
          <a:prstGeom prst="roundRect">
            <a:avLst>
              <a:gd name="adj" fmla="val 1120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656005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73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F5EB9-9649-AC5B-B201-8801FDA2CD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/>
              <a:t>🤖 </a:t>
            </a:r>
            <a:r>
              <a:rPr lang="en-US" sz="3600" b="1" dirty="0">
                <a:solidFill>
                  <a:srgbClr val="FFD999"/>
                </a:solidFill>
              </a:rPr>
              <a:t>AI prompt</a:t>
            </a:r>
            <a:r>
              <a:rPr lang="en-US" sz="3600" dirty="0"/>
              <a:t> to implement </a:t>
            </a:r>
            <a:r>
              <a:rPr lang="en-US" sz="3600" b="1" dirty="0">
                <a:solidFill>
                  <a:schemeClr val="accent4"/>
                </a:solidFill>
              </a:rPr>
              <a:t>integration tests</a:t>
            </a:r>
            <a:r>
              <a:rPr lang="en-US" sz="3600" dirty="0"/>
              <a:t> with </a:t>
            </a:r>
            <a:r>
              <a:rPr lang="en-US" sz="3600" b="1" dirty="0">
                <a:solidFill>
                  <a:schemeClr val="accent4"/>
                </a:solidFill>
              </a:rPr>
              <a:t>Jest</a:t>
            </a:r>
            <a:r>
              <a:rPr lang="en-US" sz="3600" dirty="0"/>
              <a:t>:</a:t>
            </a:r>
            <a:endParaRPr lang="bg-BG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Blog API: Integration Tests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299461E-3473-216D-EB53-F97AAEF6763A}"/>
              </a:ext>
            </a:extLst>
          </p:cNvPr>
          <p:cNvSpPr txBox="1">
            <a:spLocks/>
          </p:cNvSpPr>
          <p:nvPr/>
        </p:nvSpPr>
        <p:spPr>
          <a:xfrm>
            <a:off x="683954" y="2132856"/>
            <a:ext cx="10824092" cy="4002873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600"/>
              </a:spcBef>
            </a:pPr>
            <a:r>
              <a:rPr lang="en-US" b="0" noProof="1">
                <a:latin typeface="+mn-lt"/>
              </a:rPr>
              <a:t>Implement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integration tests with Jest </a:t>
            </a:r>
            <a:r>
              <a:rPr lang="en-US" b="0" noProof="1">
                <a:latin typeface="+mn-lt"/>
              </a:rPr>
              <a:t>for the Blog System API</a:t>
            </a:r>
          </a:p>
          <a:p>
            <a:pPr>
              <a:spcBef>
                <a:spcPts val="600"/>
              </a:spcBef>
            </a:pPr>
            <a:r>
              <a:rPr lang="en-US" b="0" noProof="1">
                <a:latin typeface="+mn-lt"/>
              </a:rPr>
              <a:t>  - Work in a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testing Neon database</a:t>
            </a:r>
            <a:r>
              <a:rPr lang="en-US" b="0" noProof="1">
                <a:latin typeface="+mn-lt"/>
              </a:rPr>
              <a:t> (connect by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TEST_DATABASE_URL</a:t>
            </a:r>
            <a:r>
              <a:rPr lang="en-US" b="0" noProof="1">
                <a:latin typeface="+mn-lt"/>
              </a:rPr>
              <a:t>), not a mocked database</a:t>
            </a:r>
          </a:p>
          <a:p>
            <a:pPr>
              <a:spcBef>
                <a:spcPts val="600"/>
              </a:spcBef>
            </a:pPr>
            <a:r>
              <a:rPr lang="en-US" b="0" noProof="1">
                <a:latin typeface="+mn-lt"/>
              </a:rPr>
              <a:t>  - Test with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real HTTP requests </a:t>
            </a:r>
            <a:r>
              <a:rPr lang="en-US" b="0" noProof="1">
                <a:latin typeface="+mn-lt"/>
              </a:rPr>
              <a:t>(not mocked)</a:t>
            </a:r>
          </a:p>
          <a:p>
            <a:pPr>
              <a:spcBef>
                <a:spcPts val="600"/>
              </a:spcBef>
            </a:pPr>
            <a:r>
              <a:rPr lang="en-US" b="0" noProof="1">
                <a:latin typeface="+mn-lt"/>
              </a:rPr>
              <a:t>  - Testing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workflow</a:t>
            </a:r>
            <a:r>
              <a:rPr lang="en-US" b="0" noProof="1">
                <a:latin typeface="+mn-lt"/>
              </a:rPr>
              <a:t>: connect to test DB, run Drizzle migrate, empty all DB tables, seed testing data, run the integration tests</a:t>
            </a:r>
          </a:p>
          <a:p>
            <a:pPr>
              <a:spcBef>
                <a:spcPts val="600"/>
              </a:spcBef>
            </a:pPr>
            <a:r>
              <a:rPr lang="en-US" b="0" noProof="1">
                <a:latin typeface="+mn-lt"/>
              </a:rPr>
              <a:t>- Test all major endpoints: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register</a:t>
            </a:r>
            <a:r>
              <a:rPr lang="en-US" b="0" noProof="1">
                <a:latin typeface="+mn-lt"/>
              </a:rPr>
              <a:t>,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 login</a:t>
            </a:r>
            <a:r>
              <a:rPr lang="en-US" b="0" noProof="1">
                <a:latin typeface="+mn-lt"/>
              </a:rPr>
              <a:t>,</a:t>
            </a:r>
            <a:r>
              <a:rPr lang="en-US" noProof="1">
                <a:latin typeface="+mn-lt"/>
              </a:rPr>
              <a:t>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me</a:t>
            </a:r>
            <a:r>
              <a:rPr lang="en-US" b="0" noProof="1">
                <a:latin typeface="+mn-lt"/>
              </a:rPr>
              <a:t>,</a:t>
            </a:r>
            <a:r>
              <a:rPr lang="en-US" noProof="1">
                <a:latin typeface="+mn-lt"/>
              </a:rPr>
              <a:t> 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list</a:t>
            </a:r>
            <a:r>
              <a:rPr lang="en-US" b="0" noProof="1">
                <a:latin typeface="+mn-lt"/>
              </a:rPr>
              <a:t>,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 view</a:t>
            </a:r>
            <a:r>
              <a:rPr lang="en-US" b="0" noProof="1">
                <a:latin typeface="+mn-lt"/>
              </a:rPr>
              <a:t>,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 create</a:t>
            </a:r>
            <a:r>
              <a:rPr lang="en-US" b="0" noProof="1">
                <a:latin typeface="+mn-lt"/>
              </a:rPr>
              <a:t>,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 edit</a:t>
            </a:r>
            <a:r>
              <a:rPr lang="en-US" noProof="1">
                <a:latin typeface="+mn-lt"/>
              </a:rPr>
              <a:t>,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 delete</a:t>
            </a:r>
            <a:r>
              <a:rPr lang="en-US" b="0" noProof="1">
                <a:latin typeface="+mn-lt"/>
              </a:rPr>
              <a:t> posts,</a:t>
            </a:r>
            <a:r>
              <a:rPr lang="en-US" noProof="1">
                <a:solidFill>
                  <a:schemeClr val="accent4"/>
                </a:solidFill>
                <a:latin typeface="+mn-lt"/>
              </a:rPr>
              <a:t> non-owner forbidden</a:t>
            </a:r>
            <a:r>
              <a:rPr lang="en-US" b="0" noProof="1">
                <a:latin typeface="+mn-lt"/>
              </a:rPr>
              <a:t> , …</a:t>
            </a:r>
            <a:endParaRPr lang="en-US" noProof="1">
              <a:solidFill>
                <a:schemeClr val="accent4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57512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74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C35FF-43B7-6B2E-9FCA-961E1D5CF7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1" y="1196125"/>
            <a:ext cx="5760044" cy="5561125"/>
          </a:xfrm>
        </p:spPr>
        <p:txBody>
          <a:bodyPr>
            <a:noAutofit/>
          </a:bodyPr>
          <a:lstStyle/>
          <a:p>
            <a:pPr marL="355600" indent="-35560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3200" b="1" dirty="0">
                <a:solidFill>
                  <a:schemeClr val="accent4"/>
                </a:solidFill>
              </a:rPr>
              <a:t>Playwright</a:t>
            </a:r>
            <a:r>
              <a:rPr lang="en-US" sz="3200" dirty="0"/>
              <a:t> == browser automation framework</a:t>
            </a:r>
          </a:p>
          <a:p>
            <a:pPr marL="355600" indent="-35560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3200" b="1" dirty="0">
                <a:solidFill>
                  <a:schemeClr val="accent4"/>
                </a:solidFill>
              </a:rPr>
              <a:t>Headless</a:t>
            </a:r>
            <a:r>
              <a:rPr lang="en-US" sz="3200" dirty="0"/>
              <a:t> browser: Chromium, Firefox, WebKit</a:t>
            </a:r>
          </a:p>
          <a:p>
            <a:pPr marL="355600" indent="-35560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3200" b="1" dirty="0">
                <a:solidFill>
                  <a:schemeClr val="accent4"/>
                </a:solidFill>
              </a:rPr>
              <a:t>Auto-waits</a:t>
            </a:r>
            <a:r>
              <a:rPr lang="en-US" sz="3200" dirty="0"/>
              <a:t> for elements to load before interaction</a:t>
            </a:r>
          </a:p>
          <a:p>
            <a:pPr marL="355600" indent="-35560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3200" dirty="0"/>
              <a:t>Record </a:t>
            </a:r>
            <a:r>
              <a:rPr lang="en-US" sz="3200" b="1" dirty="0">
                <a:solidFill>
                  <a:schemeClr val="accent4"/>
                </a:solidFill>
              </a:rPr>
              <a:t>screenshots + videos</a:t>
            </a:r>
            <a:r>
              <a:rPr lang="en-US" sz="3200" dirty="0"/>
              <a:t> on failure</a:t>
            </a:r>
          </a:p>
          <a:p>
            <a:pPr marL="355600" indent="-35560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3200" b="1" dirty="0">
                <a:solidFill>
                  <a:schemeClr val="accent4"/>
                </a:solidFill>
              </a:rPr>
              <a:t>Parallel</a:t>
            </a:r>
            <a:r>
              <a:rPr lang="en-US" sz="3200" dirty="0"/>
              <a:t> test execution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Playwright: E2E Testing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299461E-3473-216D-EB53-F97AAEF6763A}"/>
              </a:ext>
            </a:extLst>
          </p:cNvPr>
          <p:cNvSpPr txBox="1">
            <a:spLocks/>
          </p:cNvSpPr>
          <p:nvPr/>
        </p:nvSpPr>
        <p:spPr>
          <a:xfrm>
            <a:off x="5519936" y="5301208"/>
            <a:ext cx="6008466" cy="1032829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  <a:buNone/>
            </a:pPr>
            <a:r>
              <a:rPr lang="en-US" i="1" noProof="1">
                <a:solidFill>
                  <a:srgbClr val="98D8CB"/>
                </a:solidFill>
                <a:latin typeface="Consolas"/>
              </a:rPr>
              <a:t># Install Playwright</a:t>
            </a:r>
          </a:p>
          <a:p>
            <a:pPr>
              <a:spcBef>
                <a:spcPts val="0"/>
              </a:spcBef>
              <a:buNone/>
            </a:pPr>
            <a:r>
              <a:rPr lang="en-US" noProof="1">
                <a:latin typeface="Consolas"/>
              </a:rPr>
              <a:t>npm install playwright@latest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417036-F847-BFF1-5B49-C380ECF0E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112" y="2086884"/>
            <a:ext cx="3724425" cy="2854284"/>
          </a:xfrm>
          <a:prstGeom prst="roundRect">
            <a:avLst>
              <a:gd name="adj" fmla="val 2091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EACDFA-05F5-8ECF-2A1B-51BA2F8B9D76}"/>
              </a:ext>
            </a:extLst>
          </p:cNvPr>
          <p:cNvSpPr txBox="1"/>
          <p:nvPr/>
        </p:nvSpPr>
        <p:spPr>
          <a:xfrm>
            <a:off x="6744072" y="1368099"/>
            <a:ext cx="3452504" cy="46166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bg-BG" sz="2400" dirty="0">
                <a:hlinkClick r:id="rId3"/>
              </a:rPr>
              <a:t>https://playwright.dev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343607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75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Playwright – Sample Test Code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299461E-3473-216D-EB53-F97AAEF6763A}"/>
              </a:ext>
            </a:extLst>
          </p:cNvPr>
          <p:cNvSpPr txBox="1">
            <a:spLocks/>
          </p:cNvSpPr>
          <p:nvPr/>
        </p:nvSpPr>
        <p:spPr>
          <a:xfrm>
            <a:off x="479376" y="1368116"/>
            <a:ext cx="11162181" cy="5085220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 algn="l">
              <a:spcBef>
                <a:spcPts val="0"/>
              </a:spcBef>
              <a:buNone/>
            </a:pPr>
            <a:r>
              <a:rPr lang="en-US" sz="2000" b="1" noProof="1">
                <a:solidFill>
                  <a:schemeClr val="accent4"/>
                </a:solidFill>
                <a:latin typeface="Consolas"/>
              </a:rPr>
              <a:t>import</a:t>
            </a:r>
            <a:r>
              <a:rPr lang="en-US" sz="2000" noProof="1">
                <a:latin typeface="Consolas"/>
              </a:rPr>
              <a:t> { test, expect } </a:t>
            </a:r>
            <a:r>
              <a:rPr lang="en-US" sz="2000" b="1" noProof="1">
                <a:solidFill>
                  <a:schemeClr val="accent4"/>
                </a:solidFill>
                <a:latin typeface="Consolas"/>
              </a:rPr>
              <a:t>from</a:t>
            </a:r>
            <a:r>
              <a:rPr lang="en-US" sz="2000" noProof="1">
                <a:latin typeface="Consolas"/>
              </a:rPr>
              <a:t> </a:t>
            </a:r>
            <a:r>
              <a:rPr lang="en-US" sz="2000" noProof="1">
                <a:solidFill>
                  <a:srgbClr val="98D8CB"/>
                </a:solidFill>
                <a:latin typeface="Consolas"/>
              </a:rPr>
              <a:t>"@playwright/test"</a:t>
            </a:r>
            <a:r>
              <a:rPr lang="en-US" sz="2000" noProof="1">
                <a:latin typeface="Consolas"/>
              </a:rPr>
              <a:t>;</a:t>
            </a:r>
          </a:p>
          <a:p>
            <a:pPr>
              <a:spcBef>
                <a:spcPts val="0"/>
              </a:spcBef>
              <a:buNone/>
            </a:pPr>
            <a:endParaRPr lang="en-US" sz="800" dirty="0"/>
          </a:p>
          <a:p>
            <a:pPr algn="l">
              <a:spcBef>
                <a:spcPts val="0"/>
              </a:spcBef>
              <a:buNone/>
            </a:pPr>
            <a:r>
              <a:rPr lang="en-US" sz="2000" noProof="1">
                <a:latin typeface="Consolas"/>
              </a:rPr>
              <a:t>test(</a:t>
            </a:r>
            <a:r>
              <a:rPr lang="en-US" sz="2000" noProof="1">
                <a:solidFill>
                  <a:srgbClr val="98D8CB"/>
                </a:solidFill>
                <a:latin typeface="Consolas"/>
              </a:rPr>
              <a:t>"user can log in and create a post"</a:t>
            </a:r>
            <a:r>
              <a:rPr lang="en-US" sz="2000" noProof="1"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buNone/>
            </a:pPr>
            <a:r>
              <a:rPr lang="en-US" sz="2000" noProof="1">
                <a:latin typeface="Consolas"/>
              </a:rPr>
              <a:t>  </a:t>
            </a:r>
            <a:r>
              <a:rPr lang="en-US" sz="2000" b="1" noProof="1">
                <a:solidFill>
                  <a:schemeClr val="accent4"/>
                </a:solidFill>
                <a:latin typeface="Consolas"/>
              </a:rPr>
              <a:t>async</a:t>
            </a:r>
            <a:r>
              <a:rPr lang="en-US" sz="2000" noProof="1">
                <a:latin typeface="Consolas"/>
              </a:rPr>
              <a:t> ({ page }) =&gt; {</a:t>
            </a:r>
          </a:p>
          <a:p>
            <a:pPr algn="l">
              <a:spcBef>
                <a:spcPts val="0"/>
              </a:spcBef>
              <a:buNone/>
            </a:pPr>
            <a:r>
              <a:rPr lang="en-US" sz="2000" noProof="1">
                <a:latin typeface="Consolas"/>
              </a:rPr>
              <a:t>    </a:t>
            </a:r>
            <a:r>
              <a:rPr lang="en-US" sz="2000" b="1" noProof="1">
                <a:solidFill>
                  <a:schemeClr val="accent4"/>
                </a:solidFill>
                <a:latin typeface="Consolas"/>
              </a:rPr>
              <a:t>await</a:t>
            </a:r>
            <a:r>
              <a:rPr lang="en-US" sz="2000" noProof="1">
                <a:latin typeface="Consolas"/>
              </a:rPr>
              <a:t> page.goto(</a:t>
            </a:r>
            <a:r>
              <a:rPr lang="en-US" sz="2000" noProof="1">
                <a:solidFill>
                  <a:srgbClr val="98D8CB"/>
                </a:solidFill>
                <a:latin typeface="Consolas"/>
              </a:rPr>
              <a:t>"/auth/login"</a:t>
            </a:r>
            <a:r>
              <a:rPr lang="en-US" sz="2000" noProof="1">
                <a:latin typeface="Consolas"/>
              </a:rPr>
              <a:t>);</a:t>
            </a:r>
          </a:p>
          <a:p>
            <a:pPr algn="l">
              <a:spcBef>
                <a:spcPts val="0"/>
              </a:spcBef>
              <a:buNone/>
            </a:pPr>
            <a:r>
              <a:rPr lang="en-US" sz="2000" noProof="1">
                <a:latin typeface="Consolas"/>
              </a:rPr>
              <a:t>    </a:t>
            </a:r>
            <a:r>
              <a:rPr lang="en-US" sz="2000" b="1" noProof="1">
                <a:solidFill>
                  <a:schemeClr val="accent4"/>
                </a:solidFill>
                <a:latin typeface="Consolas"/>
              </a:rPr>
              <a:t>await</a:t>
            </a:r>
            <a:r>
              <a:rPr lang="en-US" sz="2000" noProof="1">
                <a:latin typeface="Consolas"/>
              </a:rPr>
              <a:t> page.fill(</a:t>
            </a:r>
            <a:r>
              <a:rPr lang="en-US" sz="2000" noProof="1">
                <a:solidFill>
                  <a:srgbClr val="98D8CB"/>
                </a:solidFill>
                <a:latin typeface="Consolas"/>
              </a:rPr>
              <a:t>'input[name="email"]'</a:t>
            </a:r>
            <a:r>
              <a:rPr lang="en-US" sz="2000" noProof="1"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buNone/>
            </a:pPr>
            <a:r>
              <a:rPr lang="en-US" sz="2000" noProof="1">
                <a:latin typeface="Consolas"/>
              </a:rPr>
              <a:t>      </a:t>
            </a:r>
            <a:r>
              <a:rPr lang="en-US" sz="2000" noProof="1">
                <a:solidFill>
                  <a:srgbClr val="98D8CB"/>
                </a:solidFill>
                <a:latin typeface="Consolas"/>
              </a:rPr>
              <a:t>"alice@test.com"</a:t>
            </a:r>
            <a:r>
              <a:rPr lang="en-US" sz="2000" noProof="1">
                <a:latin typeface="Consolas"/>
              </a:rPr>
              <a:t>);</a:t>
            </a:r>
          </a:p>
          <a:p>
            <a:pPr algn="l">
              <a:spcBef>
                <a:spcPts val="0"/>
              </a:spcBef>
              <a:buNone/>
            </a:pPr>
            <a:r>
              <a:rPr lang="en-US" sz="2000" noProof="1">
                <a:latin typeface="Consolas"/>
              </a:rPr>
              <a:t>    </a:t>
            </a:r>
            <a:r>
              <a:rPr lang="en-US" sz="2000" b="1" noProof="1">
                <a:solidFill>
                  <a:schemeClr val="accent4"/>
                </a:solidFill>
                <a:latin typeface="Consolas"/>
              </a:rPr>
              <a:t>await</a:t>
            </a:r>
            <a:r>
              <a:rPr lang="en-US" sz="2000" noProof="1">
                <a:latin typeface="Consolas"/>
              </a:rPr>
              <a:t> page.fill(</a:t>
            </a:r>
            <a:r>
              <a:rPr lang="en-US" sz="2000" noProof="1">
                <a:solidFill>
                  <a:srgbClr val="98D8CB"/>
                </a:solidFill>
                <a:latin typeface="Consolas"/>
              </a:rPr>
              <a:t>'input[name="password"]'</a:t>
            </a:r>
            <a:r>
              <a:rPr lang="en-US" sz="2000" noProof="1">
                <a:latin typeface="Consolas"/>
              </a:rPr>
              <a:t>, </a:t>
            </a:r>
            <a:r>
              <a:rPr lang="en-US" sz="2000" noProof="1">
                <a:solidFill>
                  <a:srgbClr val="98D8CB"/>
                </a:solidFill>
                <a:latin typeface="Consolas"/>
              </a:rPr>
              <a:t>"1234"</a:t>
            </a:r>
            <a:r>
              <a:rPr lang="en-US" sz="2000" noProof="1">
                <a:latin typeface="Consolas"/>
              </a:rPr>
              <a:t>);</a:t>
            </a:r>
          </a:p>
          <a:p>
            <a:pPr algn="l">
              <a:spcBef>
                <a:spcPts val="0"/>
              </a:spcBef>
              <a:buNone/>
            </a:pPr>
            <a:r>
              <a:rPr lang="en-US" sz="2000" noProof="1">
                <a:latin typeface="Consolas"/>
              </a:rPr>
              <a:t>    </a:t>
            </a:r>
            <a:r>
              <a:rPr lang="en-US" sz="2000" b="1" noProof="1">
                <a:solidFill>
                  <a:schemeClr val="accent4"/>
                </a:solidFill>
                <a:latin typeface="Consolas"/>
              </a:rPr>
              <a:t>await</a:t>
            </a:r>
            <a:r>
              <a:rPr lang="en-US" sz="2000" noProof="1">
                <a:latin typeface="Consolas"/>
              </a:rPr>
              <a:t> page.click(</a:t>
            </a:r>
            <a:r>
              <a:rPr lang="en-US" sz="2000" noProof="1">
                <a:solidFill>
                  <a:srgbClr val="98D8CB"/>
                </a:solidFill>
                <a:latin typeface="Consolas"/>
              </a:rPr>
              <a:t>'button[type="submit"]'</a:t>
            </a:r>
            <a:r>
              <a:rPr lang="en-US" sz="2000" noProof="1">
                <a:latin typeface="Consolas"/>
              </a:rPr>
              <a:t>);</a:t>
            </a:r>
          </a:p>
          <a:p>
            <a:pPr algn="l">
              <a:spcBef>
                <a:spcPts val="0"/>
              </a:spcBef>
              <a:buNone/>
            </a:pPr>
            <a:r>
              <a:rPr lang="en-US" sz="2000" noProof="1">
                <a:latin typeface="Consolas"/>
              </a:rPr>
              <a:t>    </a:t>
            </a:r>
            <a:r>
              <a:rPr lang="en-US" sz="2000" b="1" noProof="1">
                <a:solidFill>
                  <a:schemeClr val="accent4"/>
                </a:solidFill>
                <a:latin typeface="Consolas"/>
              </a:rPr>
              <a:t>await</a:t>
            </a:r>
            <a:r>
              <a:rPr lang="en-US" sz="2000" noProof="1">
                <a:latin typeface="Consolas"/>
              </a:rPr>
              <a:t> expect(page).toHaveURL(</a:t>
            </a:r>
            <a:r>
              <a:rPr lang="en-US" sz="2000" noProof="1">
                <a:solidFill>
                  <a:srgbClr val="98D8CB"/>
                </a:solidFill>
                <a:latin typeface="Consolas"/>
              </a:rPr>
              <a:t>"/"</a:t>
            </a:r>
            <a:r>
              <a:rPr lang="en-US" sz="2000" noProof="1">
                <a:latin typeface="Consolas"/>
              </a:rPr>
              <a:t>);</a:t>
            </a:r>
          </a:p>
          <a:p>
            <a:pPr>
              <a:spcBef>
                <a:spcPts val="0"/>
              </a:spcBef>
              <a:buNone/>
            </a:pPr>
            <a:endParaRPr lang="en-US" sz="800" dirty="0"/>
          </a:p>
          <a:p>
            <a:pPr algn="l">
              <a:spcBef>
                <a:spcPts val="0"/>
              </a:spcBef>
              <a:buNone/>
            </a:pPr>
            <a:r>
              <a:rPr lang="en-US" sz="2000" noProof="1">
                <a:latin typeface="Consolas"/>
              </a:rPr>
              <a:t>    </a:t>
            </a:r>
            <a:r>
              <a:rPr lang="en-US" sz="2000" b="1" noProof="1">
                <a:solidFill>
                  <a:schemeClr val="accent4"/>
                </a:solidFill>
                <a:latin typeface="Consolas"/>
              </a:rPr>
              <a:t>await</a:t>
            </a:r>
            <a:r>
              <a:rPr lang="en-US" sz="2000" noProof="1">
                <a:latin typeface="Consolas"/>
              </a:rPr>
              <a:t> page.click(</a:t>
            </a:r>
            <a:r>
              <a:rPr lang="en-US" sz="2000" noProof="1">
                <a:solidFill>
                  <a:srgbClr val="98D8CB"/>
                </a:solidFill>
                <a:latin typeface="Consolas"/>
              </a:rPr>
              <a:t>"text=New Post"</a:t>
            </a:r>
            <a:r>
              <a:rPr lang="en-US" sz="2000" noProof="1">
                <a:latin typeface="Consolas"/>
              </a:rPr>
              <a:t>);</a:t>
            </a:r>
          </a:p>
          <a:p>
            <a:pPr algn="l">
              <a:spcBef>
                <a:spcPts val="0"/>
              </a:spcBef>
              <a:buNone/>
            </a:pPr>
            <a:r>
              <a:rPr lang="en-US" sz="2000" i="1" noProof="1">
                <a:solidFill>
                  <a:srgbClr val="98D8CB"/>
                </a:solidFill>
                <a:latin typeface="Consolas"/>
              </a:rPr>
              <a:t>    // ... fill title/content, click Publish</a:t>
            </a:r>
          </a:p>
          <a:p>
            <a:pPr algn="l">
              <a:spcBef>
                <a:spcPts val="0"/>
              </a:spcBef>
              <a:buNone/>
            </a:pPr>
            <a:r>
              <a:rPr lang="en-US" sz="2000" noProof="1">
                <a:latin typeface="Consolas"/>
              </a:rPr>
              <a:t>    </a:t>
            </a:r>
            <a:r>
              <a:rPr lang="en-US" sz="2000" b="1" noProof="1">
                <a:solidFill>
                  <a:schemeClr val="accent4"/>
                </a:solidFill>
                <a:latin typeface="Consolas"/>
              </a:rPr>
              <a:t>await</a:t>
            </a:r>
            <a:r>
              <a:rPr lang="en-US" sz="2000" noProof="1">
                <a:latin typeface="Consolas"/>
              </a:rPr>
              <a:t> expect(page.locator(</a:t>
            </a:r>
            <a:r>
              <a:rPr lang="en-US" sz="2000" noProof="1">
                <a:solidFill>
                  <a:srgbClr val="98D8CB"/>
                </a:solidFill>
                <a:latin typeface="Consolas"/>
              </a:rPr>
              <a:t>"h1"</a:t>
            </a:r>
            <a:r>
              <a:rPr lang="en-US" sz="2000" noProof="1">
                <a:latin typeface="Consolas"/>
              </a:rPr>
              <a:t>))</a:t>
            </a:r>
          </a:p>
          <a:p>
            <a:pPr algn="l">
              <a:spcBef>
                <a:spcPts val="0"/>
              </a:spcBef>
              <a:buNone/>
            </a:pPr>
            <a:r>
              <a:rPr lang="en-US" sz="2000" noProof="1">
                <a:latin typeface="Consolas"/>
              </a:rPr>
              <a:t>      .toContainText(</a:t>
            </a:r>
            <a:r>
              <a:rPr lang="en-US" sz="2000" noProof="1">
                <a:solidFill>
                  <a:srgbClr val="98D8CB"/>
                </a:solidFill>
                <a:latin typeface="Consolas"/>
              </a:rPr>
              <a:t>"Hello Playwright"</a:t>
            </a:r>
            <a:r>
              <a:rPr lang="en-US" sz="2000" noProof="1">
                <a:latin typeface="Consolas"/>
              </a:rPr>
              <a:t>);</a:t>
            </a:r>
          </a:p>
          <a:p>
            <a:pPr algn="l">
              <a:spcBef>
                <a:spcPts val="0"/>
              </a:spcBef>
              <a:buNone/>
            </a:pPr>
            <a:r>
              <a:rPr lang="en-US" sz="2000" noProof="1">
                <a:latin typeface="Consolas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938070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76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D1061-C1E2-9783-C508-23B064F287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🤖 </a:t>
            </a:r>
            <a:r>
              <a:rPr lang="en-US" sz="3200" b="1" dirty="0">
                <a:solidFill>
                  <a:srgbClr val="FFD999"/>
                </a:solidFill>
              </a:rPr>
              <a:t>AI prompt</a:t>
            </a:r>
            <a:r>
              <a:rPr lang="en-US" sz="3200" dirty="0"/>
              <a:t> to implement </a:t>
            </a:r>
            <a:r>
              <a:rPr lang="en-US" sz="3200" b="1" dirty="0">
                <a:solidFill>
                  <a:schemeClr val="accent4"/>
                </a:solidFill>
              </a:rPr>
              <a:t>end-to-end tests</a:t>
            </a:r>
            <a:r>
              <a:rPr lang="en-US" sz="3200" dirty="0"/>
              <a:t> with </a:t>
            </a:r>
            <a:r>
              <a:rPr lang="en-US" sz="3200" b="1" dirty="0">
                <a:solidFill>
                  <a:schemeClr val="accent4"/>
                </a:solidFill>
              </a:rPr>
              <a:t>Playwright</a:t>
            </a:r>
            <a:r>
              <a:rPr lang="en-US" sz="3200" dirty="0"/>
              <a:t>:</a:t>
            </a:r>
            <a:endParaRPr lang="bg-BG" sz="3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Blog Client: E2E Tests with Playwright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299461E-3473-216D-EB53-F97AAEF6763A}"/>
              </a:ext>
            </a:extLst>
          </p:cNvPr>
          <p:cNvSpPr txBox="1">
            <a:spLocks/>
          </p:cNvSpPr>
          <p:nvPr/>
        </p:nvSpPr>
        <p:spPr>
          <a:xfrm>
            <a:off x="444832" y="1988840"/>
            <a:ext cx="11267792" cy="372074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 algn="l">
              <a:spcBef>
                <a:spcPts val="0"/>
              </a:spcBef>
              <a:buNone/>
            </a:pPr>
            <a:r>
              <a:rPr lang="en-US" sz="3200" b="0" noProof="1">
                <a:latin typeface="+mn-lt"/>
              </a:rPr>
              <a:t>Implement </a:t>
            </a:r>
            <a:r>
              <a:rPr lang="en-US" sz="3200" noProof="1">
                <a:solidFill>
                  <a:schemeClr val="accent4"/>
                </a:solidFill>
                <a:latin typeface="+mn-lt"/>
              </a:rPr>
              <a:t>Playwright end-to-end tests</a:t>
            </a:r>
            <a:r>
              <a:rPr lang="en-US" sz="3200" noProof="1">
                <a:latin typeface="+mn-lt"/>
              </a:rPr>
              <a:t> </a:t>
            </a:r>
            <a:r>
              <a:rPr lang="en-US" sz="3200" b="0" noProof="1">
                <a:latin typeface="+mn-lt"/>
              </a:rPr>
              <a:t>for the Blog client:</a:t>
            </a:r>
          </a:p>
          <a:p>
            <a:pPr algn="l">
              <a:spcBef>
                <a:spcPts val="0"/>
              </a:spcBef>
              <a:buNone/>
            </a:pPr>
            <a:r>
              <a:rPr lang="en-US" sz="3200" b="0" noProof="1">
                <a:latin typeface="+mn-lt"/>
              </a:rPr>
              <a:t>  - Home page renders the expected number of posts</a:t>
            </a:r>
          </a:p>
          <a:p>
            <a:pPr algn="l">
              <a:spcBef>
                <a:spcPts val="0"/>
              </a:spcBef>
              <a:buNone/>
            </a:pPr>
            <a:r>
              <a:rPr lang="en-US" sz="3200" b="0" noProof="1">
                <a:latin typeface="+mn-lt"/>
              </a:rPr>
              <a:t>  - </a:t>
            </a:r>
            <a:r>
              <a:rPr lang="en-US" sz="3200" noProof="1">
                <a:solidFill>
                  <a:schemeClr val="accent4"/>
                </a:solidFill>
                <a:latin typeface="+mn-lt"/>
              </a:rPr>
              <a:t>Register + login</a:t>
            </a:r>
            <a:r>
              <a:rPr lang="en-US" sz="3200" noProof="1">
                <a:latin typeface="+mn-lt"/>
              </a:rPr>
              <a:t> </a:t>
            </a:r>
            <a:r>
              <a:rPr lang="en-US" sz="3200" b="0" noProof="1">
                <a:latin typeface="+mn-lt"/>
              </a:rPr>
              <a:t>flow works</a:t>
            </a:r>
          </a:p>
          <a:p>
            <a:pPr algn="l">
              <a:spcBef>
                <a:spcPts val="0"/>
              </a:spcBef>
              <a:buNone/>
            </a:pPr>
            <a:r>
              <a:rPr lang="en-US" sz="3200" b="0" noProof="1">
                <a:latin typeface="+mn-lt"/>
              </a:rPr>
              <a:t>  - A logged-in user can </a:t>
            </a:r>
            <a:r>
              <a:rPr lang="en-US" sz="3200" noProof="1">
                <a:solidFill>
                  <a:schemeClr val="accent4"/>
                </a:solidFill>
                <a:latin typeface="+mn-lt"/>
              </a:rPr>
              <a:t>create, edit, delete</a:t>
            </a:r>
            <a:r>
              <a:rPr lang="en-US" sz="3200" noProof="1">
                <a:latin typeface="+mn-lt"/>
              </a:rPr>
              <a:t> </a:t>
            </a:r>
            <a:r>
              <a:rPr lang="en-US" sz="3200" b="0" noProof="1">
                <a:latin typeface="+mn-lt"/>
              </a:rPr>
              <a:t>a post</a:t>
            </a:r>
          </a:p>
          <a:p>
            <a:pPr algn="l">
              <a:spcBef>
                <a:spcPts val="0"/>
              </a:spcBef>
              <a:buNone/>
            </a:pPr>
            <a:r>
              <a:rPr lang="en-US" sz="3200" b="0" noProof="1">
                <a:latin typeface="+mn-lt"/>
              </a:rPr>
              <a:t>  - A </a:t>
            </a:r>
            <a:r>
              <a:rPr lang="en-US" sz="3200" noProof="1">
                <a:solidFill>
                  <a:schemeClr val="accent4"/>
                </a:solidFill>
                <a:latin typeface="+mn-lt"/>
              </a:rPr>
              <a:t>non-owner</a:t>
            </a:r>
            <a:r>
              <a:rPr lang="en-US" sz="3200" b="0" noProof="1">
                <a:latin typeface="+mn-lt"/>
              </a:rPr>
              <a:t> cannot see [Edit] / [Delete] on someone else's post</a:t>
            </a:r>
          </a:p>
          <a:p>
            <a:pPr algn="l">
              <a:spcBef>
                <a:spcPts val="0"/>
              </a:spcBef>
              <a:buNone/>
            </a:pPr>
            <a:r>
              <a:rPr lang="en-US" sz="3200" b="0" noProof="1">
                <a:latin typeface="+mn-lt"/>
              </a:rPr>
              <a:t>Run against </a:t>
            </a:r>
            <a:r>
              <a:rPr lang="en-US" sz="3200" noProof="1">
                <a:solidFill>
                  <a:schemeClr val="accent4"/>
                </a:solidFill>
                <a:latin typeface="+mn-lt"/>
              </a:rPr>
              <a:t>local dev server </a:t>
            </a:r>
            <a:r>
              <a:rPr lang="en-US" sz="3200" b="0" noProof="1">
                <a:latin typeface="+mn-lt"/>
              </a:rPr>
              <a:t>with a </a:t>
            </a:r>
            <a:r>
              <a:rPr lang="en-US" sz="3200" noProof="1">
                <a:solidFill>
                  <a:schemeClr val="accent4"/>
                </a:solidFill>
                <a:latin typeface="+mn-lt"/>
              </a:rPr>
              <a:t>fresh seeded testing DB</a:t>
            </a:r>
            <a:r>
              <a:rPr lang="en-US" sz="3200" b="0" noProof="1"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8886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316" end="3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316" end="3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316" end="3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316" end="3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947A37-A686-3AD6-3B03-8965B666BF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77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A5AA224-C9E2-327D-2EDF-5F8A79CF21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3" y="1278356"/>
            <a:ext cx="5905597" cy="1224763"/>
          </a:xfrm>
        </p:spPr>
        <p:txBody>
          <a:bodyPr>
            <a:normAutofit/>
          </a:bodyPr>
          <a:lstStyle/>
          <a:p>
            <a:r>
              <a:rPr lang="en-US" dirty="0"/>
              <a:t>Run the Playwright tests (</a:t>
            </a:r>
            <a:r>
              <a:rPr lang="en-US" b="1" dirty="0">
                <a:solidFill>
                  <a:schemeClr val="accent4"/>
                </a:solidFill>
              </a:rPr>
              <a:t>headless</a:t>
            </a:r>
            <a:r>
              <a:rPr lang="en-US" dirty="0"/>
              <a:t>):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1FC698-6568-37AB-7AED-F638E06AE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4" y="100750"/>
            <a:ext cx="10803414" cy="882654"/>
          </a:xfrm>
        </p:spPr>
        <p:txBody>
          <a:bodyPr/>
          <a:lstStyle/>
          <a:p>
            <a:r>
              <a:rPr lang="en-US"/>
              <a:t>E2E Tests with Playwright – Demo</a:t>
            </a:r>
            <a:endParaRPr lang="bg-BG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32C424DA-C422-AEFD-B530-3F7E3E55BAE2}"/>
              </a:ext>
            </a:extLst>
          </p:cNvPr>
          <p:cNvSpPr txBox="1">
            <a:spLocks/>
          </p:cNvSpPr>
          <p:nvPr/>
        </p:nvSpPr>
        <p:spPr>
          <a:xfrm>
            <a:off x="695399" y="2585350"/>
            <a:ext cx="5760641" cy="637849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</a:pPr>
            <a:r>
              <a:rPr lang="en-US" sz="3200" noProof="1"/>
              <a:t>playwright test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9F5B5C06-FA2F-CCBC-38B8-7880D800AD9B}"/>
              </a:ext>
            </a:extLst>
          </p:cNvPr>
          <p:cNvSpPr txBox="1">
            <a:spLocks/>
          </p:cNvSpPr>
          <p:nvPr/>
        </p:nvSpPr>
        <p:spPr>
          <a:xfrm>
            <a:off x="695399" y="4879383"/>
            <a:ext cx="5760641" cy="637849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0"/>
              </a:spcBef>
            </a:pPr>
            <a:r>
              <a:rPr lang="en-US" sz="3200" noProof="1"/>
              <a:t>playwright test --headed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93ECE2A2-C490-BF3C-6B38-500D68A3DCE3}"/>
              </a:ext>
            </a:extLst>
          </p:cNvPr>
          <p:cNvSpPr txBox="1">
            <a:spLocks/>
          </p:cNvSpPr>
          <p:nvPr/>
        </p:nvSpPr>
        <p:spPr>
          <a:xfrm>
            <a:off x="190403" y="3523415"/>
            <a:ext cx="5905597" cy="1357929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36195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400" b="0" i="0" kern="1200" baseline="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15265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335070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Run the Playwright tests (with a </a:t>
            </a:r>
            <a:r>
              <a:rPr lang="en-US" b="1" dirty="0">
                <a:solidFill>
                  <a:schemeClr val="accent4"/>
                </a:solidFill>
              </a:rPr>
              <a:t>visible browser</a:t>
            </a:r>
            <a:r>
              <a:rPr lang="en-US" dirty="0"/>
              <a:t>):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0138BCE-49DD-6C4A-B231-3351B8D27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6640" y="1555904"/>
            <a:ext cx="4563940" cy="4824536"/>
          </a:xfrm>
          <a:prstGeom prst="roundRect">
            <a:avLst>
              <a:gd name="adj" fmla="val 1201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7674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allAtOnce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643CDE-8E68-9C4B-FB91-24D4665A30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14022" y="1818404"/>
            <a:ext cx="8233605" cy="1178548"/>
          </a:xfrm>
        </p:spPr>
        <p:txBody>
          <a:bodyPr/>
          <a:lstStyle/>
          <a:p>
            <a:r>
              <a:rPr lang="en-US" dirty="0"/>
              <a:t>Cloud Providers, Trade-offs, Choosing the Right Platform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940597-DAE4-91AA-835D-40DD830B3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2394" y="244002"/>
            <a:ext cx="7287212" cy="1382495"/>
          </a:xfrm>
        </p:spPr>
        <p:txBody>
          <a:bodyPr/>
          <a:lstStyle/>
          <a:p>
            <a:r>
              <a:rPr lang="en-US" sz="4400" dirty="0"/>
              <a:t>Serverless vs. Server-Based Deployment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17ECD-EE28-34AE-1128-57A5041596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78</a:t>
            </a:fld>
            <a:endParaRPr lang="en-US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88BB116C-3F6F-AFA5-5257-8FC7924FC90C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30" b="12630"/>
          <a:stretch>
            <a:fillRect/>
          </a:stretch>
        </p:blipFill>
        <p:spPr>
          <a:xfrm>
            <a:off x="3010478" y="3212976"/>
            <a:ext cx="6171045" cy="3076864"/>
          </a:xfrm>
          <a:prstGeom prst="rect">
            <a:avLst/>
          </a:prstGeom>
          <a:ln>
            <a:solidFill>
              <a:srgbClr val="63C5B0">
                <a:alpha val="60000"/>
              </a:srgbClr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58044821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301ED-ABB6-D108-2CDE-6E1FDCE1B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4618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79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465473-3E6F-A71C-8881-15CEDDD5E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43" y="100750"/>
            <a:ext cx="10800601" cy="882654"/>
          </a:xfrm>
        </p:spPr>
        <p:txBody>
          <a:bodyPr>
            <a:normAutofit/>
          </a:bodyPr>
          <a:lstStyle/>
          <a:p>
            <a:r>
              <a:rPr lang="en-US" dirty="0"/>
              <a:t>Server-Based vs. Serverless</a:t>
            </a:r>
          </a:p>
        </p:txBody>
      </p:sp>
      <p:sp>
        <p:nvSpPr>
          <p:cNvPr id="2" name="Server-Based Card">
            <a:extLst>
              <a:ext uri="{FF2B5EF4-FFF2-40B4-BE49-F238E27FC236}">
                <a16:creationId xmlns:a16="http://schemas.microsoft.com/office/drawing/2014/main" id="{44EC9ECB-C756-4E7B-A979-5967D18091C8}"/>
              </a:ext>
            </a:extLst>
          </p:cNvPr>
          <p:cNvSpPr/>
          <p:nvPr/>
        </p:nvSpPr>
        <p:spPr bwMode="auto">
          <a:xfrm>
            <a:off x="470024" y="1340768"/>
            <a:ext cx="5553968" cy="5237001"/>
          </a:xfrm>
          <a:prstGeom prst="roundRect">
            <a:avLst>
              <a:gd name="adj" fmla="val 3400"/>
            </a:avLst>
          </a:prstGeom>
          <a:solidFill>
            <a:srgbClr val="212E31">
              <a:alpha val="80000"/>
            </a:srgb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600"/>
              </a:spcAft>
            </a:pPr>
            <a:r>
              <a:rPr lang="en-US" sz="3600" dirty="0">
                <a:solidFill>
                  <a:schemeClr val="bg2"/>
                </a:solidFill>
              </a:rPr>
              <a:t>🖥️ </a:t>
            </a:r>
            <a:r>
              <a:rPr lang="en-US" sz="3600" b="1" dirty="0">
                <a:solidFill>
                  <a:srgbClr val="FFD999"/>
                </a:solidFill>
              </a:rPr>
              <a:t>Server-based</a:t>
            </a:r>
          </a:p>
          <a:p>
            <a:pPr marL="542925" indent="-2762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/>
                </a:solidFill>
              </a:rPr>
              <a:t>Rent a </a:t>
            </a:r>
            <a:r>
              <a:rPr lang="en-US" sz="3200" b="1" dirty="0">
                <a:solidFill>
                  <a:srgbClr val="FFD999"/>
                </a:solidFill>
              </a:rPr>
              <a:t>VM / container </a:t>
            </a:r>
            <a:r>
              <a:rPr lang="en-US" sz="3200" dirty="0">
                <a:solidFill>
                  <a:schemeClr val="bg2"/>
                </a:solidFill>
              </a:rPr>
              <a:t>running 24/7</a:t>
            </a:r>
          </a:p>
          <a:p>
            <a:pPr marL="542925" indent="-2762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FFD999"/>
                </a:solidFill>
              </a:rPr>
              <a:t>Predictable performance</a:t>
            </a:r>
            <a:r>
              <a:rPr lang="en-US" sz="3200" dirty="0">
                <a:solidFill>
                  <a:schemeClr val="bg2"/>
                </a:solidFill>
              </a:rPr>
              <a:t>, full control</a:t>
            </a:r>
          </a:p>
          <a:p>
            <a:pPr marL="542925" indent="-2762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/>
                </a:solidFill>
              </a:rPr>
              <a:t>Pay even </a:t>
            </a:r>
            <a:r>
              <a:rPr lang="en-US" sz="3200" b="1" dirty="0">
                <a:solidFill>
                  <a:srgbClr val="FFD999"/>
                </a:solidFill>
              </a:rPr>
              <a:t>when idle</a:t>
            </a:r>
            <a:endParaRPr lang="en-US" sz="3200" dirty="0">
              <a:solidFill>
                <a:schemeClr val="bg2"/>
              </a:solidFill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FFD999"/>
                </a:solidFill>
              </a:rPr>
              <a:t>Providers: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i="1" dirty="0">
                <a:solidFill>
                  <a:schemeClr val="bg2"/>
                </a:solidFill>
              </a:rPr>
              <a:t>Digital Ocean, Heroku, Render, Railway, AWS EC2</a:t>
            </a:r>
          </a:p>
        </p:txBody>
      </p:sp>
      <p:sp>
        <p:nvSpPr>
          <p:cNvPr id="3" name="Serverless Card">
            <a:extLst>
              <a:ext uri="{FF2B5EF4-FFF2-40B4-BE49-F238E27FC236}">
                <a16:creationId xmlns:a16="http://schemas.microsoft.com/office/drawing/2014/main" id="{87DA3EB9-4657-4020-9DB9-6E3D051673A9}"/>
              </a:ext>
            </a:extLst>
          </p:cNvPr>
          <p:cNvSpPr/>
          <p:nvPr/>
        </p:nvSpPr>
        <p:spPr bwMode="auto">
          <a:xfrm>
            <a:off x="6375526" y="1340769"/>
            <a:ext cx="5346450" cy="5237000"/>
          </a:xfrm>
          <a:prstGeom prst="roundRect">
            <a:avLst>
              <a:gd name="adj" fmla="val 3779"/>
            </a:avLst>
          </a:prstGeom>
          <a:solidFill>
            <a:srgbClr val="212E31">
              <a:alpha val="80000"/>
            </a:srgb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3600" dirty="0">
                <a:solidFill>
                  <a:schemeClr val="bg2"/>
                </a:solidFill>
              </a:rPr>
              <a:t>⚡ </a:t>
            </a:r>
            <a:r>
              <a:rPr lang="en-US" sz="3600" b="1" dirty="0">
                <a:solidFill>
                  <a:srgbClr val="FFD999"/>
                </a:solidFill>
              </a:rPr>
              <a:t>Serverless</a:t>
            </a:r>
          </a:p>
          <a:p>
            <a:pPr marL="542925" indent="-2762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Platform runs code </a:t>
            </a:r>
            <a:r>
              <a:rPr lang="en-US" sz="3000" b="1" dirty="0">
                <a:solidFill>
                  <a:srgbClr val="FFD999"/>
                </a:solidFill>
              </a:rPr>
              <a:t>on demand</a:t>
            </a:r>
          </a:p>
          <a:p>
            <a:pPr marL="542925" indent="-2762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Scales to zero, </a:t>
            </a:r>
            <a:r>
              <a:rPr lang="en-US" sz="3000" b="1" dirty="0">
                <a:solidFill>
                  <a:srgbClr val="FFD999"/>
                </a:solidFill>
              </a:rPr>
              <a:t>pay per request</a:t>
            </a:r>
          </a:p>
          <a:p>
            <a:pPr marL="542925" indent="-2762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rgbClr val="FFD999"/>
                </a:solidFill>
              </a:rPr>
              <a:t>Cold starts </a:t>
            </a:r>
            <a:r>
              <a:rPr lang="en-US" sz="3000" dirty="0">
                <a:solidFill>
                  <a:schemeClr val="bg2"/>
                </a:solidFill>
              </a:rPr>
              <a:t>possible</a:t>
            </a:r>
            <a:endParaRPr lang="en-US" sz="2800" dirty="0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FFD999"/>
                </a:solidFill>
              </a:rPr>
              <a:t>Providers:</a:t>
            </a:r>
            <a:endParaRPr lang="en-US" sz="3600" b="1" dirty="0">
              <a:solidFill>
                <a:srgbClr val="FFD999"/>
              </a:solidFill>
            </a:endParaRP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i="1" dirty="0" err="1">
                <a:solidFill>
                  <a:schemeClr val="bg2"/>
                </a:solidFill>
              </a:rPr>
              <a:t>Vercel</a:t>
            </a:r>
            <a:r>
              <a:rPr lang="en-US" sz="3200" i="1" dirty="0">
                <a:solidFill>
                  <a:schemeClr val="bg2"/>
                </a:solidFill>
              </a:rPr>
              <a:t>, Netlify, Cloudflare Workers, AWS Lambda</a:t>
            </a:r>
          </a:p>
        </p:txBody>
      </p:sp>
    </p:spTree>
    <p:extLst>
      <p:ext uri="{BB962C8B-B14F-4D97-AF65-F5344CB8AC3E}">
        <p14:creationId xmlns:p14="http://schemas.microsoft.com/office/powerpoint/2010/main" val="1636052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301ED-ABB6-D108-2CDE-6E1FDCE1B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4618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465473-3E6F-A71C-8881-15CEDDD5E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43" y="100750"/>
            <a:ext cx="10800601" cy="882654"/>
          </a:xfrm>
        </p:spPr>
        <p:txBody>
          <a:bodyPr>
            <a:normAutofit/>
          </a:bodyPr>
          <a:lstStyle/>
          <a:p>
            <a:r>
              <a:rPr lang="en-US" dirty="0"/>
              <a:t>When to Pick Which?</a:t>
            </a:r>
          </a:p>
        </p:txBody>
      </p:sp>
      <p:sp>
        <p:nvSpPr>
          <p:cNvPr id="2" name="Card Background">
            <a:extLst>
              <a:ext uri="{FF2B5EF4-FFF2-40B4-BE49-F238E27FC236}">
                <a16:creationId xmlns:a16="http://schemas.microsoft.com/office/drawing/2014/main" id="{E7AF9EAC-99E0-4ABA-A776-9200B2747A63}"/>
              </a:ext>
            </a:extLst>
          </p:cNvPr>
          <p:cNvSpPr/>
          <p:nvPr/>
        </p:nvSpPr>
        <p:spPr bwMode="auto">
          <a:xfrm>
            <a:off x="386160" y="1461017"/>
            <a:ext cx="5481960" cy="4632279"/>
          </a:xfrm>
          <a:prstGeom prst="roundRect">
            <a:avLst>
              <a:gd name="adj" fmla="val 3532"/>
            </a:avLst>
          </a:prstGeom>
          <a:solidFill>
            <a:srgbClr val="212E31">
              <a:alpha val="80000"/>
            </a:srgb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/>
              <a:t>⚡ </a:t>
            </a:r>
            <a:r>
              <a:rPr lang="en-US" sz="3200" b="1" dirty="0">
                <a:solidFill>
                  <a:srgbClr val="FFD999"/>
                </a:solidFill>
              </a:rPr>
              <a:t>Serverless is great for</a:t>
            </a:r>
          </a:p>
          <a:p>
            <a:pPr marL="538163" indent="-355600" algn="l">
              <a:spcBef>
                <a:spcPts val="600"/>
              </a:spcBef>
              <a:buFont typeface="Arial"/>
              <a:buChar char="•"/>
            </a:pPr>
            <a:r>
              <a:rPr lang="en-US" sz="2800" b="1" dirty="0">
                <a:solidFill>
                  <a:srgbClr val="FFD999"/>
                </a:solidFill>
              </a:rPr>
              <a:t>Low / spiky traffic </a:t>
            </a:r>
            <a:r>
              <a:rPr lang="en-US" sz="2800" dirty="0">
                <a:solidFill>
                  <a:srgbClr val="FFFFFF"/>
                </a:solidFill>
              </a:rPr>
              <a:t>- pay only per request</a:t>
            </a:r>
          </a:p>
          <a:p>
            <a:pPr marL="538163" indent="-355600" algn="l">
              <a:spcBef>
                <a:spcPts val="600"/>
              </a:spcBef>
              <a:buFont typeface="Arial"/>
              <a:buChar char="•"/>
            </a:pPr>
            <a:r>
              <a:rPr lang="en-US" sz="2800" b="1" dirty="0">
                <a:solidFill>
                  <a:srgbClr val="FFD999"/>
                </a:solidFill>
              </a:rPr>
              <a:t>APIs, sites, webhooks </a:t>
            </a:r>
            <a:r>
              <a:rPr lang="en-US" sz="2800" dirty="0">
                <a:solidFill>
                  <a:srgbClr val="FFFFFF"/>
                </a:solidFill>
              </a:rPr>
              <a:t>- short-lived requests</a:t>
            </a:r>
          </a:p>
          <a:p>
            <a:pPr marL="538163" indent="-355600" algn="l">
              <a:spcBef>
                <a:spcPts val="600"/>
              </a:spcBef>
              <a:buFont typeface="Arial"/>
              <a:buChar char="•"/>
            </a:pPr>
            <a:r>
              <a:rPr lang="en-US" sz="2800" b="1" dirty="0">
                <a:solidFill>
                  <a:srgbClr val="FFD999"/>
                </a:solidFill>
              </a:rPr>
              <a:t>Startups / MVPs </a:t>
            </a:r>
            <a:r>
              <a:rPr lang="en-US" sz="2800" dirty="0">
                <a:solidFill>
                  <a:srgbClr val="FFFFFF"/>
                </a:solidFill>
              </a:rPr>
              <a:t>- scale without ops</a:t>
            </a:r>
          </a:p>
          <a:p>
            <a:pPr marL="538163" indent="-355600" algn="l">
              <a:spcBef>
                <a:spcPts val="600"/>
              </a:spcBef>
              <a:buFont typeface="Arial"/>
              <a:buChar char="•"/>
            </a:pPr>
            <a:r>
              <a:rPr lang="en-US" sz="2800" b="1" dirty="0">
                <a:solidFill>
                  <a:srgbClr val="FFD999"/>
                </a:solidFill>
              </a:rPr>
              <a:t>Edge delivery </a:t>
            </a:r>
            <a:r>
              <a:rPr lang="en-US" sz="2800" dirty="0">
                <a:solidFill>
                  <a:srgbClr val="FFFFFF"/>
                </a:solidFill>
              </a:rPr>
              <a:t>- global low-latency</a:t>
            </a:r>
          </a:p>
        </p:txBody>
      </p:sp>
      <p:sp>
        <p:nvSpPr>
          <p:cNvPr id="3" name="Card Background">
            <a:extLst>
              <a:ext uri="{FF2B5EF4-FFF2-40B4-BE49-F238E27FC236}">
                <a16:creationId xmlns:a16="http://schemas.microsoft.com/office/drawing/2014/main" id="{623E74CC-96D0-4830-BDEF-5EF52DD1FDA6}"/>
              </a:ext>
            </a:extLst>
          </p:cNvPr>
          <p:cNvSpPr/>
          <p:nvPr/>
        </p:nvSpPr>
        <p:spPr bwMode="auto">
          <a:xfrm>
            <a:off x="6168852" y="1442031"/>
            <a:ext cx="5645918" cy="4649002"/>
          </a:xfrm>
          <a:prstGeom prst="roundRect">
            <a:avLst>
              <a:gd name="adj" fmla="val 4926"/>
            </a:avLst>
          </a:prstGeom>
          <a:solidFill>
            <a:srgbClr val="212E31">
              <a:alpha val="80000"/>
            </a:srgb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/>
              <a:t>🖥️ </a:t>
            </a:r>
            <a:r>
              <a:rPr lang="en-US" sz="3200" b="1" dirty="0">
                <a:solidFill>
                  <a:srgbClr val="FFD999"/>
                </a:solidFill>
              </a:rPr>
              <a:t>Server-based is great for</a:t>
            </a:r>
          </a:p>
          <a:p>
            <a:pPr marL="538163" indent="-355600" algn="l">
              <a:spcBef>
                <a:spcPts val="600"/>
              </a:spcBef>
              <a:buFont typeface="Arial"/>
              <a:buChar char="•"/>
            </a:pPr>
            <a:r>
              <a:rPr lang="en-US" sz="2800" b="1" dirty="0">
                <a:solidFill>
                  <a:srgbClr val="FFD999"/>
                </a:solidFill>
              </a:rPr>
              <a:t>Long-running jobs </a:t>
            </a:r>
            <a:r>
              <a:rPr lang="en-US" sz="2800" dirty="0">
                <a:solidFill>
                  <a:srgbClr val="FFFFFF"/>
                </a:solidFill>
              </a:rPr>
              <a:t>- no timeout limits</a:t>
            </a:r>
          </a:p>
          <a:p>
            <a:pPr marL="538163" indent="-355600" algn="l">
              <a:spcBef>
                <a:spcPts val="600"/>
              </a:spcBef>
              <a:buFont typeface="Arial"/>
              <a:buChar char="•"/>
            </a:pPr>
            <a:r>
              <a:rPr lang="en-US" sz="2800" b="1" dirty="0">
                <a:solidFill>
                  <a:srgbClr val="FFD999"/>
                </a:solidFill>
              </a:rPr>
              <a:t>WebSockets </a:t>
            </a:r>
            <a:r>
              <a:rPr lang="en-US" sz="2800" dirty="0">
                <a:solidFill>
                  <a:srgbClr val="FFFFFF"/>
                </a:solidFill>
              </a:rPr>
              <a:t>- persistent connections</a:t>
            </a:r>
          </a:p>
          <a:p>
            <a:pPr marL="538163" indent="-355600" algn="l">
              <a:spcBef>
                <a:spcPts val="600"/>
              </a:spcBef>
              <a:buFont typeface="Arial"/>
              <a:buChar char="•"/>
            </a:pPr>
            <a:r>
              <a:rPr lang="en-US" sz="2800" b="1" dirty="0">
                <a:solidFill>
                  <a:srgbClr val="FFD999"/>
                </a:solidFill>
              </a:rPr>
              <a:t>Heavy, sustained traffic </a:t>
            </a:r>
            <a:r>
              <a:rPr lang="en-US" sz="2800" dirty="0">
                <a:solidFill>
                  <a:srgbClr val="FFFFFF"/>
                </a:solidFill>
              </a:rPr>
              <a:t>- cheaper at scale</a:t>
            </a:r>
          </a:p>
          <a:p>
            <a:pPr marL="538163" indent="-355600" algn="l">
              <a:spcBef>
                <a:spcPts val="600"/>
              </a:spcBef>
              <a:buFont typeface="Arial"/>
              <a:buChar char="•"/>
            </a:pPr>
            <a:r>
              <a:rPr lang="en-US" sz="2800" b="1" dirty="0">
                <a:solidFill>
                  <a:srgbClr val="FFD999"/>
                </a:solidFill>
              </a:rPr>
              <a:t>Stateful workloads </a:t>
            </a:r>
            <a:r>
              <a:rPr lang="en-US" sz="2800" dirty="0">
                <a:solidFill>
                  <a:srgbClr val="FFFFFF"/>
                </a:solidFill>
              </a:rPr>
              <a:t>- local disk / memory</a:t>
            </a:r>
          </a:p>
        </p:txBody>
      </p:sp>
    </p:spTree>
    <p:extLst>
      <p:ext uri="{BB962C8B-B14F-4D97-AF65-F5344CB8AC3E}">
        <p14:creationId xmlns:p14="http://schemas.microsoft.com/office/powerpoint/2010/main" val="2914644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301ED-ABB6-D108-2CDE-6E1FDCE1B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4618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81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465473-3E6F-A71C-8881-15CEDDD5E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43" y="100750"/>
            <a:ext cx="10800601" cy="882654"/>
          </a:xfrm>
        </p:spPr>
        <p:txBody>
          <a:bodyPr>
            <a:normAutofit/>
          </a:bodyPr>
          <a:lstStyle/>
          <a:p>
            <a:r>
              <a:rPr lang="en-US" dirty="0"/>
              <a:t>Popular Cloud Providers</a:t>
            </a:r>
          </a:p>
        </p:txBody>
      </p:sp>
      <p:sp>
        <p:nvSpPr>
          <p:cNvPr id="2" name="Card Background">
            <a:extLst>
              <a:ext uri="{FF2B5EF4-FFF2-40B4-BE49-F238E27FC236}">
                <a16:creationId xmlns:a16="http://schemas.microsoft.com/office/drawing/2014/main" id="{568C04ED-E98B-4B06-BDD2-7F75D70237DF}"/>
              </a:ext>
            </a:extLst>
          </p:cNvPr>
          <p:cNvSpPr/>
          <p:nvPr/>
        </p:nvSpPr>
        <p:spPr bwMode="auto">
          <a:xfrm>
            <a:off x="470024" y="1532507"/>
            <a:ext cx="5481960" cy="4704805"/>
          </a:xfrm>
          <a:prstGeom prst="roundRect">
            <a:avLst>
              <a:gd name="adj" fmla="val 3653"/>
            </a:avLst>
          </a:prstGeom>
          <a:solidFill>
            <a:srgbClr val="212E31">
              <a:alpha val="80000"/>
            </a:srgb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3600" dirty="0"/>
              <a:t>🖥️ </a:t>
            </a:r>
            <a:r>
              <a:rPr lang="en-US" sz="3600" b="1" dirty="0">
                <a:solidFill>
                  <a:srgbClr val="FFD999"/>
                </a:solidFill>
              </a:rPr>
              <a:t>Server-based</a:t>
            </a:r>
          </a:p>
          <a:p>
            <a:pPr marL="457200" indent="-274638" algn="l">
              <a:spcBef>
                <a:spcPts val="600"/>
              </a:spcBef>
              <a:buFont typeface="Arial"/>
              <a:buChar char="•"/>
            </a:pPr>
            <a:r>
              <a:rPr lang="en-US" sz="2800" b="1" dirty="0">
                <a:solidFill>
                  <a:srgbClr val="FFD999"/>
                </a:solidFill>
              </a:rPr>
              <a:t>Digital Ocean</a:t>
            </a:r>
            <a:r>
              <a:rPr lang="en-US" sz="2800" dirty="0">
                <a:solidFill>
                  <a:srgbClr val="FFFFFF"/>
                </a:solidFill>
              </a:rPr>
              <a:t>: simple VPS + App Platform</a:t>
            </a:r>
          </a:p>
          <a:p>
            <a:pPr marL="457200" indent="-274638" algn="l">
              <a:spcBef>
                <a:spcPts val="600"/>
              </a:spcBef>
              <a:buFont typeface="Arial"/>
              <a:buChar char="•"/>
            </a:pPr>
            <a:r>
              <a:rPr lang="en-US" sz="2800" b="1" dirty="0">
                <a:solidFill>
                  <a:srgbClr val="FFD999"/>
                </a:solidFill>
              </a:rPr>
              <a:t>Render</a:t>
            </a:r>
            <a:r>
              <a:rPr lang="en-US" sz="2800" dirty="0">
                <a:solidFill>
                  <a:srgbClr val="FFFFFF"/>
                </a:solidFill>
              </a:rPr>
              <a:t>: Heroku alternative, easy PaaS</a:t>
            </a:r>
          </a:p>
          <a:p>
            <a:pPr marL="457200" indent="-274638" algn="l">
              <a:spcBef>
                <a:spcPts val="600"/>
              </a:spcBef>
              <a:buFont typeface="Arial"/>
              <a:buChar char="•"/>
            </a:pPr>
            <a:r>
              <a:rPr lang="en-US" sz="2800" b="1" dirty="0">
                <a:solidFill>
                  <a:srgbClr val="FFD999"/>
                </a:solidFill>
              </a:rPr>
              <a:t>Railway</a:t>
            </a:r>
            <a:r>
              <a:rPr lang="en-US" sz="2800" dirty="0">
                <a:solidFill>
                  <a:srgbClr val="FFFFFF"/>
                </a:solidFill>
              </a:rPr>
              <a:t>: deploy from Git, great dev experience</a:t>
            </a:r>
          </a:p>
          <a:p>
            <a:pPr marL="457200" indent="-274638" algn="l">
              <a:spcBef>
                <a:spcPts val="600"/>
              </a:spcBef>
              <a:buFont typeface="Arial"/>
              <a:buChar char="•"/>
            </a:pPr>
            <a:r>
              <a:rPr lang="en-US" sz="2800" b="1" dirty="0">
                <a:solidFill>
                  <a:srgbClr val="FFD999"/>
                </a:solidFill>
              </a:rPr>
              <a:t>AWS EC2 / ECS</a:t>
            </a:r>
            <a:r>
              <a:rPr lang="en-US" sz="2800" dirty="0">
                <a:solidFill>
                  <a:srgbClr val="FFFFFF"/>
                </a:solidFill>
              </a:rPr>
              <a:t>: industry standard, expensive</a:t>
            </a:r>
          </a:p>
        </p:txBody>
      </p:sp>
      <p:sp>
        <p:nvSpPr>
          <p:cNvPr id="3" name="Card Background">
            <a:extLst>
              <a:ext uri="{FF2B5EF4-FFF2-40B4-BE49-F238E27FC236}">
                <a16:creationId xmlns:a16="http://schemas.microsoft.com/office/drawing/2014/main" id="{1B388DEF-7CA9-4634-93B0-C024D0E7399B}"/>
              </a:ext>
            </a:extLst>
          </p:cNvPr>
          <p:cNvSpPr/>
          <p:nvPr/>
        </p:nvSpPr>
        <p:spPr bwMode="auto">
          <a:xfrm>
            <a:off x="6375524" y="1532506"/>
            <a:ext cx="5337100" cy="4704805"/>
          </a:xfrm>
          <a:prstGeom prst="roundRect">
            <a:avLst>
              <a:gd name="adj" fmla="val 4066"/>
            </a:avLst>
          </a:prstGeom>
          <a:solidFill>
            <a:srgbClr val="212E31">
              <a:alpha val="80000"/>
            </a:srgb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3600" dirty="0"/>
              <a:t>⚡ </a:t>
            </a:r>
            <a:r>
              <a:rPr lang="en-US" sz="3600" b="1" dirty="0">
                <a:solidFill>
                  <a:srgbClr val="FFD999"/>
                </a:solidFill>
              </a:rPr>
              <a:t>Serverless</a:t>
            </a:r>
          </a:p>
          <a:p>
            <a:pPr marL="457200" indent="-274638" algn="l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800" b="1" dirty="0">
                <a:solidFill>
                  <a:srgbClr val="FFD999"/>
                </a:solidFill>
              </a:rPr>
              <a:t>Vercel</a:t>
            </a:r>
            <a:r>
              <a:rPr lang="en-US" sz="2800" dirty="0">
                <a:solidFill>
                  <a:srgbClr val="FFFFFF"/>
                </a:solidFill>
              </a:rPr>
              <a:t>: built for Next.js</a:t>
            </a:r>
          </a:p>
          <a:p>
            <a:pPr marL="457200" indent="-274638" algn="l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800" b="1" dirty="0">
                <a:solidFill>
                  <a:srgbClr val="FFD999"/>
                </a:solidFill>
              </a:rPr>
              <a:t>Netlify</a:t>
            </a:r>
            <a:r>
              <a:rPr lang="en-US" sz="2800" dirty="0">
                <a:solidFill>
                  <a:srgbClr val="FFFFFF"/>
                </a:solidFill>
              </a:rPr>
              <a:t>: great for static + functions, works for Next.js</a:t>
            </a:r>
          </a:p>
          <a:p>
            <a:pPr marL="457200" indent="-274638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800" b="1" dirty="0">
                <a:solidFill>
                  <a:srgbClr val="FFD999"/>
                </a:solidFill>
              </a:rPr>
              <a:t>Cloudflare Workers</a:t>
            </a:r>
            <a:r>
              <a:rPr lang="en-US" sz="2800" dirty="0">
                <a:solidFill>
                  <a:srgbClr val="FFFFFF"/>
                </a:solidFill>
              </a:rPr>
              <a:t>: edge-first, ultra-fast</a:t>
            </a:r>
          </a:p>
          <a:p>
            <a:pPr marL="457200" indent="-274638" algn="l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800" b="1" dirty="0">
                <a:solidFill>
                  <a:srgbClr val="FFD999"/>
                </a:solidFill>
              </a:rPr>
              <a:t>AWS Lambda</a:t>
            </a:r>
            <a:r>
              <a:rPr lang="en-US" sz="2800" dirty="0">
                <a:solidFill>
                  <a:srgbClr val="FFFFFF"/>
                </a:solidFill>
              </a:rPr>
              <a:t>: most mature, huge ecosystem</a:t>
            </a:r>
          </a:p>
        </p:txBody>
      </p:sp>
    </p:spTree>
    <p:extLst>
      <p:ext uri="{BB962C8B-B14F-4D97-AF65-F5344CB8AC3E}">
        <p14:creationId xmlns:p14="http://schemas.microsoft.com/office/powerpoint/2010/main" val="363349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643CDE-8E68-9C4B-FB91-24D4665A30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09" y="1622475"/>
            <a:ext cx="10961783" cy="731785"/>
          </a:xfrm>
        </p:spPr>
        <p:txBody>
          <a:bodyPr anchor="ctr">
            <a:normAutofit fontScale="92500"/>
          </a:bodyPr>
          <a:lstStyle/>
          <a:p>
            <a:pPr>
              <a:lnSpc>
                <a:spcPct val="95000"/>
              </a:lnSpc>
            </a:pPr>
            <a:r>
              <a:rPr lang="en-US" sz="3200" dirty="0"/>
              <a:t>GitHub Integration, Env Variables, Production Database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940597-DAE4-91AA-835D-40DD830B3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109" y="563544"/>
            <a:ext cx="10961783" cy="1038689"/>
          </a:xfrm>
        </p:spPr>
        <p:txBody>
          <a:bodyPr anchor="ctr">
            <a:normAutofit/>
          </a:bodyPr>
          <a:lstStyle/>
          <a:p>
            <a:pPr>
              <a:lnSpc>
                <a:spcPct val="95000"/>
              </a:lnSpc>
            </a:pPr>
            <a:r>
              <a:rPr lang="en-US" sz="5400" dirty="0"/>
              <a:t>Deploying Next.js to Netlify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0A4B6420-A599-26A4-30DD-CAD7D736B99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80" b="5680"/>
          <a:stretch/>
        </p:blipFill>
        <p:spPr>
          <a:xfrm>
            <a:off x="2702120" y="2780928"/>
            <a:ext cx="6787758" cy="3384376"/>
          </a:xfrm>
          <a:prstGeom prst="rect">
            <a:avLst/>
          </a:prstGeom>
          <a:noFill/>
          <a:ln>
            <a:solidFill>
              <a:srgbClr val="63C5B0">
                <a:alpha val="60000"/>
              </a:srgbClr>
            </a:solidFill>
          </a:ln>
          <a:effectLst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17ECD-EE28-34AE-1128-57A5041596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2BF067CD-8E6B-4360-9AA8-C5DF2A48A6D1}" type="slidenum">
              <a:rPr lang="en-US" smtClean="0"/>
              <a:pPr>
                <a:spcAft>
                  <a:spcPts val="600"/>
                </a:spcAft>
              </a:pPr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99659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301ED-ABB6-D108-2CDE-6E1FDCE1B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4618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83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9D73C2-D5BB-D4BC-AAEA-036BBE5A64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2" y="1196125"/>
            <a:ext cx="11808715" cy="5561125"/>
          </a:xfrm>
        </p:spPr>
        <p:txBody>
          <a:bodyPr>
            <a:noAutofit/>
          </a:bodyPr>
          <a:lstStyle/>
          <a:p>
            <a:pPr marL="355600" indent="-355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3200" b="1" dirty="0">
                <a:solidFill>
                  <a:schemeClr val="accent4"/>
                </a:solidFill>
              </a:rPr>
              <a:t>Netlify</a:t>
            </a:r>
            <a:r>
              <a:rPr lang="en-US" sz="3200" dirty="0"/>
              <a:t> == </a:t>
            </a:r>
            <a:r>
              <a:rPr lang="en-US" sz="3200" b="1" dirty="0">
                <a:solidFill>
                  <a:schemeClr val="accent4"/>
                </a:solidFill>
              </a:rPr>
              <a:t>serverless hosting</a:t>
            </a:r>
            <a:r>
              <a:rPr lang="en-US" sz="3200" dirty="0"/>
              <a:t> for front-end projects</a:t>
            </a:r>
          </a:p>
          <a:p>
            <a:pPr marL="355600" indent="-355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3200" dirty="0"/>
              <a:t>Register at: </a:t>
            </a:r>
            <a:r>
              <a:rPr lang="en-US" sz="3200" dirty="0">
                <a:hlinkClick r:id="rId2"/>
              </a:rPr>
              <a:t>https://netlify.com</a:t>
            </a:r>
            <a:endParaRPr lang="en-US" sz="3200" dirty="0"/>
          </a:p>
          <a:p>
            <a:pPr marL="355600" indent="-355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3200" dirty="0"/>
              <a:t>Supports </a:t>
            </a:r>
            <a:r>
              <a:rPr lang="en-US" sz="3200" b="1" dirty="0">
                <a:solidFill>
                  <a:schemeClr val="accent4"/>
                </a:solidFill>
              </a:rPr>
              <a:t>Next.js </a:t>
            </a:r>
            <a:r>
              <a:rPr lang="en-US" sz="3200" dirty="0"/>
              <a:t>apps</a:t>
            </a:r>
          </a:p>
          <a:p>
            <a:pPr marL="355600" indent="-355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3200" dirty="0"/>
              <a:t>Connects to your </a:t>
            </a:r>
            <a:r>
              <a:rPr lang="en-US" sz="3200" b="1" dirty="0">
                <a:solidFill>
                  <a:schemeClr val="accent4"/>
                </a:solidFill>
              </a:rPr>
              <a:t>Git repo</a:t>
            </a:r>
          </a:p>
          <a:p>
            <a:pPr marL="355600" indent="-355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3200" b="1" dirty="0">
                <a:solidFill>
                  <a:schemeClr val="accent4"/>
                </a:solidFill>
              </a:rPr>
              <a:t>Auto-deploys</a:t>
            </a:r>
            <a:r>
              <a:rPr lang="en-US" sz="3200" dirty="0"/>
              <a:t> on every </a:t>
            </a:r>
            <a:r>
              <a:rPr lang="en-US" sz="3200" b="1" dirty="0">
                <a:solidFill>
                  <a:schemeClr val="accent4"/>
                </a:solidFill>
              </a:rPr>
              <a:t>push</a:t>
            </a:r>
          </a:p>
          <a:p>
            <a:pPr marL="355600" indent="-355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3200" b="1" dirty="0">
                <a:solidFill>
                  <a:schemeClr val="accent4"/>
                </a:solidFill>
              </a:rPr>
              <a:t>Preview deploys</a:t>
            </a:r>
            <a:r>
              <a:rPr lang="en-US" sz="3200" dirty="0"/>
              <a:t> per pull request</a:t>
            </a:r>
          </a:p>
          <a:p>
            <a:pPr marL="355600" indent="-355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3200" b="1" dirty="0">
                <a:solidFill>
                  <a:schemeClr val="accent4"/>
                </a:solidFill>
              </a:rPr>
              <a:t>Free tier </a:t>
            </a:r>
            <a:r>
              <a:rPr lang="en-US" sz="3200" dirty="0"/>
              <a:t>is </a:t>
            </a:r>
            <a:r>
              <a:rPr lang="en-US" sz="3200" b="1" dirty="0">
                <a:solidFill>
                  <a:schemeClr val="accent4"/>
                </a:solidFill>
              </a:rPr>
              <a:t>generous</a:t>
            </a:r>
            <a:r>
              <a:rPr lang="en-US" sz="3200" dirty="0"/>
              <a:t> for small projects</a:t>
            </a:r>
          </a:p>
          <a:p>
            <a:pPr marL="355600" indent="-35560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3200" dirty="0"/>
              <a:t>Built-in </a:t>
            </a:r>
            <a:r>
              <a:rPr lang="en-US" sz="3200" b="1" dirty="0">
                <a:solidFill>
                  <a:schemeClr val="accent4"/>
                </a:solidFill>
              </a:rPr>
              <a:t>CDN</a:t>
            </a:r>
            <a:r>
              <a:rPr lang="en-US" sz="3200" dirty="0"/>
              <a:t>,</a:t>
            </a:r>
            <a:r>
              <a:rPr lang="en-US" sz="3200" b="1" dirty="0">
                <a:solidFill>
                  <a:schemeClr val="accent4"/>
                </a:solidFill>
              </a:rPr>
              <a:t> HTTPS</a:t>
            </a:r>
            <a:r>
              <a:rPr lang="en-US" sz="3200" dirty="0"/>
              <a:t>,</a:t>
            </a:r>
            <a:r>
              <a:rPr lang="en-US" sz="3200" b="1" dirty="0">
                <a:solidFill>
                  <a:schemeClr val="accent4"/>
                </a:solidFill>
              </a:rPr>
              <a:t> custom domains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465473-3E6F-A71C-8881-15CEDDD5E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43" y="100750"/>
            <a:ext cx="10800601" cy="882654"/>
          </a:xfrm>
        </p:spPr>
        <p:txBody>
          <a:bodyPr>
            <a:normAutofit/>
          </a:bodyPr>
          <a:lstStyle/>
          <a:p>
            <a:r>
              <a:rPr lang="en-US" dirty="0"/>
              <a:t>Netlify: Serverless Hosting Platform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7DB91C-4C53-36DD-80CD-91B70B059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8268" y="2132856"/>
            <a:ext cx="4435602" cy="2160240"/>
          </a:xfrm>
          <a:prstGeom prst="roundRect">
            <a:avLst>
              <a:gd name="adj" fmla="val 3804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1647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84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Prepping the Project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299461E-3473-216D-EB53-F97AAEF6763A}"/>
              </a:ext>
            </a:extLst>
          </p:cNvPr>
          <p:cNvSpPr txBox="1">
            <a:spLocks/>
          </p:cNvSpPr>
          <p:nvPr/>
        </p:nvSpPr>
        <p:spPr>
          <a:xfrm>
            <a:off x="695400" y="1412776"/>
            <a:ext cx="10803414" cy="5044183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 algn="l">
              <a:spcBef>
                <a:spcPts val="0"/>
              </a:spcBef>
              <a:buNone/>
            </a:pPr>
            <a:r>
              <a:rPr lang="en-US" i="1" noProof="1">
                <a:solidFill>
                  <a:srgbClr val="98D8CB"/>
                </a:solidFill>
                <a:latin typeface="Consolas"/>
              </a:rPr>
              <a:t># .env — keep all secrets here</a:t>
            </a:r>
          </a:p>
          <a:p>
            <a:pPr algn="l">
              <a:spcBef>
                <a:spcPts val="0"/>
              </a:spcBef>
              <a:buNone/>
            </a:pPr>
            <a:r>
              <a:rPr lang="en-US" b="1" noProof="1">
                <a:solidFill>
                  <a:schemeClr val="accent4"/>
                </a:solidFill>
                <a:latin typeface="Consolas"/>
              </a:rPr>
              <a:t>DATABASE_URL</a:t>
            </a:r>
            <a:r>
              <a:rPr lang="en-US" noProof="1">
                <a:latin typeface="Consolas"/>
              </a:rPr>
              <a:t>=</a:t>
            </a:r>
            <a:r>
              <a:rPr lang="en-US" noProof="1">
                <a:solidFill>
                  <a:srgbClr val="98D8CB"/>
                </a:solidFill>
                <a:latin typeface="Consolas"/>
              </a:rPr>
              <a:t>postgresql://...</a:t>
            </a:r>
          </a:p>
          <a:p>
            <a:pPr algn="l">
              <a:spcBef>
                <a:spcPts val="0"/>
              </a:spcBef>
              <a:buNone/>
            </a:pPr>
            <a:r>
              <a:rPr lang="en-US" b="1" noProof="1">
                <a:solidFill>
                  <a:schemeClr val="accent4"/>
                </a:solidFill>
                <a:latin typeface="Consolas"/>
              </a:rPr>
              <a:t>JWT_SECRET</a:t>
            </a:r>
            <a:r>
              <a:rPr lang="en-US" noProof="1">
                <a:latin typeface="Consolas"/>
              </a:rPr>
              <a:t>=</a:t>
            </a:r>
            <a:r>
              <a:rPr lang="en-US" noProof="1">
                <a:solidFill>
                  <a:srgbClr val="98D8CB"/>
                </a:solidFill>
                <a:latin typeface="Consolas"/>
              </a:rPr>
              <a:t>&lt;random-32-bytes&gt;</a:t>
            </a:r>
          </a:p>
          <a:p>
            <a:pPr algn="l">
              <a:spcBef>
                <a:spcPts val="0"/>
              </a:spcBef>
              <a:buNone/>
            </a:pPr>
            <a:r>
              <a:rPr lang="en-US" b="1" noProof="1">
                <a:solidFill>
                  <a:schemeClr val="accent4"/>
                </a:solidFill>
                <a:latin typeface="Consolas"/>
              </a:rPr>
              <a:t>R2_URL</a:t>
            </a:r>
            <a:r>
              <a:rPr lang="en-US" noProof="1">
                <a:latin typeface="Consolas"/>
              </a:rPr>
              <a:t>=…</a:t>
            </a:r>
          </a:p>
          <a:p>
            <a:pPr algn="l">
              <a:spcBef>
                <a:spcPts val="0"/>
              </a:spcBef>
              <a:buNone/>
            </a:pPr>
            <a:r>
              <a:rPr lang="en-US" b="1" noProof="1">
                <a:solidFill>
                  <a:schemeClr val="accent4"/>
                </a:solidFill>
                <a:latin typeface="Consolas"/>
              </a:rPr>
              <a:t>R2_BUCKET</a:t>
            </a:r>
            <a:r>
              <a:rPr lang="en-US" noProof="1">
                <a:latin typeface="Consolas"/>
              </a:rPr>
              <a:t>=…</a:t>
            </a:r>
          </a:p>
          <a:p>
            <a:pPr algn="l">
              <a:spcBef>
                <a:spcPts val="0"/>
              </a:spcBef>
              <a:buNone/>
            </a:pPr>
            <a:r>
              <a:rPr lang="en-US" b="1" noProof="1">
                <a:solidFill>
                  <a:schemeClr val="accent4"/>
                </a:solidFill>
                <a:latin typeface="Consolas"/>
              </a:rPr>
              <a:t>R2_ACCESS_KEY_ID</a:t>
            </a:r>
            <a:r>
              <a:rPr lang="en-US" noProof="1">
                <a:latin typeface="Consolas"/>
              </a:rPr>
              <a:t>=…</a:t>
            </a:r>
          </a:p>
          <a:p>
            <a:pPr algn="l">
              <a:spcBef>
                <a:spcPts val="0"/>
              </a:spcBef>
              <a:buNone/>
            </a:pPr>
            <a:r>
              <a:rPr lang="en-US" b="1" noProof="1">
                <a:solidFill>
                  <a:schemeClr val="accent4"/>
                </a:solidFill>
                <a:latin typeface="Consolas"/>
              </a:rPr>
              <a:t>R2_SECRET_ACCESS_KEY</a:t>
            </a:r>
            <a:r>
              <a:rPr lang="en-US" noProof="1">
                <a:latin typeface="Consolas"/>
              </a:rPr>
              <a:t>=…</a:t>
            </a:r>
          </a:p>
          <a:p>
            <a:pPr algn="l">
              <a:spcBef>
                <a:spcPts val="0"/>
              </a:spcBef>
              <a:buNone/>
            </a:pPr>
            <a:r>
              <a:rPr lang="en-US" b="1" noProof="1">
                <a:solidFill>
                  <a:schemeClr val="accent4"/>
                </a:solidFill>
                <a:latin typeface="Consolas"/>
              </a:rPr>
              <a:t>R2_PUBLIC_URL</a:t>
            </a:r>
            <a:r>
              <a:rPr lang="en-US" noProof="1">
                <a:latin typeface="Consolas"/>
              </a:rPr>
              <a:t>=…</a:t>
            </a:r>
          </a:p>
          <a:p>
            <a:pPr>
              <a:spcBef>
                <a:spcPts val="0"/>
              </a:spcBef>
              <a:buNone/>
            </a:pPr>
            <a:endParaRPr lang="en-US" sz="1000" dirty="0"/>
          </a:p>
          <a:p>
            <a:pPr algn="l">
              <a:spcBef>
                <a:spcPts val="0"/>
              </a:spcBef>
              <a:buNone/>
            </a:pPr>
            <a:r>
              <a:rPr lang="en-US" i="1" noProof="1">
                <a:solidFill>
                  <a:srgbClr val="98D8CB"/>
                </a:solidFill>
                <a:latin typeface="Consolas"/>
              </a:rPr>
              <a:t># Add .env to .gitignore</a:t>
            </a:r>
          </a:p>
          <a:p>
            <a:pPr algn="l">
              <a:spcBef>
                <a:spcPts val="0"/>
              </a:spcBef>
              <a:buNone/>
            </a:pPr>
            <a:endParaRPr lang="en-US" sz="1000" i="1" noProof="1">
              <a:solidFill>
                <a:srgbClr val="98D8CB"/>
              </a:solidFill>
              <a:latin typeface="Consolas"/>
            </a:endParaRPr>
          </a:p>
          <a:p>
            <a:pPr algn="l">
              <a:spcBef>
                <a:spcPts val="0"/>
              </a:spcBef>
              <a:buNone/>
            </a:pPr>
            <a:r>
              <a:rPr lang="en-US" i="1" noProof="1">
                <a:solidFill>
                  <a:srgbClr val="98D8CB"/>
                </a:solidFill>
                <a:latin typeface="Consolas"/>
              </a:rPr>
              <a:t># Keep .env.example with empty values</a:t>
            </a:r>
            <a:endParaRPr lang="en-US" sz="2400" i="1" noProof="1">
              <a:solidFill>
                <a:srgbClr val="98D8CB"/>
              </a:solidFill>
              <a:latin typeface="Consola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6777E9-DF13-F512-14E3-D1542A3A2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104" y="1637829"/>
            <a:ext cx="4179737" cy="2297038"/>
          </a:xfrm>
          <a:prstGeom prst="roundRect">
            <a:avLst>
              <a:gd name="adj" fmla="val 2035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1403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D9A28-22A5-966F-5E4A-1D818B91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85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6EDEA-C103-E244-990F-DAA79D5BF7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/>
              <a:t>🤖 Use </a:t>
            </a:r>
            <a:r>
              <a:rPr lang="en-US" sz="3600" b="1" dirty="0">
                <a:solidFill>
                  <a:srgbClr val="FFD999"/>
                </a:solidFill>
              </a:rPr>
              <a:t>AI prompt</a:t>
            </a:r>
            <a:r>
              <a:rPr lang="en-US" sz="3600" dirty="0"/>
              <a:t> or the Git UI in </a:t>
            </a:r>
            <a:r>
              <a:rPr lang="en-US" sz="3600" b="1" dirty="0">
                <a:solidFill>
                  <a:schemeClr val="accent4"/>
                </a:solidFill>
              </a:rPr>
              <a:t>VS Code</a:t>
            </a:r>
            <a:r>
              <a:rPr lang="en-US" sz="3600" dirty="0"/>
              <a:t>:</a:t>
            </a:r>
          </a:p>
          <a:p>
            <a:endParaRPr lang="bg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E42CC-F368-12C1-49FF-5B5ECA5B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Push to GitHub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299461E-3473-216D-EB53-F97AAEF6763A}"/>
              </a:ext>
            </a:extLst>
          </p:cNvPr>
          <p:cNvSpPr txBox="1">
            <a:spLocks/>
          </p:cNvSpPr>
          <p:nvPr/>
        </p:nvSpPr>
        <p:spPr>
          <a:xfrm>
            <a:off x="551384" y="2129139"/>
            <a:ext cx="6480720" cy="4002873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defPPr>
              <a:defRPr lang="en-US"/>
            </a:defPPr>
            <a:lvl1pPr indent="0" defTabSz="12184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 i="0">
                <a:solidFill>
                  <a:schemeClr val="bg2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>
                <a:solidFill>
                  <a:schemeClr val="bg2"/>
                </a:solidFill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</a:defRPr>
            </a:lvl4pPr>
            <a:lvl5pPr marL="2152650" indent="-361950" defTabSz="1218438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>
                <a:solidFill>
                  <a:schemeClr val="bg2"/>
                </a:solidFill>
              </a:defRPr>
            </a:lvl5pPr>
            <a:lvl6pPr marL="335070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 algn="l">
              <a:spcBef>
                <a:spcPts val="0"/>
              </a:spcBef>
              <a:buNone/>
            </a:pPr>
            <a:r>
              <a:rPr lang="en-US" sz="3200" b="0" noProof="1">
                <a:latin typeface="+mn-lt"/>
              </a:rPr>
              <a:t>Initialize a git repo for this project: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3200" b="0" noProof="1">
                <a:latin typeface="+mn-lt"/>
              </a:rPr>
              <a:t> - Create a `</a:t>
            </a:r>
            <a:r>
              <a:rPr lang="en-US" sz="3200" noProof="1">
                <a:solidFill>
                  <a:srgbClr val="FFD999"/>
                </a:solidFill>
                <a:latin typeface="+mn-lt"/>
              </a:rPr>
              <a:t>.gitignore</a:t>
            </a:r>
            <a:r>
              <a:rPr lang="en-US" sz="3200" b="0" noProof="1">
                <a:latin typeface="+mn-lt"/>
              </a:rPr>
              <a:t>` for Node + Next.js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3200" b="0" noProof="1">
                <a:latin typeface="+mn-lt"/>
              </a:rPr>
              <a:t> - </a:t>
            </a:r>
            <a:r>
              <a:rPr lang="en-US" sz="3200" noProof="1">
                <a:solidFill>
                  <a:schemeClr val="accent4"/>
                </a:solidFill>
                <a:latin typeface="+mn-lt"/>
              </a:rPr>
              <a:t>Commit</a:t>
            </a:r>
            <a:r>
              <a:rPr lang="en-US" sz="3200" b="0" noProof="1">
                <a:latin typeface="+mn-lt"/>
              </a:rPr>
              <a:t> the code in the local Git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3200" b="0" noProof="1">
                <a:latin typeface="+mn-lt"/>
              </a:rPr>
              <a:t> - Create a GitHub repo </a:t>
            </a:r>
            <a:r>
              <a:rPr lang="en-US" sz="3200" noProof="1">
                <a:solidFill>
                  <a:schemeClr val="accent4"/>
                </a:solidFill>
                <a:latin typeface="+mn-lt"/>
              </a:rPr>
              <a:t>"blog-system-nextjs"</a:t>
            </a:r>
            <a:r>
              <a:rPr lang="en-US" sz="3200" b="0" noProof="1">
                <a:latin typeface="+mn-lt"/>
              </a:rPr>
              <a:t> (private)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3200" b="0" noProof="1">
                <a:latin typeface="+mn-lt"/>
              </a:rPr>
              <a:t> - </a:t>
            </a:r>
            <a:r>
              <a:rPr lang="en-US" sz="3200" noProof="1">
                <a:solidFill>
                  <a:srgbClr val="FFD999"/>
                </a:solidFill>
                <a:latin typeface="+mn-lt"/>
              </a:rPr>
              <a:t>Push</a:t>
            </a:r>
            <a:r>
              <a:rPr lang="en-US" sz="3200" b="0" noProof="1">
                <a:latin typeface="+mn-lt"/>
              </a:rPr>
              <a:t> the code to GitHub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17FDF5-D2E5-2B05-091E-C00B68B66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1684" y="2390652"/>
            <a:ext cx="4229425" cy="3172069"/>
          </a:xfrm>
          <a:prstGeom prst="roundRect">
            <a:avLst>
              <a:gd name="adj" fmla="val 1882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21353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301ED-ABB6-D108-2CDE-6E1FDCE1B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4618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86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9D73C2-D5BB-D4BC-AAEA-036BBE5A64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2" y="1196125"/>
            <a:ext cx="6768154" cy="5561125"/>
          </a:xfrm>
        </p:spPr>
        <p:txBody>
          <a:bodyPr>
            <a:noAutofit/>
          </a:bodyPr>
          <a:lstStyle/>
          <a:p>
            <a:pPr marL="355600" indent="-35560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3200" b="1" dirty="0">
                <a:solidFill>
                  <a:schemeClr val="accent4"/>
                </a:solidFill>
              </a:rPr>
              <a:t>Netlify.com</a:t>
            </a:r>
            <a:r>
              <a:rPr lang="en-US" sz="3200" dirty="0"/>
              <a:t> → </a:t>
            </a:r>
            <a:r>
              <a:rPr lang="en-US" sz="3200" b="1" dirty="0">
                <a:solidFill>
                  <a:schemeClr val="accent4"/>
                </a:solidFill>
              </a:rPr>
              <a:t>Add new site</a:t>
            </a:r>
            <a:r>
              <a:rPr lang="en-US" sz="3200" dirty="0"/>
              <a:t> → </a:t>
            </a:r>
            <a:r>
              <a:rPr lang="en-US" sz="3200" b="1" dirty="0">
                <a:solidFill>
                  <a:schemeClr val="accent4"/>
                </a:solidFill>
              </a:rPr>
              <a:t>Import from Git</a:t>
            </a:r>
          </a:p>
          <a:p>
            <a:pPr marL="355600" indent="-355600">
              <a:lnSpc>
                <a:spcPct val="100000"/>
              </a:lnSpc>
              <a:spcBef>
                <a:spcPts val="1200"/>
              </a:spcBef>
              <a:buFont typeface="Arial"/>
              <a:buChar char="•"/>
            </a:pPr>
            <a:r>
              <a:rPr lang="en-US" sz="3200" dirty="0"/>
              <a:t>Select </a:t>
            </a:r>
            <a:r>
              <a:rPr lang="en-US" sz="3200" b="1" dirty="0">
                <a:solidFill>
                  <a:schemeClr val="accent4"/>
                </a:solidFill>
              </a:rPr>
              <a:t>GitHub</a:t>
            </a:r>
            <a:r>
              <a:rPr lang="en-US" sz="3200" dirty="0"/>
              <a:t> → </a:t>
            </a:r>
            <a:r>
              <a:rPr lang="en-US" sz="3200" b="1" dirty="0">
                <a:solidFill>
                  <a:schemeClr val="accent4"/>
                </a:solidFill>
              </a:rPr>
              <a:t>authorize</a:t>
            </a:r>
            <a:r>
              <a:rPr lang="en-US" sz="3200" dirty="0"/>
              <a:t> the Netlify app</a:t>
            </a:r>
          </a:p>
          <a:p>
            <a:pPr marL="355600" indent="-355600">
              <a:lnSpc>
                <a:spcPct val="100000"/>
              </a:lnSpc>
              <a:spcBef>
                <a:spcPts val="1200"/>
              </a:spcBef>
              <a:buFont typeface="Arial"/>
              <a:buChar char="•"/>
            </a:pPr>
            <a:r>
              <a:rPr lang="en-US" sz="3200" dirty="0"/>
              <a:t>Pick the repo </a:t>
            </a:r>
            <a:r>
              <a:rPr lang="en-US" sz="3200" b="1" dirty="0">
                <a:solidFill>
                  <a:schemeClr val="accent4"/>
                </a:solidFill>
              </a:rPr>
              <a:t>blog-system-nextjs</a:t>
            </a:r>
          </a:p>
          <a:p>
            <a:pPr marL="355600" indent="-355600">
              <a:lnSpc>
                <a:spcPct val="100000"/>
              </a:lnSpc>
              <a:spcBef>
                <a:spcPts val="1200"/>
              </a:spcBef>
              <a:buFont typeface="Arial"/>
              <a:buChar char="•"/>
            </a:pPr>
            <a:r>
              <a:rPr lang="en-US" sz="3200" dirty="0"/>
              <a:t>Netlify </a:t>
            </a:r>
            <a:r>
              <a:rPr lang="en-US" sz="3200" b="1" dirty="0">
                <a:solidFill>
                  <a:schemeClr val="accent4"/>
                </a:solidFill>
              </a:rPr>
              <a:t>auto-detects Next.js</a:t>
            </a:r>
            <a:r>
              <a:rPr lang="en-US" sz="3200" b="1" dirty="0"/>
              <a:t>:</a:t>
            </a:r>
          </a:p>
          <a:p>
            <a:pPr marL="571500" lvl="1" indent="-342900">
              <a:lnSpc>
                <a:spcPct val="100000"/>
              </a:lnSpc>
              <a:spcBef>
                <a:spcPts val="400"/>
              </a:spcBef>
            </a:pPr>
            <a:r>
              <a:rPr lang="en-US" dirty="0"/>
              <a:t>Build command: </a:t>
            </a:r>
            <a:r>
              <a:rPr lang="en-US" b="1" dirty="0">
                <a:solidFill>
                  <a:schemeClr val="accent4"/>
                </a:solidFill>
              </a:rPr>
              <a:t>next build</a:t>
            </a:r>
          </a:p>
          <a:p>
            <a:pPr marL="571500" lvl="1" indent="-342900">
              <a:lnSpc>
                <a:spcPct val="100000"/>
              </a:lnSpc>
              <a:spcBef>
                <a:spcPts val="400"/>
              </a:spcBef>
            </a:pPr>
            <a:r>
              <a:rPr lang="en-US" dirty="0"/>
              <a:t>Publish directory: </a:t>
            </a:r>
            <a:r>
              <a:rPr lang="en-US" b="1" dirty="0">
                <a:solidFill>
                  <a:schemeClr val="accent4"/>
                </a:solidFill>
              </a:rPr>
              <a:t>.next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465473-3E6F-A71C-8881-15CEDDD5E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43" y="100750"/>
            <a:ext cx="10800601" cy="882654"/>
          </a:xfrm>
        </p:spPr>
        <p:txBody>
          <a:bodyPr>
            <a:normAutofit/>
          </a:bodyPr>
          <a:lstStyle/>
          <a:p>
            <a:r>
              <a:rPr lang="en-US" dirty="0"/>
              <a:t>Step 2: Connect Netlify to GitHub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18A5EC-ED9E-B4FC-8AC9-BD0936D34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732" y="1484784"/>
            <a:ext cx="4650886" cy="4176464"/>
          </a:xfrm>
          <a:prstGeom prst="roundRect">
            <a:avLst>
              <a:gd name="adj" fmla="val 1870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9157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301ED-ABB6-D108-2CDE-6E1FDCE1B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4618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87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9D73C2-D5BB-D4BC-AAEA-036BBE5A64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1" y="1196125"/>
            <a:ext cx="5175893" cy="5561125"/>
          </a:xfrm>
        </p:spPr>
        <p:txBody>
          <a:bodyPr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3200" dirty="0"/>
              <a:t>Add all vars from </a:t>
            </a:r>
            <a:r>
              <a:rPr lang="en-US" sz="3200" b="1" dirty="0">
                <a:solidFill>
                  <a:schemeClr val="accent4"/>
                </a:solidFill>
              </a:rPr>
              <a:t>.env</a:t>
            </a:r>
          </a:p>
          <a:p>
            <a:pPr marL="228600" indent="-22860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3200" b="1" dirty="0">
                <a:solidFill>
                  <a:schemeClr val="accent4"/>
                </a:solidFill>
              </a:rPr>
              <a:t>Netlify</a:t>
            </a:r>
            <a:r>
              <a:rPr lang="en-US" sz="3200" dirty="0"/>
              <a:t> → </a:t>
            </a:r>
            <a:r>
              <a:rPr lang="en-US" sz="3200" b="1" dirty="0">
                <a:solidFill>
                  <a:schemeClr val="accent4"/>
                </a:solidFill>
              </a:rPr>
              <a:t>Site settings</a:t>
            </a:r>
            <a:r>
              <a:rPr lang="en-US" sz="3200" dirty="0"/>
              <a:t> → </a:t>
            </a:r>
            <a:r>
              <a:rPr lang="en-US" sz="3200" b="1" dirty="0">
                <a:solidFill>
                  <a:schemeClr val="accent4"/>
                </a:solidFill>
              </a:rPr>
              <a:t>Environment variables</a:t>
            </a:r>
          </a:p>
          <a:p>
            <a:pPr marL="228600" indent="-22860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endParaRPr lang="en-US" sz="3200" b="1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465473-3E6F-A71C-8881-15CEDDD5E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43" y="100750"/>
            <a:ext cx="10800601" cy="882654"/>
          </a:xfrm>
        </p:spPr>
        <p:txBody>
          <a:bodyPr>
            <a:noAutofit/>
          </a:bodyPr>
          <a:lstStyle/>
          <a:p>
            <a:r>
              <a:rPr lang="en-US" sz="3800" dirty="0"/>
              <a:t>Step 3: Configure Environment Variables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D4A29E-E7BC-2D78-BFB1-7D4253451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936" y="1556792"/>
            <a:ext cx="6162674" cy="4489860"/>
          </a:xfrm>
          <a:prstGeom prst="roundRect">
            <a:avLst>
              <a:gd name="adj" fmla="val 1870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18B828F-D131-4DC2-2362-AC154C98F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90" y="3085039"/>
            <a:ext cx="4506490" cy="3398337"/>
          </a:xfrm>
          <a:prstGeom prst="roundRect">
            <a:avLst>
              <a:gd name="adj" fmla="val 1870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38855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301ED-ABB6-D108-2CDE-6E1FDCE1B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4618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88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9D73C2-D5BB-D4BC-AAEA-036BBE5A64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2" y="1196125"/>
            <a:ext cx="7416226" cy="5561125"/>
          </a:xfrm>
        </p:spPr>
        <p:txBody>
          <a:bodyPr>
            <a:noAutofit/>
          </a:bodyPr>
          <a:lstStyle/>
          <a:p>
            <a:pPr marL="355600" indent="-35560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3200" dirty="0"/>
              <a:t>Netlify gives you a URL: </a:t>
            </a:r>
            <a:r>
              <a:rPr lang="en-US" sz="3200" b="1" dirty="0">
                <a:solidFill>
                  <a:schemeClr val="accent4"/>
                </a:solidFill>
              </a:rPr>
              <a:t>https://&lt;name&gt;.netlify.app</a:t>
            </a:r>
          </a:p>
          <a:p>
            <a:pPr marL="355600" indent="-35560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3200" b="1" dirty="0">
                <a:solidFill>
                  <a:schemeClr val="accent4"/>
                </a:solidFill>
              </a:rPr>
              <a:t>Smoke tests</a:t>
            </a:r>
            <a:r>
              <a:rPr lang="en-US" sz="3200" b="1" dirty="0"/>
              <a:t> </a:t>
            </a:r>
            <a:r>
              <a:rPr lang="en-US" sz="3200" dirty="0"/>
              <a:t>to run:</a:t>
            </a:r>
          </a:p>
          <a:p>
            <a:pPr marL="685800" lvl="1" indent="-457200">
              <a:lnSpc>
                <a:spcPct val="100000"/>
              </a:lnSpc>
              <a:spcBef>
                <a:spcPts val="400"/>
              </a:spcBef>
            </a:pPr>
            <a:r>
              <a:rPr lang="en-US" sz="2800" dirty="0"/>
              <a:t>Home page </a:t>
            </a:r>
            <a:r>
              <a:rPr lang="en-US" sz="2800" b="1" dirty="0">
                <a:solidFill>
                  <a:schemeClr val="accent4"/>
                </a:solidFill>
              </a:rPr>
              <a:t>loads posts</a:t>
            </a:r>
          </a:p>
          <a:p>
            <a:pPr marL="685800" lvl="1" indent="-457200">
              <a:lnSpc>
                <a:spcPct val="100000"/>
              </a:lnSpc>
              <a:spcBef>
                <a:spcPts val="400"/>
              </a:spcBef>
            </a:pPr>
            <a:r>
              <a:rPr lang="en-US" sz="2800" b="1" dirty="0">
                <a:solidFill>
                  <a:schemeClr val="accent4"/>
                </a:solidFill>
              </a:rPr>
              <a:t>Register + login</a:t>
            </a:r>
            <a:r>
              <a:rPr lang="en-US" sz="2800" dirty="0"/>
              <a:t> works</a:t>
            </a:r>
          </a:p>
          <a:p>
            <a:pPr marL="685800" lvl="1" indent="-457200">
              <a:lnSpc>
                <a:spcPct val="100000"/>
              </a:lnSpc>
              <a:spcBef>
                <a:spcPts val="400"/>
              </a:spcBef>
            </a:pPr>
            <a:r>
              <a:rPr lang="en-US" sz="2800" dirty="0"/>
              <a:t>Create post + </a:t>
            </a:r>
            <a:r>
              <a:rPr lang="en-US" sz="2800" b="1" dirty="0">
                <a:solidFill>
                  <a:schemeClr val="accent4"/>
                </a:solidFill>
              </a:rPr>
              <a:t>image upload</a:t>
            </a:r>
            <a:r>
              <a:rPr lang="en-US" sz="2800" dirty="0"/>
              <a:t> works</a:t>
            </a:r>
          </a:p>
          <a:p>
            <a:pPr marL="685800" lvl="1" indent="-457200">
              <a:lnSpc>
                <a:spcPct val="100000"/>
              </a:lnSpc>
              <a:spcBef>
                <a:spcPts val="400"/>
              </a:spcBef>
            </a:pPr>
            <a:r>
              <a:rPr lang="en-US" sz="2800" dirty="0"/>
              <a:t>DB queries hit the </a:t>
            </a:r>
            <a:r>
              <a:rPr lang="en-US" sz="2800" b="1" dirty="0">
                <a:solidFill>
                  <a:schemeClr val="accent4"/>
                </a:solidFill>
              </a:rPr>
              <a:t>Neon production branch</a:t>
            </a:r>
          </a:p>
          <a:p>
            <a:pPr marL="355600" indent="-355600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lang="en-US" sz="3200" dirty="0"/>
              <a:t>Check </a:t>
            </a:r>
            <a:r>
              <a:rPr lang="en-US" sz="3200" b="1" dirty="0">
                <a:solidFill>
                  <a:schemeClr val="accent4"/>
                </a:solidFill>
              </a:rPr>
              <a:t>build + function logs</a:t>
            </a:r>
            <a:r>
              <a:rPr lang="en-US" sz="3200" dirty="0"/>
              <a:t> for errors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465473-3E6F-A71C-8881-15CEDDD5E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43" y="100750"/>
            <a:ext cx="10800601" cy="882654"/>
          </a:xfrm>
        </p:spPr>
        <p:txBody>
          <a:bodyPr>
            <a:normAutofit/>
          </a:bodyPr>
          <a:lstStyle/>
          <a:p>
            <a:r>
              <a:rPr lang="en-US" dirty="0"/>
              <a:t>Step 4: Test the Deployed App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0A17FA-C0E0-80C1-F148-050079D5D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268" y="1412776"/>
            <a:ext cx="4050142" cy="5009386"/>
          </a:xfrm>
          <a:prstGeom prst="roundRect">
            <a:avLst>
              <a:gd name="adj" fmla="val 1870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10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77FEB5-ADB0-8BE5-9292-B8DFC8F1D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89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0F1E94B-AAF9-F351-DD85-946AD535A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Watch for Errors in Netlify Logs</a:t>
            </a:r>
            <a:endParaRPr lang="bg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9AEB25-3F69-7ADA-8319-462D1C6AF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03" y="1340768"/>
            <a:ext cx="11595194" cy="5238356"/>
          </a:xfrm>
          <a:prstGeom prst="roundRect">
            <a:avLst>
              <a:gd name="adj" fmla="val 1261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824904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A0BA697-57BD-15F8-0581-124F645C6B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392" y="1484784"/>
            <a:ext cx="11233248" cy="4950371"/>
          </a:xfrm>
        </p:spPr>
        <p:txBody>
          <a:bodyPr>
            <a:normAutofit fontScale="92500"/>
          </a:bodyPr>
          <a:lstStyle/>
          <a:p>
            <a:pPr marL="265113" indent="-265113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en-US" sz="3200" b="1" dirty="0">
                <a:solidFill>
                  <a:schemeClr val="accent4"/>
                </a:solidFill>
              </a:rPr>
              <a:t>Neon</a:t>
            </a:r>
            <a:r>
              <a:rPr lang="en-US" sz="3200" dirty="0"/>
              <a:t>: serverless PostgreSQL with Git-like branches</a:t>
            </a:r>
          </a:p>
          <a:p>
            <a:pPr marL="265113" indent="-265113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en-US" sz="3200" b="1" dirty="0">
                <a:solidFill>
                  <a:schemeClr val="accent4"/>
                </a:solidFill>
              </a:rPr>
              <a:t>Drizzle ORM</a:t>
            </a:r>
            <a:r>
              <a:rPr lang="en-US" sz="3200" dirty="0"/>
              <a:t>: TypeScript-first, → lightweight, serverless-friendly, auto migrations (schema →</a:t>
            </a:r>
            <a:r>
              <a:rPr lang="en-US" sz="3200" dirty="0">
                <a:sym typeface="Wingdings" panose="05000000000000000000" pitchFamily="2" charset="2"/>
              </a:rPr>
              <a:t> create migration </a:t>
            </a:r>
            <a:r>
              <a:rPr lang="en-US" sz="3200" dirty="0"/>
              <a:t>→</a:t>
            </a:r>
            <a:r>
              <a:rPr lang="en-US" sz="3200" dirty="0">
                <a:sym typeface="Wingdings" panose="05000000000000000000" pitchFamily="2" charset="2"/>
              </a:rPr>
              <a:t> migrate</a:t>
            </a:r>
            <a:r>
              <a:rPr lang="en-US" sz="3200" dirty="0"/>
              <a:t>)</a:t>
            </a:r>
          </a:p>
          <a:p>
            <a:pPr marL="265113" indent="-265113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en-US" sz="3200" b="1" dirty="0">
                <a:solidFill>
                  <a:schemeClr val="accent4"/>
                </a:solidFill>
              </a:rPr>
              <a:t>Next.js</a:t>
            </a:r>
            <a:r>
              <a:rPr lang="en-US" sz="3200" dirty="0"/>
              <a:t>: API + UI in one framework, ideal for AI-assisted dev</a:t>
            </a:r>
          </a:p>
          <a:p>
            <a:pPr marL="265113" indent="-265113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en-US" sz="3200" b="1" dirty="0">
                <a:solidFill>
                  <a:schemeClr val="accent4"/>
                </a:solidFill>
              </a:rPr>
              <a:t>JWT + </a:t>
            </a:r>
            <a:r>
              <a:rPr lang="en-US" sz="3200" b="1" noProof="1">
                <a:solidFill>
                  <a:schemeClr val="accent4"/>
                </a:solidFill>
              </a:rPr>
              <a:t>bcrypt</a:t>
            </a:r>
            <a:r>
              <a:rPr lang="en-US" sz="3200" dirty="0"/>
              <a:t>: classic stateless authentication in APIs</a:t>
            </a:r>
          </a:p>
          <a:p>
            <a:pPr marL="265113" indent="-265113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en-US" sz="3200" b="1" dirty="0">
                <a:solidFill>
                  <a:schemeClr val="accent4"/>
                </a:solidFill>
              </a:rPr>
              <a:t>Cloudflare R2</a:t>
            </a:r>
            <a:r>
              <a:rPr lang="en-US" sz="3200" dirty="0"/>
              <a:t>: file storage, S3-compatible, no egress fees</a:t>
            </a:r>
          </a:p>
          <a:p>
            <a:pPr marL="265113" indent="-265113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en-US" sz="3200" b="1" dirty="0">
                <a:solidFill>
                  <a:schemeClr val="accent4"/>
                </a:solidFill>
              </a:rPr>
              <a:t>Jest + Playwright</a:t>
            </a:r>
            <a:r>
              <a:rPr lang="en-US" sz="3200" dirty="0"/>
              <a:t>: unit + integration + E2E testing in TS</a:t>
            </a:r>
          </a:p>
          <a:p>
            <a:pPr marL="265113" indent="-265113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en-US" sz="3200" b="1" dirty="0">
                <a:solidFill>
                  <a:schemeClr val="accent4"/>
                </a:solidFill>
              </a:rPr>
              <a:t>Netlify</a:t>
            </a:r>
            <a:r>
              <a:rPr lang="en-US" sz="3200" dirty="0"/>
              <a:t>: push to Git → configure env</a:t>
            </a:r>
            <a:r>
              <a:rPr lang="bg-BG" sz="3200" dirty="0"/>
              <a:t> </a:t>
            </a:r>
            <a:r>
              <a:rPr lang="en-US" sz="3200" dirty="0"/>
              <a:t>→ deploy Next.js</a:t>
            </a:r>
          </a:p>
        </p:txBody>
      </p:sp>
      <p:sp>
        <p:nvSpPr>
          <p:cNvPr id="976" name="Google Shape;976;p53"/>
          <p:cNvSpPr txBox="1">
            <a:spLocks noGrp="1"/>
          </p:cNvSpPr>
          <p:nvPr>
            <p:ph type="sldNum" sz="quarter" idx="5"/>
          </p:nvPr>
        </p:nvSpPr>
        <p:spPr>
          <a:xfrm>
            <a:off x="11800338" y="6537480"/>
            <a:ext cx="367414" cy="297000"/>
          </a:xfr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pPr lvl="0"/>
            <a:fld id="{00000000-1234-1234-1234-123412341234}" type="slidenum">
              <a:rPr lang="bg-BG"/>
              <a:pPr lvl="0"/>
              <a:t>90</a:t>
            </a:fld>
            <a:endParaRPr lang="bg-BG" dirty="0"/>
          </a:p>
        </p:txBody>
      </p:sp>
      <p:sp>
        <p:nvSpPr>
          <p:cNvPr id="977" name="Google Shape;977;p53"/>
          <p:cNvSpPr txBox="1">
            <a:spLocks noGrp="1"/>
          </p:cNvSpPr>
          <p:nvPr>
            <p:ph type="title"/>
          </p:nvPr>
        </p:nvSpPr>
        <p:spPr>
          <a:xfrm>
            <a:off x="191944" y="100750"/>
            <a:ext cx="10800601" cy="882654"/>
          </a:xfrm>
          <a:noFill/>
          <a:ln>
            <a:noFill/>
          </a:ln>
        </p:spPr>
        <p:txBody>
          <a:bodyPr spcFirstLastPara="1" vert="horz" wrap="square" lIns="108000" tIns="36000" rIns="108000" bIns="36000" rtlCol="0" anchor="ctr" anchorCtr="0">
            <a:normAutofit/>
          </a:bodyPr>
          <a:lstStyle/>
          <a:p>
            <a:pPr lvl="0"/>
            <a:r>
              <a:rPr lang="en-US" dirty="0"/>
              <a:t>Lesson Summary</a:t>
            </a:r>
          </a:p>
        </p:txBody>
      </p:sp>
    </p:spTree>
    <p:extLst>
      <p:ext uri="{BB962C8B-B14F-4D97-AF65-F5344CB8AC3E}">
        <p14:creationId xmlns:p14="http://schemas.microsoft.com/office/powerpoint/2010/main" val="2681775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FB656-4854-9BF1-C9B6-5D131E08B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  <a:r>
              <a:rPr lang="bg-BG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1008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1E9FB0-85E1-4419-BB38-2169390291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6370" y="1196752"/>
            <a:ext cx="11852505" cy="547260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sz="2400" dirty="0"/>
              <a:t>One of the </a:t>
            </a:r>
            <a:r>
              <a:rPr lang="en-US" sz="2400" b="1" dirty="0">
                <a:solidFill>
                  <a:schemeClr val="accent4"/>
                </a:solidFill>
              </a:rPr>
              <a:t>leading banking institutions</a:t>
            </a:r>
            <a:r>
              <a:rPr lang="en-US" sz="2400" b="1" dirty="0"/>
              <a:t> </a:t>
            </a:r>
            <a:r>
              <a:rPr lang="en-US" sz="2400" dirty="0"/>
              <a:t>in Bulgaria,</a:t>
            </a:r>
            <a:br>
              <a:rPr lang="en-US" sz="2400" dirty="0"/>
            </a:br>
            <a:r>
              <a:rPr lang="en-US" sz="2400" dirty="0"/>
              <a:t>part of Eurobank Group</a:t>
            </a:r>
            <a:endParaRPr lang="bg-BG" sz="2400" dirty="0"/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sz="2400" b="1" dirty="0">
                <a:solidFill>
                  <a:schemeClr val="accent4"/>
                </a:solidFill>
              </a:rPr>
              <a:t>Innovative leader </a:t>
            </a:r>
            <a:r>
              <a:rPr lang="en-US" sz="2400" dirty="0"/>
              <a:t>in next-generation banking</a:t>
            </a:r>
            <a:endParaRPr lang="bg-BG" sz="2400" dirty="0"/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sz="2400" b="1" dirty="0">
                <a:solidFill>
                  <a:schemeClr val="accent4"/>
                </a:solidFill>
              </a:rPr>
              <a:t>Beyond Banking</a:t>
            </a:r>
            <a:r>
              <a:rPr lang="en-US" sz="2400" b="1" dirty="0"/>
              <a:t> </a:t>
            </a:r>
            <a:r>
              <a:rPr lang="en-US" sz="2400" dirty="0"/>
              <a:t>– the new </a:t>
            </a:r>
            <a:r>
              <a:rPr lang="en-US" sz="2800" dirty="0"/>
              <a:t>standard</a:t>
            </a:r>
            <a:r>
              <a:rPr lang="en-US" sz="2400" dirty="0"/>
              <a:t> for a complete</a:t>
            </a:r>
            <a:br>
              <a:rPr lang="en-US" sz="2400" dirty="0"/>
            </a:br>
            <a:r>
              <a:rPr lang="en-US" sz="2400" dirty="0"/>
              <a:t>customer experience beyond traditional banking</a:t>
            </a:r>
            <a:endParaRPr lang="bg-BG" sz="2400" dirty="0"/>
          </a:p>
          <a:p>
            <a:pPr lvl="0">
              <a:lnSpc>
                <a:spcPct val="100000"/>
              </a:lnSpc>
              <a:spcAft>
                <a:spcPts val="300"/>
              </a:spcAft>
              <a:buClr>
                <a:srgbClr val="63C5B0"/>
              </a:buClr>
            </a:pPr>
            <a:r>
              <a:rPr lang="en-US" sz="2400" b="1" dirty="0">
                <a:solidFill>
                  <a:schemeClr val="accent4"/>
                </a:solidFill>
              </a:rPr>
              <a:t>AI integration</a:t>
            </a:r>
            <a:r>
              <a:rPr lang="en-US" sz="2400" dirty="0">
                <a:solidFill>
                  <a:srgbClr val="FFFFFF"/>
                </a:solidFill>
              </a:rPr>
              <a:t> for business, learning and development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sz="2400" b="1" dirty="0">
                <a:solidFill>
                  <a:schemeClr val="accent4"/>
                </a:solidFill>
              </a:rPr>
              <a:t>AI Assistants for talents</a:t>
            </a:r>
            <a:r>
              <a:rPr lang="en-US" sz="2400" dirty="0">
                <a:solidFill>
                  <a:schemeClr val="accent4"/>
                </a:solidFill>
              </a:rPr>
              <a:t>: </a:t>
            </a:r>
            <a:r>
              <a:rPr lang="en-US" sz="2400" dirty="0"/>
              <a:t>Story Builder, CV Assistant, Interview Trainer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sz="2400" dirty="0"/>
              <a:t>Internationally certified </a:t>
            </a:r>
            <a:r>
              <a:rPr lang="en-US" sz="2400" b="1" dirty="0">
                <a:solidFill>
                  <a:schemeClr val="accent4"/>
                </a:solidFill>
              </a:rPr>
              <a:t>Top Employer 2026 </a:t>
            </a:r>
            <a:r>
              <a:rPr lang="en-US" sz="2400" dirty="0"/>
              <a:t>by the Top Employers Institute</a:t>
            </a:r>
            <a:endParaRPr lang="bg-BG" sz="2400" dirty="0"/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sz="2400" dirty="0"/>
              <a:t>Commitment to people and </a:t>
            </a:r>
            <a:r>
              <a:rPr lang="en-US" sz="2400" b="1" dirty="0">
                <a:solidFill>
                  <a:schemeClr val="accent4"/>
                </a:solidFill>
              </a:rPr>
              <a:t>wellbeing</a:t>
            </a:r>
            <a:r>
              <a:rPr lang="en-US" sz="2400" b="1" dirty="0"/>
              <a:t> </a:t>
            </a:r>
            <a:r>
              <a:rPr lang="en-US" sz="2400" dirty="0"/>
              <a:t>initiatives - additional </a:t>
            </a:r>
            <a:r>
              <a:rPr lang="en-US" sz="2400" b="1" dirty="0">
                <a:solidFill>
                  <a:schemeClr val="accent4"/>
                </a:solidFill>
              </a:rPr>
              <a:t>benefits, professional, personal, and leadership</a:t>
            </a:r>
            <a:r>
              <a:rPr lang="en-US" sz="2400" dirty="0"/>
              <a:t> trainings</a:t>
            </a:r>
            <a:endParaRPr lang="bg-BG" sz="2400" dirty="0"/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sz="2400" dirty="0"/>
              <a:t>Take your </a:t>
            </a:r>
            <a:r>
              <a:rPr lang="en-US" sz="2400" b="1" dirty="0">
                <a:solidFill>
                  <a:schemeClr val="accent4"/>
                </a:solidFill>
              </a:rPr>
              <a:t>course, pay in installments</a:t>
            </a:r>
            <a:r>
              <a:rPr lang="en-US" sz="2400" dirty="0"/>
              <a:t>, remotely in minutes. Learn more </a:t>
            </a:r>
            <a:r>
              <a:rPr lang="en-US" sz="2400" dirty="0">
                <a:hlinkClick r:id="rId2"/>
              </a:rPr>
              <a:t>HERE</a:t>
            </a:r>
            <a:endParaRPr lang="bg-BG" sz="2400" dirty="0"/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sz="2400" dirty="0">
                <a:ea typeface="Aptos" panose="020B0004020202020204" pitchFamily="34" charset="0"/>
              </a:rPr>
              <a:t>Explore </a:t>
            </a:r>
            <a:r>
              <a:rPr lang="en-US" sz="2400" b="1" dirty="0">
                <a:solidFill>
                  <a:schemeClr val="accent4"/>
                </a:solidFill>
                <a:ea typeface="Aptos" panose="020B0004020202020204" pitchFamily="34" charset="0"/>
              </a:rPr>
              <a:t>career opportunities</a:t>
            </a:r>
            <a:r>
              <a:rPr lang="bg-BG" sz="2400" b="1" dirty="0">
                <a:solidFill>
                  <a:schemeClr val="accent4"/>
                </a:solidFill>
                <a:ea typeface="Aptos" panose="020B0004020202020204" pitchFamily="34" charset="0"/>
              </a:rPr>
              <a:t>: </a:t>
            </a:r>
            <a:r>
              <a:rPr lang="en-US" sz="2400" i="1" u="sng" dirty="0">
                <a:hlinkClick r:id="rId3"/>
              </a:rPr>
              <a:t>www.careers.postbank.bg</a:t>
            </a:r>
            <a:endParaRPr lang="en-US" sz="2400" i="1" u="sn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14A740E-E736-47BF-BCB7-C4BC9C05A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SoftUni AI Exclusive Partner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1557" y="6506199"/>
            <a:ext cx="367318" cy="296923"/>
          </a:xfrm>
          <a:prstGeom prst="rect">
            <a:avLst/>
          </a:prstGeom>
        </p:spPr>
        <p:txBody>
          <a:bodyPr vert="horz" lIns="91416" tIns="45708" rIns="91416" bIns="45708" rtlCol="0" anchor="b"/>
          <a:lstStyle>
            <a:lvl1pPr algn="r"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F067CD-8E6B-4360-9AA8-C5DF2A48A6D1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3C5B0">
                    <a:lumMod val="75000"/>
                  </a:srgbClr>
                </a:solidFill>
                <a:effectLst/>
                <a:uLnTx/>
                <a:uFillTx/>
                <a:latin typeface="Roboto"/>
                <a:ea typeface="Calibri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63C5B0">
                  <a:lumMod val="75000"/>
                </a:srgbClr>
              </a:solidFill>
              <a:effectLst/>
              <a:uLnTx/>
              <a:uFillTx/>
              <a:latin typeface="Roboto"/>
              <a:ea typeface="Calibri"/>
              <a:cs typeface="+mn-cs"/>
            </a:endParaRPr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451DD72B-5D0B-F8A8-6C10-D605A5DE34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6416" y="1372725"/>
            <a:ext cx="3132192" cy="881118"/>
          </a:xfrm>
          <a:prstGeom prst="rect">
            <a:avLst/>
          </a:prstGeom>
        </p:spPr>
      </p:pic>
      <p:pic>
        <p:nvPicPr>
          <p:cNvPr id="2" name="Picture 1" descr="A red and white sign with white text&#10;&#10;AI-generated content may be incorrect.">
            <a:extLst>
              <a:ext uri="{FF2B5EF4-FFF2-40B4-BE49-F238E27FC236}">
                <a16:creationId xmlns:a16="http://schemas.microsoft.com/office/drawing/2014/main" id="{6F064771-0813-ED52-72AA-98E540659D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347" y="2852937"/>
            <a:ext cx="1607547" cy="74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80647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D085D2-301C-D855-6375-DC447ABCB9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  <a:tabLst/>
                <a:defRPr/>
              </a:pPr>
              <a:t>93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629804C-BF3D-66BA-9097-BE92BD49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b="1" dirty="0"/>
              <a:t>SoftUni Diamond Partners</a:t>
            </a:r>
            <a:endParaRPr lang="en-US" sz="4400" dirty="0"/>
          </a:p>
        </p:txBody>
      </p:sp>
      <p:pic>
        <p:nvPicPr>
          <p:cNvPr id="9" name="Picture 8" descr="A picture containing logo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D5F7E69F-916E-E7FD-07B0-C84410BDE8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864" y="4433104"/>
            <a:ext cx="3119573" cy="1444168"/>
          </a:xfrm>
          <a:prstGeom prst="rect">
            <a:avLst/>
          </a:prstGeom>
        </p:spPr>
      </p:pic>
      <p:pic>
        <p:nvPicPr>
          <p:cNvPr id="11" name="Picture 10" descr="Text&#10;&#10;Description automatically generated with low confidence">
            <a:hlinkClick r:id="rId4"/>
            <a:extLst>
              <a:ext uri="{FF2B5EF4-FFF2-40B4-BE49-F238E27FC236}">
                <a16:creationId xmlns:a16="http://schemas.microsoft.com/office/drawing/2014/main" id="{2C192C54-107A-E9CB-0B22-954F235E75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556" y="5487203"/>
            <a:ext cx="3914056" cy="882654"/>
          </a:xfrm>
          <a:prstGeom prst="rect">
            <a:avLst/>
          </a:prstGeom>
        </p:spPr>
      </p:pic>
      <p:pic>
        <p:nvPicPr>
          <p:cNvPr id="3" name="Picture 5" descr="A green and orange logo&#10;&#10;Description automatically generated">
            <a:hlinkClick r:id="rId6"/>
            <a:extLst>
              <a:ext uri="{FF2B5EF4-FFF2-40B4-BE49-F238E27FC236}">
                <a16:creationId xmlns:a16="http://schemas.microsoft.com/office/drawing/2014/main" id="{F1810EF9-5676-6FC8-AA7F-C2695A7435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9277" y="4509120"/>
            <a:ext cx="3150159" cy="1973054"/>
          </a:xfrm>
          <a:prstGeom prst="rect">
            <a:avLst/>
          </a:prstGeom>
        </p:spPr>
      </p:pic>
      <p:pic>
        <p:nvPicPr>
          <p:cNvPr id="14" name="Картина 13" descr="Картина, която съдържа червен, Графика, Шрифт, дизайн">
            <a:extLst>
              <a:ext uri="{FF2B5EF4-FFF2-40B4-BE49-F238E27FC236}">
                <a16:creationId xmlns:a16="http://schemas.microsoft.com/office/drawing/2014/main" id="{289FFBCA-F5A8-E200-5772-B8297CB4DA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860" y="1556792"/>
            <a:ext cx="3610444" cy="102377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F2702083-F3D6-043D-5E4B-2203389124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3896" y="3645024"/>
            <a:ext cx="4746000" cy="812223"/>
          </a:xfrm>
          <a:prstGeom prst="rect">
            <a:avLst/>
          </a:prstGeom>
        </p:spPr>
      </p:pic>
      <p:pic>
        <p:nvPicPr>
          <p:cNvPr id="8" name="Picture 7" descr="A blue text on a white background&#10;&#10;AI-generated content may be incorrect.">
            <a:extLst>
              <a:ext uri="{FF2B5EF4-FFF2-40B4-BE49-F238E27FC236}">
                <a16:creationId xmlns:a16="http://schemas.microsoft.com/office/drawing/2014/main" id="{54B642FE-22B7-49CB-6541-0E7C6226CB2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91" y="1880152"/>
            <a:ext cx="3820952" cy="10748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8281B0-E19C-B94B-1150-D691A298300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458" y="2870277"/>
            <a:ext cx="5079300" cy="111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28111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urple text on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FADEC4E0-9A8A-EA78-97CD-B0A15579082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323" y="2387732"/>
            <a:ext cx="2487646" cy="837637"/>
          </a:xfrm>
          <a:prstGeom prst="rect">
            <a:avLst/>
          </a:prstGeom>
        </p:spPr>
      </p:pic>
      <p:pic>
        <p:nvPicPr>
          <p:cNvPr id="15" name="Picture 14" descr="A white letter on a pink blot&#10;&#10;Description automatically generated">
            <a:extLst>
              <a:ext uri="{FF2B5EF4-FFF2-40B4-BE49-F238E27FC236}">
                <a16:creationId xmlns:a16="http://schemas.microsoft.com/office/drawing/2014/main" id="{7EAD36CC-6A5E-B8FF-1B09-0D39E6F03D6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1140" y="1772816"/>
            <a:ext cx="2026150" cy="2026150"/>
          </a:xfrm>
          <a:prstGeom prst="rect">
            <a:avLst/>
          </a:prstGeom>
        </p:spPr>
      </p:pic>
      <p:pic>
        <p:nvPicPr>
          <p:cNvPr id="1028" name="Picture 4" descr="1ForFIT Ltd &gt; Business Park Rousse » Official website of Business Park  Rousse">
            <a:extLst>
              <a:ext uri="{FF2B5EF4-FFF2-40B4-BE49-F238E27FC236}">
                <a16:creationId xmlns:a16="http://schemas.microsoft.com/office/drawing/2014/main" id="{AE3B448C-2B75-4FB5-B2C1-08BEA7344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0752" y="4260304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lack and yellow logo&#10;&#10;Description automatically generated">
            <a:extLst>
              <a:ext uri="{FF2B5EF4-FFF2-40B4-BE49-F238E27FC236}">
                <a16:creationId xmlns:a16="http://schemas.microsoft.com/office/drawing/2014/main" id="{383E17FE-DCCA-16C3-9DEC-5A566F2884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288" y="4478445"/>
            <a:ext cx="2591855" cy="1468718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1C446A8C-2E49-1FCB-24BE-74C6A06A6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Diamond Partners of SoftUni Digital</a:t>
            </a:r>
            <a:endParaRPr lang="bg-BG" dirty="0"/>
          </a:p>
        </p:txBody>
      </p:sp>
      <p:pic>
        <p:nvPicPr>
          <p:cNvPr id="2" name="Picture 1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1A2FA643-FFC3-8C41-E22D-B219CA17041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816" y="2319099"/>
            <a:ext cx="3606872" cy="974905"/>
          </a:xfrm>
          <a:prstGeom prst="rect">
            <a:avLst/>
          </a:prstGeom>
        </p:spPr>
      </p:pic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F77BB106-AD18-413A-9274-F45006C0725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24" y="4949618"/>
            <a:ext cx="2731444" cy="52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28999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703FB2C-6097-A7A4-DB3C-08F8E6752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 Partners of SoftUni Creative </a:t>
            </a:r>
            <a:endParaRPr lang="en-BG" dirty="0"/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369333FC-3BBB-6797-8858-38747D5C6C0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831" y="3399101"/>
            <a:ext cx="3427778" cy="16408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A144BF-6E81-3A21-7B4F-4EA6BBF0F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92" y="3662572"/>
            <a:ext cx="3614632" cy="11138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D3C135-3AC8-3F64-F5F1-A7EB70242A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8779" y="1791014"/>
            <a:ext cx="4374442" cy="13499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A7E9993-63D3-94AA-DF49-1CFEC5DE41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8422" y="5301209"/>
            <a:ext cx="4115157" cy="111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50955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0" y="1269565"/>
            <a:ext cx="11815018" cy="545446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900"/>
              </a:spcAft>
            </a:pPr>
            <a:r>
              <a:rPr lang="en-US" dirty="0"/>
              <a:t>This course (slides, examples, code, demos, exercises, tutorials, homework, projects, documents, videos and other assets) is </a:t>
            </a:r>
            <a:r>
              <a:rPr lang="en-US" b="1" dirty="0">
                <a:solidFill>
                  <a:schemeClr val="accent4"/>
                </a:solidFill>
              </a:rPr>
              <a:t>copyrighted content</a:t>
            </a:r>
            <a:r>
              <a:rPr lang="bg-BG" dirty="0"/>
              <a:t>, </a:t>
            </a:r>
            <a:r>
              <a:rPr lang="en-US" dirty="0"/>
              <a:t>created by SoftUni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900"/>
              </a:spcAft>
            </a:pPr>
            <a:r>
              <a:rPr lang="en-US" dirty="0"/>
              <a:t>Unauthorized copy, reproduction or use is illegal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900"/>
              </a:spcAft>
            </a:pPr>
            <a:r>
              <a:rPr lang="en-US" dirty="0"/>
              <a:t>© SoftUni – </a:t>
            </a:r>
            <a:r>
              <a:rPr lang="en-US" dirty="0">
                <a:hlinkClick r:id="rId3"/>
              </a:rPr>
              <a:t>https://softuni.bg</a:t>
            </a:r>
            <a:endParaRPr lang="en-US" dirty="0">
              <a:solidFill>
                <a:srgbClr val="6028EA"/>
              </a:solidFill>
            </a:endParaRP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900"/>
              </a:spcAft>
            </a:pPr>
            <a:r>
              <a:rPr lang="en-US" dirty="0"/>
              <a:t>© SoftUni AI – </a:t>
            </a:r>
            <a:r>
              <a:rPr lang="en-US" dirty="0">
                <a:hlinkClick r:id="rId4"/>
              </a:rPr>
              <a:t>https://ai.softuni.bg</a:t>
            </a:r>
            <a:endParaRPr lang="bg-BG" dirty="0"/>
          </a:p>
        </p:txBody>
      </p:sp>
      <p:pic>
        <p:nvPicPr>
          <p:cNvPr id="6" name="Picture 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92690" y="4365105"/>
            <a:ext cx="2061929" cy="2061929"/>
          </a:xfrm>
          <a:prstGeom prst="rect">
            <a:avLst/>
          </a:prstGeom>
          <a:gradFill>
            <a:gsLst>
              <a:gs pos="100000">
                <a:srgbClr val="3D0791">
                  <a:alpha val="80000"/>
                </a:srgbClr>
              </a:gs>
              <a:gs pos="2098">
                <a:schemeClr val="accent2">
                  <a:lumMod val="75000"/>
                  <a:alpha val="50000"/>
                </a:schemeClr>
              </a:gs>
              <a:gs pos="42000">
                <a:srgbClr val="009276">
                  <a:alpha val="80000"/>
                </a:srgbClr>
              </a:gs>
            </a:gsLst>
            <a:lin ang="12600000" scaled="0"/>
          </a:gradFill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</a:t>
            </a:r>
            <a:endParaRPr lang="bg-BG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EBDD96F-11C5-4A3F-99AB-4BE57A8A4E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640616" y="6507000"/>
            <a:ext cx="481416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pPr>
              <a:defRPr/>
            </a:pPr>
            <a:fld id="{2BF067CD-8E6B-4360-9AA8-C5DF2A48A6D1}" type="slidenum">
              <a:rPr lang="en-US">
                <a:solidFill>
                  <a:srgbClr val="63C5B0">
                    <a:lumMod val="75000"/>
                  </a:srgbClr>
                </a:solidFill>
                <a:latin typeface="Roboto"/>
                <a:ea typeface="Calibri"/>
              </a:rPr>
              <a:pPr>
                <a:defRPr/>
              </a:pPr>
              <a:t>96</a:t>
            </a:fld>
            <a:endParaRPr lang="en-US" dirty="0">
              <a:solidFill>
                <a:srgbClr val="63C5B0">
                  <a:lumMod val="75000"/>
                </a:srgbClr>
              </a:solidFill>
              <a:latin typeface="Roboto"/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681278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>
            <a:extLst>
              <a:ext uri="{FF2B5EF4-FFF2-40B4-BE49-F238E27FC236}">
                <a16:creationId xmlns:a16="http://schemas.microsoft.com/office/drawing/2014/main" id="{46EAE47E-54FB-4386-A20D-87506EB6F3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640616" y="6507000"/>
            <a:ext cx="481416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pPr>
              <a:defRPr/>
            </a:pPr>
            <a:fld id="{2BF067CD-8E6B-4360-9AA8-C5DF2A48A6D1}" type="slidenum">
              <a:rPr lang="en-US">
                <a:solidFill>
                  <a:srgbClr val="63C5B0">
                    <a:lumMod val="75000"/>
                  </a:srgbClr>
                </a:solidFill>
                <a:latin typeface="Roboto"/>
                <a:ea typeface="Calibri"/>
              </a:rPr>
              <a:pPr>
                <a:defRPr/>
              </a:pPr>
              <a:t>97</a:t>
            </a:fld>
            <a:endParaRPr lang="en-US" dirty="0">
              <a:solidFill>
                <a:srgbClr val="63C5B0">
                  <a:lumMod val="75000"/>
                </a:srgbClr>
              </a:solidFill>
              <a:latin typeface="Roboto"/>
              <a:ea typeface="Calibri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type="body" sz="quarter" idx="10"/>
          </p:nvPr>
        </p:nvSpPr>
        <p:spPr>
          <a:xfrm>
            <a:off x="191942" y="1268761"/>
            <a:ext cx="9576467" cy="5488489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SoftUni AI</a:t>
            </a:r>
            <a:r>
              <a:rPr lang="en-US" dirty="0"/>
              <a:t>: a comprehensive learning program for applying AI in business and everyday life</a:t>
            </a:r>
          </a:p>
          <a:p>
            <a:pPr lvl="1"/>
            <a:r>
              <a:rPr lang="en-US" sz="3000" dirty="0">
                <a:hlinkClick r:id="rId3"/>
              </a:rPr>
              <a:t>ai.softuni.bg</a:t>
            </a:r>
            <a:endParaRPr lang="en-US" sz="2998" dirty="0"/>
          </a:p>
          <a:p>
            <a:pPr>
              <a:spcBef>
                <a:spcPts val="1800"/>
              </a:spcBef>
            </a:pPr>
            <a:r>
              <a:rPr lang="en-US" b="1" dirty="0">
                <a:solidFill>
                  <a:schemeClr val="accent4"/>
                </a:solidFill>
              </a:rPr>
              <a:t>SoftUni AI @ Facebook</a:t>
            </a:r>
          </a:p>
          <a:p>
            <a:pPr lvl="1">
              <a:defRPr/>
            </a:pPr>
            <a:r>
              <a:rPr lang="en-US" sz="2800" noProof="1">
                <a:hlinkClick r:id="rId4"/>
              </a:rPr>
              <a:t>facebook.com/SoftUniAI</a:t>
            </a:r>
            <a:endParaRPr lang="en-US" sz="2800" noProof="1"/>
          </a:p>
          <a:p>
            <a:pPr>
              <a:spcBef>
                <a:spcPts val="1800"/>
              </a:spcBef>
              <a:defRPr/>
            </a:pPr>
            <a:r>
              <a:rPr lang="en-US" sz="3600" b="1" dirty="0">
                <a:solidFill>
                  <a:schemeClr val="accent4"/>
                </a:solidFill>
              </a:rPr>
              <a:t>SoftUni AI @ YouTube</a:t>
            </a:r>
            <a:endParaRPr lang="bg-BG" sz="3600" b="1" dirty="0">
              <a:solidFill>
                <a:schemeClr val="accent4"/>
              </a:solidFill>
            </a:endParaRPr>
          </a:p>
          <a:p>
            <a:pPr lvl="1">
              <a:defRPr/>
            </a:pPr>
            <a:r>
              <a:rPr lang="en-US" sz="2800" dirty="0">
                <a:hlinkClick r:id="rId5"/>
              </a:rPr>
              <a:t>youtube.com/@SoftUniAI</a:t>
            </a:r>
            <a:endParaRPr lang="bg-BG" sz="34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Trainings @ SoftUni AI</a:t>
            </a:r>
          </a:p>
        </p:txBody>
      </p:sp>
      <p:pic>
        <p:nvPicPr>
          <p:cNvPr id="5" name="Picture 4" descr="A logo of a computer program&#10;&#10;Description automatically generated with medium confidence">
            <a:extLst>
              <a:ext uri="{FF2B5EF4-FFF2-40B4-BE49-F238E27FC236}">
                <a16:creationId xmlns:a16="http://schemas.microsoft.com/office/drawing/2014/main" id="{A4FCEFC4-4CEA-D1DB-2078-E30BEECD28D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40" y="1484784"/>
            <a:ext cx="1440160" cy="13519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EB63AE-458B-EB70-48BB-2E2CCF34E8C1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64548" y="2708921"/>
            <a:ext cx="3227797" cy="1521275"/>
          </a:xfrm>
          <a:prstGeom prst="roundRect">
            <a:avLst>
              <a:gd name="adj" fmla="val 2585"/>
            </a:avLst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554D39-53D2-403B-6771-24CC2F37F54E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52512" y="4653137"/>
            <a:ext cx="3227797" cy="1705919"/>
          </a:xfrm>
          <a:prstGeom prst="roundRect">
            <a:avLst>
              <a:gd name="adj" fmla="val 2585"/>
            </a:avLst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44805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oftUni AI">
  <a:themeElements>
    <a:clrScheme name="SoftUni AI">
      <a:dk1>
        <a:srgbClr val="234465"/>
      </a:dk1>
      <a:lt1>
        <a:srgbClr val="63C5B0"/>
      </a:lt1>
      <a:dk2>
        <a:srgbClr val="192F46"/>
      </a:dk2>
      <a:lt2>
        <a:srgbClr val="FFFFFF"/>
      </a:lt2>
      <a:accent1>
        <a:srgbClr val="784EF9"/>
      </a:accent1>
      <a:accent2>
        <a:srgbClr val="4F8DB2"/>
      </a:accent2>
      <a:accent3>
        <a:srgbClr val="44A9F8"/>
      </a:accent3>
      <a:accent4>
        <a:srgbClr val="FFD999"/>
      </a:accent4>
      <a:accent5>
        <a:srgbClr val="4B4A4F"/>
      </a:accent5>
      <a:accent6>
        <a:srgbClr val="98D8CB"/>
      </a:accent6>
      <a:hlink>
        <a:srgbClr val="98D8CB"/>
      </a:hlink>
      <a:folHlink>
        <a:srgbClr val="55BEA9"/>
      </a:folHlink>
    </a:clrScheme>
    <a:fontScheme name="SoftUni AI">
      <a:majorFont>
        <a:latin typeface="Montserrat Bold"/>
        <a:ea typeface="Calibri"/>
        <a:cs typeface=""/>
      </a:majorFont>
      <a:minorFont>
        <a:latin typeface="Roboto"/>
        <a:ea typeface="Calibr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vetlina_temp.potx" id="{C5341F4D-86DA-49F3-8973-065B872F5DBB}" vid="{8005D38C-3217-41DE-B2D0-6D18E4389034}"/>
    </a:ext>
  </a:extLst>
</a:theme>
</file>

<file path=ppt/theme/theme2.xml><?xml version="1.0" encoding="utf-8"?>
<a:theme xmlns:a="http://schemas.openxmlformats.org/drawingml/2006/main" name="Software University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oftUni Digital">
  <a:themeElements>
    <a:clrScheme name="Custom 1">
      <a:dk1>
        <a:srgbClr val="3F4D59"/>
      </a:dk1>
      <a:lt1>
        <a:srgbClr val="FB4C50"/>
      </a:lt1>
      <a:dk2>
        <a:srgbClr val="2C3741"/>
      </a:dk2>
      <a:lt2>
        <a:srgbClr val="FFFFFF"/>
      </a:lt2>
      <a:accent1>
        <a:srgbClr val="F32B33"/>
      </a:accent1>
      <a:accent2>
        <a:srgbClr val="00B050"/>
      </a:accent2>
      <a:accent3>
        <a:srgbClr val="44A9F8"/>
      </a:accent3>
      <a:accent4>
        <a:srgbClr val="F7999B"/>
      </a:accent4>
      <a:accent5>
        <a:srgbClr val="67748E"/>
      </a:accent5>
      <a:accent6>
        <a:srgbClr val="ECF0F6"/>
      </a:accent6>
      <a:hlink>
        <a:srgbClr val="F16471"/>
      </a:hlink>
      <a:folHlink>
        <a:srgbClr val="F7999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vetlina_temp.potx" id="{C5341F4D-86DA-49F3-8973-065B872F5DBB}" vid="{8005D38C-3217-41DE-B2D0-6D18E4389034}"/>
    </a:ext>
  </a:extLst>
</a:theme>
</file>

<file path=ppt/theme/theme4.xml><?xml version="1.0" encoding="utf-8"?>
<a:theme xmlns:a="http://schemas.openxmlformats.org/drawingml/2006/main" name="SoftUni Creative">
  <a:themeElements>
    <a:clrScheme name="SoftUni Creative">
      <a:dk1>
        <a:srgbClr val="35364C"/>
      </a:dk1>
      <a:lt1>
        <a:srgbClr val="9A5DC6"/>
      </a:lt1>
      <a:dk2>
        <a:srgbClr val="35364C"/>
      </a:dk2>
      <a:lt2>
        <a:srgbClr val="FFFFFF"/>
      </a:lt2>
      <a:accent1>
        <a:srgbClr val="DAC3EB"/>
      </a:accent1>
      <a:accent2>
        <a:srgbClr val="00B050"/>
      </a:accent2>
      <a:accent3>
        <a:srgbClr val="44A9F8"/>
      </a:accent3>
      <a:accent4>
        <a:srgbClr val="F0E7F6"/>
      </a:accent4>
      <a:accent5>
        <a:srgbClr val="54546D"/>
      </a:accent5>
      <a:accent6>
        <a:srgbClr val="ECF0F6"/>
      </a:accent6>
      <a:hlink>
        <a:srgbClr val="AC78D1"/>
      </a:hlink>
      <a:folHlink>
        <a:srgbClr val="F7999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vetlina_temp.potx" id="{C5341F4D-86DA-49F3-8973-065B872F5DBB}" vid="{8005D38C-3217-41DE-B2D0-6D18E438903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SoftUni AI">
    <a:dk1>
      <a:srgbClr val="234465"/>
    </a:dk1>
    <a:lt1>
      <a:srgbClr val="63C5B0"/>
    </a:lt1>
    <a:dk2>
      <a:srgbClr val="192F46"/>
    </a:dk2>
    <a:lt2>
      <a:srgbClr val="FFFFFF"/>
    </a:lt2>
    <a:accent1>
      <a:srgbClr val="784EF9"/>
    </a:accent1>
    <a:accent2>
      <a:srgbClr val="4F8DB2"/>
    </a:accent2>
    <a:accent3>
      <a:srgbClr val="44A9F8"/>
    </a:accent3>
    <a:accent4>
      <a:srgbClr val="FFD999"/>
    </a:accent4>
    <a:accent5>
      <a:srgbClr val="4B4A4F"/>
    </a:accent5>
    <a:accent6>
      <a:srgbClr val="98D8CB"/>
    </a:accent6>
    <a:hlink>
      <a:srgbClr val="98D8CB"/>
    </a:hlink>
    <a:folHlink>
      <a:srgbClr val="55BEA9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B3CD87A-1903-4F85-9223-0DB7B059379C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0031e1b2-b4a8-471d-ae81-348351a513f5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33422c2-9633-4f0b-9c97-c07fc69ace5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E6B3252671BD4EAB7252E2F22352DB" ma:contentTypeVersion="6" ma:contentTypeDescription="Create a new document." ma:contentTypeScope="" ma:versionID="53aea0438dc83ad54d8adc2bbcdc2c93">
  <xsd:schema xmlns:xsd="http://www.w3.org/2001/XMLSchema" xmlns:xs="http://www.w3.org/2001/XMLSchema" xmlns:p="http://schemas.microsoft.com/office/2006/metadata/properties" xmlns:ns3="b33422c2-9633-4f0b-9c97-c07fc69ace5b" targetNamespace="http://schemas.microsoft.com/office/2006/metadata/properties" ma:root="true" ma:fieldsID="1ee174bb5f0862985aba90c1b87e129e" ns3:_="">
    <xsd:import namespace="b33422c2-9633-4f0b-9c97-c07fc69ace5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3422c2-9633-4f0b-9c97-c07fc69ace5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1C713A-437E-4D8F-9336-5FF3E76C93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5465A7-949D-49C7-9EAB-AE28036076D9}">
  <ds:schemaRefs>
    <ds:schemaRef ds:uri="b33422c2-9633-4f0b-9c97-c07fc69ace5b"/>
    <ds:schemaRef ds:uri="http://purl.org/dc/dcmitype/"/>
    <ds:schemaRef ds:uri="http://purl.org/dc/elements/1.1/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27D080E-E58A-451F-9E9B-EFA958864F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3422c2-9633-4f0b-9c97-c07fc69ace5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5484</TotalTime>
  <Words>6455</Words>
  <Application>Microsoft Office PowerPoint</Application>
  <PresentationFormat>Widescreen</PresentationFormat>
  <Paragraphs>938</Paragraphs>
  <Slides>97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97</vt:i4>
      </vt:variant>
    </vt:vector>
  </HeadingPairs>
  <TitlesOfParts>
    <vt:vector size="111" baseType="lpstr">
      <vt:lpstr>Noto Sans Symbols</vt:lpstr>
      <vt:lpstr>Aptos</vt:lpstr>
      <vt:lpstr>Arial</vt:lpstr>
      <vt:lpstr>Calibri</vt:lpstr>
      <vt:lpstr>Consolas</vt:lpstr>
      <vt:lpstr>Montserrat Bold</vt:lpstr>
      <vt:lpstr>Montserrat Medium</vt:lpstr>
      <vt:lpstr>Roboto</vt:lpstr>
      <vt:lpstr>Wingdings</vt:lpstr>
      <vt:lpstr>Wingdings 2</vt:lpstr>
      <vt:lpstr>SoftUni AI</vt:lpstr>
      <vt:lpstr>Software University</vt:lpstr>
      <vt:lpstr>SoftUni Digital</vt:lpstr>
      <vt:lpstr>SoftUni Creative</vt:lpstr>
      <vt:lpstr>Server-Side Development with AI</vt:lpstr>
      <vt:lpstr>Agenda</vt:lpstr>
      <vt:lpstr>Sli.do Code</vt:lpstr>
      <vt:lpstr>Breaks</vt:lpstr>
      <vt:lpstr>Neon DB: Serverless PostgreSQL</vt:lpstr>
      <vt:lpstr>What is Neon?</vt:lpstr>
      <vt:lpstr>Why Serverless Postgres?</vt:lpstr>
      <vt:lpstr>Creating a Neon Database</vt:lpstr>
      <vt:lpstr>Neon Table Editor</vt:lpstr>
      <vt:lpstr>Neon SQL Editor</vt:lpstr>
      <vt:lpstr>Connecting Neon MCP in VS Code</vt:lpstr>
      <vt:lpstr>Neon MCP in VS Code</vt:lpstr>
      <vt:lpstr>Playing with the Neon MCP</vt:lpstr>
      <vt:lpstr>ORM Frameworks and Drizzle</vt:lpstr>
      <vt:lpstr>What is an ORM?</vt:lpstr>
      <vt:lpstr>Popular Node.js ORMs</vt:lpstr>
      <vt:lpstr>What is Drizzle ORM?</vt:lpstr>
      <vt:lpstr>Installing and Connecting Drizzle</vt:lpstr>
      <vt:lpstr>Defining a Drizzle Schema</vt:lpstr>
      <vt:lpstr>Drizzle Migrations</vt:lpstr>
      <vt:lpstr>DB Operations with Drizzle: SQL-Style</vt:lpstr>
      <vt:lpstr>Exercise: Countries and Towns</vt:lpstr>
      <vt:lpstr>Console App: Countries and Towns</vt:lpstr>
      <vt:lpstr>Implementing the App</vt:lpstr>
      <vt:lpstr>Step 1: Create VS Code Project</vt:lpstr>
      <vt:lpstr>Step 2: Install Neon MCP</vt:lpstr>
      <vt:lpstr>Step 3: Create the Neon DB</vt:lpstr>
      <vt:lpstr>Step 4. Configure AGENTS.md</vt:lpstr>
      <vt:lpstr>Step 5: Define DB Schema in Drizzle</vt:lpstr>
      <vt:lpstr>Step 6: Seed Sample Data in the DB</vt:lpstr>
      <vt:lpstr>Step 7: Implement App Logic</vt:lpstr>
      <vt:lpstr>Back-End API with Next.js + Neon</vt:lpstr>
      <vt:lpstr>Why Next.js for the Backend?</vt:lpstr>
      <vt:lpstr>Backend Architecture</vt:lpstr>
      <vt:lpstr>Setup Drizzle + Neon DB in Next.js</vt:lpstr>
      <vt:lpstr>APIs with Next.js and Drizzle</vt:lpstr>
      <vt:lpstr>Dynamic API Routes</vt:lpstr>
      <vt:lpstr>Authentication with JWT</vt:lpstr>
      <vt:lpstr>JWT Auth Logic</vt:lpstr>
      <vt:lpstr>Password Hashing with bcrypt</vt:lpstr>
      <vt:lpstr>Exercise: Blog System API</vt:lpstr>
      <vt:lpstr>Blog System: Features</vt:lpstr>
      <vt:lpstr>Blog System: Data Model</vt:lpstr>
      <vt:lpstr>Blog System: API Endpoints</vt:lpstr>
      <vt:lpstr>Blog System: Steps to Build</vt:lpstr>
      <vt:lpstr>Step 1: Create Next.js Project</vt:lpstr>
      <vt:lpstr>Step 2: Create the Neon DB</vt:lpstr>
      <vt:lpstr>Step 3: Generate DB Schema</vt:lpstr>
      <vt:lpstr>Step 4: Seed Sample Data</vt:lpstr>
      <vt:lpstr>Step 5: Implement API Endpoints</vt:lpstr>
      <vt:lpstr>The Blog API in Action</vt:lpstr>
      <vt:lpstr>Testing the API Manually</vt:lpstr>
      <vt:lpstr>Blog System: Client App</vt:lpstr>
      <vt:lpstr>Blog System: Client App</vt:lpstr>
      <vt:lpstr>Blog System: Client App – Demo</vt:lpstr>
      <vt:lpstr>File Uploads in Cloudflare R2</vt:lpstr>
      <vt:lpstr>Why Do We Need File Storage?</vt:lpstr>
      <vt:lpstr>What is Cloudflare R2?</vt:lpstr>
      <vt:lpstr>Setting Up Cloudflare R2</vt:lpstr>
      <vt:lpstr>Cloudflare R2: Create a Bucket</vt:lpstr>
      <vt:lpstr>Cloudflare R2: Create API Token</vt:lpstr>
      <vt:lpstr>Cloudflare R2: Create API Token</vt:lpstr>
      <vt:lpstr>Cloudflare R2: App Config Settings</vt:lpstr>
      <vt:lpstr>Uploading Files via the AWS SDK</vt:lpstr>
      <vt:lpstr>Step-by-Step – Cover Image Uploads</vt:lpstr>
      <vt:lpstr>Automated Testing</vt:lpstr>
      <vt:lpstr>Automated Testing</vt:lpstr>
      <vt:lpstr>The Test Pyramid</vt:lpstr>
      <vt:lpstr>Jest: Intro</vt:lpstr>
      <vt:lpstr>Jest: First Unit Test</vt:lpstr>
      <vt:lpstr>Blog API: Implement Unit Tests</vt:lpstr>
      <vt:lpstr>Measure Code Coverage</vt:lpstr>
      <vt:lpstr>Blog API: Integration Tests</vt:lpstr>
      <vt:lpstr>Playwright: E2E Testing</vt:lpstr>
      <vt:lpstr>Playwright – Sample Test Code</vt:lpstr>
      <vt:lpstr>Blog Client: E2E Tests with Playwright</vt:lpstr>
      <vt:lpstr>E2E Tests with Playwright – Demo</vt:lpstr>
      <vt:lpstr>Serverless vs. Server-Based Deployment</vt:lpstr>
      <vt:lpstr>Server-Based vs. Serverless</vt:lpstr>
      <vt:lpstr>When to Pick Which?</vt:lpstr>
      <vt:lpstr>Popular Cloud Providers</vt:lpstr>
      <vt:lpstr>Deploying Next.js to Netlify</vt:lpstr>
      <vt:lpstr>Netlify: Serverless Hosting Platform</vt:lpstr>
      <vt:lpstr>Prepping the Project</vt:lpstr>
      <vt:lpstr>Step 1: Push to GitHub</vt:lpstr>
      <vt:lpstr>Step 2: Connect Netlify to GitHub</vt:lpstr>
      <vt:lpstr>Step 3: Configure Environment Variables</vt:lpstr>
      <vt:lpstr>Step 4: Test the Deployed App</vt:lpstr>
      <vt:lpstr>Watch for Errors in Netlify Logs</vt:lpstr>
      <vt:lpstr>Lesson Summary</vt:lpstr>
      <vt:lpstr>Questions?</vt:lpstr>
      <vt:lpstr>SoftUni AI Exclusive Partner</vt:lpstr>
      <vt:lpstr>SoftUni Diamond Partners</vt:lpstr>
      <vt:lpstr>Diamond Partners of SoftUni Digital</vt:lpstr>
      <vt:lpstr>Organization Partners of SoftUni Creative </vt:lpstr>
      <vt:lpstr>License</vt:lpstr>
      <vt:lpstr>Trainings @ SoftUni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Server-Side Development with AI</dc:title>
  <dc:creator>Nevena Nedkova</dc:creator>
  <cp:keywords>SoftUni AI; SoftUni; course; AI; vibe coding; AI-assisted development</cp:keywords>
  <cp:lastModifiedBy>Svetlin Nakov</cp:lastModifiedBy>
  <cp:revision>783</cp:revision>
  <dcterms:created xsi:type="dcterms:W3CDTF">2026-04-21T08:13:23Z</dcterms:created>
  <dcterms:modified xsi:type="dcterms:W3CDTF">2026-05-06T14:03:02Z</dcterms:modified>
  <cp:category>AI, vibe coding, AI-assisted coding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0x01010094E6B3252671BD4EAB7252E2F22352DB</vt:lpwstr>
  </property>
</Properties>
</file>